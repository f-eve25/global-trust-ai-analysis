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84" r:id="rId10"/>
    <p:sldId id="266" r:id="rId11"/>
    <p:sldId id="265" r:id="rId12"/>
    <p:sldId id="283"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390" autoAdjust="0"/>
  </p:normalViewPr>
  <p:slideViewPr>
    <p:cSldViewPr snapToGrid="0">
      <p:cViewPr varScale="1">
        <p:scale>
          <a:sx n="57" d="100"/>
          <a:sy n="57" d="100"/>
        </p:scale>
        <p:origin x="88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lthan Ang" userId="4d7a8c4131a718d2" providerId="LiveId" clId="{E4C0A9F5-59A8-4BF5-B5A3-C130E9CD0FE2}"/>
    <pc:docChg chg="custSel modSld">
      <pc:chgData name="Welthan Ang" userId="4d7a8c4131a718d2" providerId="LiveId" clId="{E4C0A9F5-59A8-4BF5-B5A3-C130E9CD0FE2}" dt="2026-10-12T11:42:07.930" v="74" actId="20577"/>
      <pc:docMkLst>
        <pc:docMk/>
      </pc:docMkLst>
      <pc:sldChg chg="modSp mod modNotesTx">
        <pc:chgData name="Welthan Ang" userId="4d7a8c4131a718d2" providerId="LiveId" clId="{E4C0A9F5-59A8-4BF5-B5A3-C130E9CD0FE2}" dt="2026-10-12T11:42:04.042" v="73" actId="313"/>
        <pc:sldMkLst>
          <pc:docMk/>
          <pc:sldMk cId="0" sldId="256"/>
        </pc:sldMkLst>
        <pc:spChg chg="mod">
          <ac:chgData name="Welthan Ang" userId="4d7a8c4131a718d2" providerId="LiveId" clId="{E4C0A9F5-59A8-4BF5-B5A3-C130E9CD0FE2}" dt="2026-10-12T11:42:04.042" v="73" actId="313"/>
          <ac:spMkLst>
            <pc:docMk/>
            <pc:sldMk cId="0" sldId="256"/>
            <ac:spMk id="8" creationId="{00000000-0000-0000-0000-000000000000}"/>
          </ac:spMkLst>
        </pc:spChg>
      </pc:sldChg>
      <pc:sldChg chg="modNotesTx">
        <pc:chgData name="Welthan Ang" userId="4d7a8c4131a718d2" providerId="LiveId" clId="{E4C0A9F5-59A8-4BF5-B5A3-C130E9CD0FE2}" dt="2026-10-12T11:35:55.234" v="1" actId="20577"/>
        <pc:sldMkLst>
          <pc:docMk/>
          <pc:sldMk cId="0" sldId="257"/>
        </pc:sldMkLst>
      </pc:sldChg>
      <pc:sldChg chg="modNotesTx">
        <pc:chgData name="Welthan Ang" userId="4d7a8c4131a718d2" providerId="LiveId" clId="{E4C0A9F5-59A8-4BF5-B5A3-C130E9CD0FE2}" dt="2026-10-12T11:35:58.528" v="2" actId="20577"/>
        <pc:sldMkLst>
          <pc:docMk/>
          <pc:sldMk cId="0" sldId="258"/>
        </pc:sldMkLst>
      </pc:sldChg>
      <pc:sldChg chg="modNotesTx">
        <pc:chgData name="Welthan Ang" userId="4d7a8c4131a718d2" providerId="LiveId" clId="{E4C0A9F5-59A8-4BF5-B5A3-C130E9CD0FE2}" dt="2026-10-12T11:36:00.861" v="3" actId="20577"/>
        <pc:sldMkLst>
          <pc:docMk/>
          <pc:sldMk cId="0" sldId="259"/>
        </pc:sldMkLst>
      </pc:sldChg>
      <pc:sldChg chg="modNotesTx">
        <pc:chgData name="Welthan Ang" userId="4d7a8c4131a718d2" providerId="LiveId" clId="{E4C0A9F5-59A8-4BF5-B5A3-C130E9CD0FE2}" dt="2026-10-12T11:36:04.564" v="4" actId="20577"/>
        <pc:sldMkLst>
          <pc:docMk/>
          <pc:sldMk cId="0" sldId="260"/>
        </pc:sldMkLst>
      </pc:sldChg>
      <pc:sldChg chg="modNotesTx">
        <pc:chgData name="Welthan Ang" userId="4d7a8c4131a718d2" providerId="LiveId" clId="{E4C0A9F5-59A8-4BF5-B5A3-C130E9CD0FE2}" dt="2026-10-12T11:36:07.895" v="5" actId="20577"/>
        <pc:sldMkLst>
          <pc:docMk/>
          <pc:sldMk cId="0" sldId="261"/>
        </pc:sldMkLst>
      </pc:sldChg>
      <pc:sldChg chg="modNotesTx">
        <pc:chgData name="Welthan Ang" userId="4d7a8c4131a718d2" providerId="LiveId" clId="{E4C0A9F5-59A8-4BF5-B5A3-C130E9CD0FE2}" dt="2026-10-12T11:36:16.817" v="12" actId="20577"/>
        <pc:sldMkLst>
          <pc:docMk/>
          <pc:sldMk cId="0" sldId="262"/>
        </pc:sldMkLst>
      </pc:sldChg>
      <pc:sldChg chg="modNotesTx">
        <pc:chgData name="Welthan Ang" userId="4d7a8c4131a718d2" providerId="LiveId" clId="{E4C0A9F5-59A8-4BF5-B5A3-C130E9CD0FE2}" dt="2026-10-12T11:36:21.008" v="14" actId="6549"/>
        <pc:sldMkLst>
          <pc:docMk/>
          <pc:sldMk cId="0" sldId="263"/>
        </pc:sldMkLst>
      </pc:sldChg>
      <pc:sldChg chg="modNotesTx">
        <pc:chgData name="Welthan Ang" userId="4d7a8c4131a718d2" providerId="LiveId" clId="{E4C0A9F5-59A8-4BF5-B5A3-C130E9CD0FE2}" dt="2026-10-12T11:36:53.867" v="22" actId="20577"/>
        <pc:sldMkLst>
          <pc:docMk/>
          <pc:sldMk cId="0" sldId="265"/>
        </pc:sldMkLst>
      </pc:sldChg>
      <pc:sldChg chg="modNotesTx">
        <pc:chgData name="Welthan Ang" userId="4d7a8c4131a718d2" providerId="LiveId" clId="{E4C0A9F5-59A8-4BF5-B5A3-C130E9CD0FE2}" dt="2026-10-12T11:36:39.278" v="17" actId="6549"/>
        <pc:sldMkLst>
          <pc:docMk/>
          <pc:sldMk cId="0" sldId="266"/>
        </pc:sldMkLst>
      </pc:sldChg>
      <pc:sldChg chg="modNotesTx">
        <pc:chgData name="Welthan Ang" userId="4d7a8c4131a718d2" providerId="LiveId" clId="{E4C0A9F5-59A8-4BF5-B5A3-C130E9CD0FE2}" dt="2026-10-12T11:40:02.119" v="57" actId="20577"/>
        <pc:sldMkLst>
          <pc:docMk/>
          <pc:sldMk cId="0" sldId="267"/>
        </pc:sldMkLst>
      </pc:sldChg>
      <pc:sldChg chg="modNotesTx">
        <pc:chgData name="Welthan Ang" userId="4d7a8c4131a718d2" providerId="LiveId" clId="{E4C0A9F5-59A8-4BF5-B5A3-C130E9CD0FE2}" dt="2026-10-12T11:38:21.557" v="45" actId="20577"/>
        <pc:sldMkLst>
          <pc:docMk/>
          <pc:sldMk cId="0" sldId="268"/>
        </pc:sldMkLst>
      </pc:sldChg>
      <pc:sldChg chg="modNotesTx">
        <pc:chgData name="Welthan Ang" userId="4d7a8c4131a718d2" providerId="LiveId" clId="{E4C0A9F5-59A8-4BF5-B5A3-C130E9CD0FE2}" dt="2026-10-12T11:39:14.772" v="46" actId="6549"/>
        <pc:sldMkLst>
          <pc:docMk/>
          <pc:sldMk cId="0" sldId="269"/>
        </pc:sldMkLst>
      </pc:sldChg>
      <pc:sldChg chg="modNotesTx">
        <pc:chgData name="Welthan Ang" userId="4d7a8c4131a718d2" providerId="LiveId" clId="{E4C0A9F5-59A8-4BF5-B5A3-C130E9CD0FE2}" dt="2026-10-12T11:42:07.930" v="74" actId="20577"/>
        <pc:sldMkLst>
          <pc:docMk/>
          <pc:sldMk cId="0" sldId="270"/>
        </pc:sldMkLst>
      </pc:sldChg>
      <pc:sldChg chg="modNotesTx">
        <pc:chgData name="Welthan Ang" userId="4d7a8c4131a718d2" providerId="LiveId" clId="{E4C0A9F5-59A8-4BF5-B5A3-C130E9CD0FE2}" dt="2026-10-12T11:41:24.695" v="65" actId="20577"/>
        <pc:sldMkLst>
          <pc:docMk/>
          <pc:sldMk cId="0" sldId="271"/>
        </pc:sldMkLst>
      </pc:sldChg>
      <pc:sldChg chg="modNotesTx">
        <pc:chgData name="Welthan Ang" userId="4d7a8c4131a718d2" providerId="LiveId" clId="{E4C0A9F5-59A8-4BF5-B5A3-C130E9CD0FE2}" dt="2026-10-12T11:41:29.315" v="66" actId="6549"/>
        <pc:sldMkLst>
          <pc:docMk/>
          <pc:sldMk cId="0" sldId="272"/>
        </pc:sldMkLst>
      </pc:sldChg>
      <pc:sldChg chg="modNotesTx">
        <pc:chgData name="Welthan Ang" userId="4d7a8c4131a718d2" providerId="LiveId" clId="{E4C0A9F5-59A8-4BF5-B5A3-C130E9CD0FE2}" dt="2026-10-12T11:41:39.532" v="67" actId="6549"/>
        <pc:sldMkLst>
          <pc:docMk/>
          <pc:sldMk cId="0" sldId="273"/>
        </pc:sldMkLst>
      </pc:sldChg>
      <pc:sldChg chg="modNotesTx">
        <pc:chgData name="Welthan Ang" userId="4d7a8c4131a718d2" providerId="LiveId" clId="{E4C0A9F5-59A8-4BF5-B5A3-C130E9CD0FE2}" dt="2026-10-12T11:41:46.042" v="68" actId="6549"/>
        <pc:sldMkLst>
          <pc:docMk/>
          <pc:sldMk cId="0" sldId="274"/>
        </pc:sldMkLst>
      </pc:sldChg>
      <pc:sldChg chg="modNotesTx">
        <pc:chgData name="Welthan Ang" userId="4d7a8c4131a718d2" providerId="LiveId" clId="{E4C0A9F5-59A8-4BF5-B5A3-C130E9CD0FE2}" dt="2026-10-12T11:41:53.185" v="71" actId="6549"/>
        <pc:sldMkLst>
          <pc:docMk/>
          <pc:sldMk cId="0" sldId="275"/>
        </pc:sldMkLst>
      </pc:sldChg>
      <pc:sldChg chg="modSp mod">
        <pc:chgData name="Welthan Ang" userId="4d7a8c4131a718d2" providerId="LiveId" clId="{E4C0A9F5-59A8-4BF5-B5A3-C130E9CD0FE2}" dt="2026-10-12T11:41:55.147" v="72" actId="313"/>
        <pc:sldMkLst>
          <pc:docMk/>
          <pc:sldMk cId="0" sldId="282"/>
        </pc:sldMkLst>
        <pc:spChg chg="mod">
          <ac:chgData name="Welthan Ang" userId="4d7a8c4131a718d2" providerId="LiveId" clId="{E4C0A9F5-59A8-4BF5-B5A3-C130E9CD0FE2}" dt="2026-10-12T11:41:55.147" v="72" actId="313"/>
          <ac:spMkLst>
            <pc:docMk/>
            <pc:sldMk cId="0" sldId="282"/>
            <ac:spMk id="27" creationId="{00000000-0000-0000-0000-000000000000}"/>
          </ac:spMkLst>
        </pc:spChg>
      </pc:sldChg>
      <pc:sldChg chg="modNotesTx">
        <pc:chgData name="Welthan Ang" userId="4d7a8c4131a718d2" providerId="LiveId" clId="{E4C0A9F5-59A8-4BF5-B5A3-C130E9CD0FE2}" dt="2026-10-12T11:37:05.429" v="23" actId="6549"/>
        <pc:sldMkLst>
          <pc:docMk/>
          <pc:sldMk cId="0" sldId="283"/>
        </pc:sldMkLst>
      </pc:sldChg>
      <pc:sldChg chg="modNotesTx">
        <pc:chgData name="Welthan Ang" userId="4d7a8c4131a718d2" providerId="LiveId" clId="{E4C0A9F5-59A8-4BF5-B5A3-C130E9CD0FE2}" dt="2026-10-12T11:36:31.603" v="16" actId="6549"/>
        <pc:sldMkLst>
          <pc:docMk/>
          <pc:sldMk cId="2173369456" sldId="2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820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 are Section A, Group 4, and our project is Global AI Trust and Attitudes. We look at how much people in 47 countries trust AI, what goes along with that trust, and whether we can predict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go through this in three parts. First, the context and our data. Then our findings on four research questions. And finally, what this means for organizations, and where our study stops.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matters.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increasingly involved in decisions that affect everyday life, so whether people are willing to rely on it really matters. But more trust is not automatically better. If trust is too low, useful systems may be avoided. If trust is too high, errors may go unchallenged. So the practical aim is calibrated trust: reliance that reflects what an AI system can reliably do, together with awareness of when its output needs to be questioned. One thing to keep in mind throughout: we compare countries as a whole, so we cannot say whether any individual's trust matches how reliable a system actually 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leads to our four research questions. First, how does trust in AI differ across countries and regions? Second, which factors seem related to trust? Third, can those factors predict a country's trust level? Here we use supervised regression to predict the percentage of people who trust AI, rather than a label such as high or low trust. And fourth, is public perception of AI becoming more positive?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dataset has 47 countries and 43 variables. Each row is a country, with </a:t>
            </a:r>
            <a:r>
              <a:rPr lang="en-US" b="1" dirty="0"/>
              <a:t>survey percentages </a:t>
            </a:r>
            <a:r>
              <a:rPr lang="en-US" dirty="0"/>
              <a:t>on </a:t>
            </a:r>
            <a:r>
              <a:rPr lang="en-US" b="1" dirty="0">
                <a:solidFill>
                  <a:srgbClr val="FF0000"/>
                </a:solidFill>
                <a:highlight>
                  <a:srgbClr val="FFFF00"/>
                </a:highlight>
              </a:rPr>
              <a:t>trust, acceptance, benefits, risks, literacy, training and workplace </a:t>
            </a:r>
            <a:r>
              <a:rPr lang="en-US" b="1" dirty="0" err="1">
                <a:solidFill>
                  <a:srgbClr val="FF0000"/>
                </a:solidFill>
                <a:highlight>
                  <a:srgbClr val="FFFF00"/>
                </a:highlight>
              </a:rPr>
              <a:t>outcomes,etc</a:t>
            </a:r>
            <a:r>
              <a:rPr lang="en-US" dirty="0"/>
              <a:t>. It has no missing values or duplicates, and trust ranges from 25 to 79 percent. A second dataset covers 32 countries and tracks whether people think the benefits of AI outweigh the drawbacks, in 2023 and 2024. Thirty of those countries have both years. Our approach has four steps: describe, relate, predict and track. One note: our averages give every country equal weight. I will now hand over to [Felda] for the findings.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Let's turn to what we found, starting with our first question: where does trust in AI differ?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flying around the world and asking 100 people one question: do you trust AI?</a:t>
            </a:r>
          </a:p>
          <a:p>
            <a:r>
              <a:rPr lang="en-US" dirty="0"/>
              <a:t>Your first stop is Nigeria, where 79 percent say yes. Then India and Egypt where 7 out of 10 would say yes. Next you land in the UAE, Saudi Arabia, and South Africa, and the answer is still mostly yes.</a:t>
            </a:r>
          </a:p>
          <a:p>
            <a:r>
              <a:rPr lang="en-US" dirty="0"/>
              <a:t>Now fly north to Germany, France, and the Netherlands, far fewer people say they trust AI. Keep going to Japan, where only 28 percent say yes. And in Finland, the last stop, just 25 percent do.</a:t>
            </a:r>
          </a:p>
          <a:p>
            <a:r>
              <a:rPr lang="en-US" dirty="0"/>
              <a:t>You might guess that where a country sits on the map explains this. But look at the top of the list: Nigeria, India, Egypt, and China are spread across Africa and Asia, and Europe’s countries don’t all line up either.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A124B-2770-B8A2-8EE2-C1FBDD367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658CB8-146D-EDD1-CE22-5FDE11BDBE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F59FF-04DB-6149-5541-EA404DE24A4E}"/>
              </a:ext>
            </a:extLst>
          </p:cNvPr>
          <p:cNvSpPr>
            <a:spLocks noGrp="1"/>
          </p:cNvSpPr>
          <p:nvPr>
            <p:ph type="body" idx="1"/>
          </p:nvPr>
        </p:nvSpPr>
        <p:spPr/>
        <p:txBody>
          <a:bodyPr/>
          <a:lstStyle/>
          <a:p>
            <a:r>
              <a:rPr lang="en-US" dirty="0"/>
              <a:t>So why do some countries trust AI more than others? </a:t>
            </a:r>
          </a:p>
          <a:p>
            <a:endParaRPr lang="en-US" dirty="0"/>
          </a:p>
          <a:p>
            <a:r>
              <a:rPr lang="en-US" dirty="0"/>
              <a:t>One clue is the type of economy. Countries with emerging economies generally trust AI more than advanced economies sit at 39.4 percent. This gap is very unlikely to be a coincidence based on our statistical test. We also find that emerging economies also disagree more with each other, with a spread of 11.6 points.</a:t>
            </a:r>
          </a:p>
          <a:p>
            <a:endParaRPr lang="en-US" dirty="0"/>
          </a:p>
          <a:p>
            <a:r>
              <a:rPr lang="en-US" dirty="0"/>
              <a:t>Our second clue is the region. Africa comes out on top at 70.7 percent, followed by Western Asia at 58.5. At the bottom are North America at 37.5 and Oceania at 35. Now the twist. Check the n beside each bar. Africa is only three countries, and North America and Oceania are two each. So these numbers might not be entirely representative of the regions</a:t>
            </a:r>
          </a:p>
        </p:txBody>
      </p:sp>
      <p:sp>
        <p:nvSpPr>
          <p:cNvPr id="4" name="Slide Number Placeholder 3">
            <a:extLst>
              <a:ext uri="{FF2B5EF4-FFF2-40B4-BE49-F238E27FC236}">
                <a16:creationId xmlns:a16="http://schemas.microsoft.com/office/drawing/2014/main" id="{F3046ECA-9AD7-D9FC-E41F-D06C070729B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99231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found that acceptance is not the same as trust. Across the countries we studied, acceptance is higher than trust. Lithuania shows this clearly: 76 out of 100 people may accept AI usage, but less than half of it believe in AI. Because these are separate country percentages, we cannot say whether the same individuals hold both views, but it does suggest that people may be willing to accept AI without feeling confident about it. </a:t>
            </a:r>
          </a:p>
          <a:p>
            <a:endParaRPr lang="en-US" dirty="0"/>
          </a:p>
          <a:p>
            <a:r>
              <a:rPr lang="en-US" dirty="0"/>
              <a:t>With all these conflicting findings and factors, is it possible to predict trust in AI? I would like to pass over to Philipa to answer the question.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t>
            </a:r>
            <a:br>
              <a:rPr lang="en-US" dirty="0"/>
            </a:br>
            <a:br>
              <a:rPr lang="en-US" dirty="0"/>
            </a:br>
            <a:r>
              <a:rPr lang="en-US" dirty="0"/>
              <a:t>Our second question is which factors are related to trust. This chart shows correlations with trust, with zero in the middle. Bars to the right are positive, and bars to the left are negative. The strongest links are practical gains and perceived protection. Countries where more people say AI increased efficiency have higher trust, with a correlation of 0.896. The belief that safeguards are sufficient is almost identical, and revenue gains, training, regular workplace use and AI literacy all follow closely. On the left, countries where more people think the risks outweigh the benefits have lower trust, at minus 0.78. Countries with higher GDP per capita also tend to report lower trust. These are associations, not causes. The factors overlap, and the relationship could run both ways: trusting AI may itself encourage people to use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predicting trust, we faced a problem: our indicators overlap heavily. After removing identifiers and near-copies of trust, such as acceptance, we had 36 candidate inputs. The median correlation between them is 0.52, and more than half of all pairs correlate at 0.5 or more. The variance inflation factor (VIF) reaches 167 for one candidate, where anything above 10 is usually considered severe, and a single component explains about 60 percent of the variation. With only 47 countries, using all 36 would make their separate effects impossible to untangle. So we grouped similar inputs into 15 clusters, and kept an input only if it passed at least three of four tests and was the strongest in its cluster. That left three survey indicators, plus log GDP as a control, and the highest VIF fell from 167 to about 5.</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predicting trust, we had to choose our inputs. We started with 36 candidates, after removing identifiers and measures that closely resemble trust itself. Many of them carry the same information, which is a problem with only 47 countries. So we grouped similar inputs into 15 clusters. We then ran four tests: correlation with trust, mutual information, Lasso, and random forest importance. To be kept, an input had to pass at least three of the four tests and be the strongest in its cluster. That gave us three survey indicators: safeguards are sufficient, AI increased efficiency, and could not work without AI. We then added the log of GDP per capita as a control for economic context, which makes four final inputs. </a:t>
            </a:r>
            <a:r>
              <a:rPr lang="en-US" dirty="0" err="1"/>
              <a:t>Prae</a:t>
            </a:r>
            <a:r>
              <a:rPr lang="en-US" dirty="0"/>
              <a:t> will now show how well they predict trust.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Our third question is whether trust can be predicted. We compared four models against a baseline that simply predicts the average. We used five-fold cross-validation, repeated three times, so every country is predicted by a model that has not seen it. The baseline is off by almost ten percentage points on average. Linear regression cuts that to about 3.7 points, with an R-squared of 0.86. Ridge regression performs almost identically, while the decision tree and the random forest do worse, with R-squared values of 0.68 and 0.81. Because linear and Ridge are so close, we chose linear regression, highlighted here, as it is the simplest to interpret.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accurate is it, country by country? For 35 of the 47 countries, the prediction is within five percentage points of actual trust. Eight are off by five to eight points, and four by more than that. The largest misses are on the right. For Lithuania, the model predicts 47.6 percent, but actual trust is 34. For Israel, Hungary and Spain it is the other way round: actual trust is about ten points higher than predicted. So safeguards, workplace gains and income do not fully explain national attitudes. One caveat: we chose the four inputs using all 47 countries before evaluating, so this accuracy is likely optimistic.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fourth question is whether public perception is becoming more positive. This uses the second dataset and a different measure: the share who believe the benefits of AI outweigh the drawbacks. Between 2023 and 2024, the average rose only slightly, from 54.1 to 54.6 percent. The average change is plus 0.47 percentage points. Seventeen countries improved, nine declined and four did not change. On the chart, gains are to the right of zero and declines to the left. Germany and Ireland rose the most, while Brazil, the Netherlands and Malaysia fell the most. The overall change is not statistically significant. So perception leans slightly more positive, but a broad improvement has not been shown. Over to Joanne for what this means.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Let's finish with what this means in practice, and the limits of our work.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four implications for organizations. First, explain capabilities. Trust moves with perceived safeguards and benefits, so organizations should be clear about what AI can do and how it is protected, and back that up with reliability checks and ways to challenge outputs. Confidence in safeguards does not prove that those safeguards are adequate. Second, train for judgement. Higher-trust countries also report more problematic AI use, so training should build judgement as well as familiarity. Third, keep accountability. It should be clear who checks outputs and handles complaints, and when human review is needed. Fourth, avoid stereotypes. National averages hide individual differences, and should not be used to judge populations or individuals. These recommendations support calibrated trust, but we have not tested their effectiveness in this project.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study has clear limits. The sample is small: 47 countries, with correlated inputs and one main snapshot of reported perceptions, not direct measures of how AI performs. Our accuracy is probably optimistic, because the inputs were chosen using all the countries. We cannot claim causation, since relationships may run in either direction, and country data cannot explain individuals. The model estimates current trust rather than forecasting future trust, and the trend covers only two years. As next steps, we would repeat the feature selection inside the training data, and test the model on independent countries or later surveys.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One, trust in AI varies widely, and emerging economies report higher trust than advanced economies. Two, trust moves with confidence in safeguards and workplace benefits, although this does not prove causation. Three, four inputs can predict a country's trust with an average error of about 3.7 percentage points. And four, benefit perception improved slightly from 2023 to 2024, but not significantly. Overall, the priority is informed trust: people understand what AI can and cannot do, recognize when its outputs need checking, and keep human judgement and clear responsibility in place.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are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Placeholder slide: the report does not list its sources, so add the full citations for the two datasets and any literature you cite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slides for questions: fitted coefficients, evaluation design, feature selection, other associations and work distribution.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final linear model is fitted to all 47 countries after evaluation. The intercept is 20.7, with coefficients of 0.37 for safeguards, 0.31 for efficiency, 0.25 for inability to work without AI and minus 1.75 for natural-log GDP. Holding other inputs fixed, a ten-point increase in perceived safeguard sufficiency corresponds to 3.7 points higher predicted trust, with a 95% bootstrap range of 1.5 to 5.8. The efficiency estimate is 3.1 points, range 0.6 to 6.1. For inability to work without AI the estimate is 2.5 points, but the range of minus 0.2 to 4.9 crosses zero, so its separate contribution is less certain. Doubling GDP per capita corresponds to 1.2 points lower predicted trust. These describe observed relationships and should not be read as the effects of policy interventions. The ranges do not include uncertainty from feature selection.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checks on the evaluation. First, why repeated cross-validation: over 100 shuffles, a single 70/30 split gives linear-regression mean absolute errors anywhere from 2.17 to 5.29 percentage points. Repeated five-fold cross-validation narrows that to 3.49 to 3.82, with typical errors close to 3.6. For models with adjustable settings, an inner five-fold procedure selects them using only the training countries, and scaling is done inside the pipelines. Second, the optimism check: because all countries helped select the four inputs, a separate Ridge benchmark selects inputs within each fold. It reports R squared of 0.73 and RMSE of 5.0, against 0.78 and 4.4 using the fixed inputs. Its selection method and R squared calculation differ, so these scores cannot directly correct or be compared with the final linear model's results.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More detail on feature selection. After removing identifiers and attitude measures that closely resemble trust, 36 candidate inputs remain. The median strength of the relationships between them is 0.52 in absolute Spearman correlation, and 53% of pairs are at 0.5 or above. Hierarchical clustering on absolute Spearman correlation with average linkage, at a distance threshold of 0.25, gives 15 groups. Correlation alone leaves too many options: 24 of the 36 have a strong, significant correlation with trust. So the analysis combines four methods, and a predictor must pass at least three and lead its cluster. The final inputs have a maximum VIF of about 5.1, well below the 167 among the original candidates, though some overlap remains. Country names and codes are excluded as identifiers; acceptance, risks outweigh benefits and the sentiment label because they closely resemble the outcome; and region because nine categories are sparse across 47 records.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Other relationships from the correlation analysis. Expected and experienced benefits are positively associated with trust, with Spearman rank correlations of 0.692 and 0.739. GDP per capita has a negative rank correlation of minus 0.514. Evidence on concerns is less consistent: worry about negative impacts has a significant Pearson relationship of minus 0.324, but its Spearman relationship of minus 0.162 is not significant after the multiple-testing correction, which suggests the linear result is sensitive to particular observations. Concern about elections, uncertainty about online content, demand for misinformation laws and the top-risk indicator show no significant relationship. Finally, higher-trust countries also report more problematic AI use, with a Pearson correlation of plus 0.614. That does not show trust causes misuse, as greater exposure may increase both familiarity and opportunities to encounter problems.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did what in the group, as listed in the report.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4050" y="736600"/>
            <a:ext cx="10153650" cy="609600"/>
          </a:xfrm>
          <a:prstGeom prst="rect">
            <a:avLst/>
          </a:prstGeom>
          <a:noFill/>
          <a:ln/>
        </p:spPr>
        <p:txBody>
          <a:bodyPr wrap="square" lIns="0" tIns="0" rIns="0" bIns="0" rtlCol="0" anchor="t"/>
          <a:lstStyle>
            <a:lvl1pPr marL="0" indent="0" algn="l">
              <a:lnSpc>
                <a:spcPct val="115000"/>
              </a:lnSpc>
              <a:buNone/>
              <a:defRPr lang="en-US" sz="4000" dirty="0">
                <a:solidFill>
                  <a:srgbClr val="000000"/>
                </a:solidFill>
                <a:latin typeface="Anybody" pitchFamily="34" charset="0"/>
                <a:ea typeface="Anybody" pitchFamily="34" charset="-122"/>
                <a:cs typeface="Anybody" pitchFamily="34" charset="-120"/>
              </a:defRPr>
            </a:lvl1pPr>
          </a:lstStyle>
          <a:p>
            <a:pPr marL="0" indent="0" algn="l">
              <a:lnSpc>
                <a:spcPct val="115000"/>
              </a:lnSpc>
              <a:buNone/>
            </a:pPr>
            <a:endParaRPr lang="en-US" sz="4000"/>
          </a:p>
        </p:txBody>
      </p:sp>
      <p:sp>
        <p:nvSpPr>
          <p:cNvPr id="3" name="Text Placeholder 2"/>
          <p:cNvSpPr>
            <a:spLocks noGrp="1"/>
          </p:cNvSpPr>
          <p:nvPr>
            <p:ph type="body" idx="101"/>
          </p:nvPr>
        </p:nvSpPr>
        <p:spPr>
          <a:xfrm>
            <a:off x="654050" y="1651000"/>
            <a:ext cx="10725150" cy="4394200"/>
          </a:xfrm>
          <a:prstGeom prst="rect">
            <a:avLst/>
          </a:prstGeom>
          <a:noFill/>
          <a:ln/>
        </p:spPr>
        <p:txBody>
          <a:bodyPr wrap="square" lIns="0" tIns="0" rIns="0" bIns="0" rtlCol="0" anchor="t"/>
          <a:lstStyle>
            <a:lvl1pPr marL="0" indent="0" algn="l">
              <a:lnSpc>
                <a:spcPct val="140000"/>
              </a:lnSpc>
              <a:buNone/>
              <a:defRPr lang="en-US" sz="1600" dirty="0">
                <a:solidFill>
                  <a:srgbClr val="000000"/>
                </a:solidFill>
                <a:latin typeface="Albert Sans" pitchFamily="34" charset="0"/>
                <a:ea typeface="Albert Sans" pitchFamily="34" charset="-122"/>
                <a:cs typeface="Albert Sans" pitchFamily="34" charset="-120"/>
              </a:defRPr>
            </a:lvl1pPr>
          </a:lstStyle>
          <a:p>
            <a:pPr marL="0" indent="0" algn="l">
              <a:lnSpc>
                <a:spcPct val="140000"/>
              </a:lnSpc>
              <a:buNone/>
            </a:pPr>
            <a:endParaRPr lang="en-US" sz="16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4050" y="736600"/>
            <a:ext cx="10153650" cy="609600"/>
          </a:xfrm>
          <a:prstGeom prst="rect">
            <a:avLst/>
          </a:prstGeom>
          <a:noFill/>
          <a:ln/>
        </p:spPr>
        <p:txBody>
          <a:bodyPr wrap="square" lIns="0" tIns="0" rIns="0" bIns="0" rtlCol="0" anchor="t"/>
          <a:lstStyle>
            <a:lvl1pPr marL="0" indent="0" algn="l">
              <a:lnSpc>
                <a:spcPct val="115000"/>
              </a:lnSpc>
              <a:buNone/>
              <a:defRPr lang="en-US" sz="4000" dirty="0">
                <a:solidFill>
                  <a:srgbClr val="000000"/>
                </a:solidFill>
                <a:latin typeface="Anybody" pitchFamily="34" charset="0"/>
                <a:ea typeface="Anybody" pitchFamily="34" charset="-122"/>
                <a:cs typeface="Anybody" pitchFamily="34" charset="-120"/>
              </a:defRPr>
            </a:lvl1pPr>
          </a:lstStyle>
          <a:p>
            <a:pPr marL="0" indent="0" algn="l">
              <a:lnSpc>
                <a:spcPct val="115000"/>
              </a:lnSpc>
              <a:buNone/>
            </a:pPr>
            <a:endParaRPr lang="en-US" sz="4000"/>
          </a:p>
        </p:txBody>
      </p:sp>
      <p:sp>
        <p:nvSpPr>
          <p:cNvPr id="3" name="Text Placeholder 2"/>
          <p:cNvSpPr>
            <a:spLocks noGrp="1"/>
          </p:cNvSpPr>
          <p:nvPr>
            <p:ph type="body" idx="101"/>
          </p:nvPr>
        </p:nvSpPr>
        <p:spPr>
          <a:xfrm>
            <a:off x="654050" y="1651000"/>
            <a:ext cx="10725150" cy="4394200"/>
          </a:xfrm>
          <a:prstGeom prst="rect">
            <a:avLst/>
          </a:prstGeom>
          <a:noFill/>
          <a:ln/>
        </p:spPr>
        <p:txBody>
          <a:bodyPr wrap="square" lIns="0" tIns="0" rIns="0" bIns="0" rtlCol="0" anchor="t"/>
          <a:lstStyle>
            <a:lvl1pPr marL="0" indent="0" algn="l">
              <a:lnSpc>
                <a:spcPct val="140000"/>
              </a:lnSpc>
              <a:buNone/>
              <a:defRPr lang="en-US" sz="1600" dirty="0">
                <a:solidFill>
                  <a:srgbClr val="000000"/>
                </a:solidFill>
                <a:latin typeface="Albert Sans" pitchFamily="34" charset="0"/>
                <a:ea typeface="Albert Sans" pitchFamily="34" charset="-122"/>
                <a:cs typeface="Albert Sans" pitchFamily="34" charset="-120"/>
              </a:defRPr>
            </a:lvl1pPr>
          </a:lstStyle>
          <a:p>
            <a:pPr marL="0" indent="0" algn="l">
              <a:lnSpc>
                <a:spcPct val="140000"/>
              </a:lnSpc>
              <a:buNone/>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34171" r="34171"/>
          <a:stretch/>
        </p:blipFill>
        <p:spPr>
          <a:xfrm>
            <a:off x="0" y="0"/>
            <a:ext cx="850900" cy="6858000"/>
          </a:xfrm>
          <a:prstGeom prst="rect">
            <a:avLst/>
          </a:prstGeom>
        </p:spPr>
      </p:pic>
      <p:sp>
        <p:nvSpPr>
          <p:cNvPr id="3" name="Shape 0"/>
          <p:cNvSpPr/>
          <p:nvPr/>
        </p:nvSpPr>
        <p:spPr>
          <a:xfrm>
            <a:off x="850900" y="0"/>
            <a:ext cx="24384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4" name="Image 1" descr="preencoded.png"/>
          <p:cNvPicPr>
            <a:picLocks noChangeAspect="1"/>
          </p:cNvPicPr>
          <p:nvPr/>
        </p:nvPicPr>
        <p:blipFill>
          <a:blip r:embed="rId4"/>
          <a:srcRect t="-649" b="-649"/>
          <a:stretch/>
        </p:blipFill>
        <p:spPr>
          <a:xfrm>
            <a:off x="10960100" y="469900"/>
            <a:ext cx="539750" cy="495300"/>
          </a:xfrm>
          <a:prstGeom prst="rect">
            <a:avLst/>
          </a:prstGeom>
        </p:spPr>
      </p:pic>
      <p:sp>
        <p:nvSpPr>
          <p:cNvPr id="5" name="Text 1"/>
          <p:cNvSpPr>
            <a:spLocks noGrp="1"/>
          </p:cNvSpPr>
          <p:nvPr>
            <p:ph type="title"/>
          </p:nvPr>
        </p:nvSpPr>
        <p:spPr>
          <a:xfrm>
            <a:off x="3930650" y="1244600"/>
            <a:ext cx="7521575" cy="3214370"/>
          </a:xfrm>
          <a:prstGeom prst="rect">
            <a:avLst/>
          </a:prstGeom>
          <a:noFill/>
          <a:ln/>
        </p:spPr>
        <p:txBody>
          <a:bodyPr wrap="square" lIns="0" tIns="0" rIns="0" bIns="0" rtlCol="0" anchor="t">
            <a:normAutofit/>
          </a:bodyPr>
          <a:lstStyle/>
          <a:p>
            <a:pPr marL="0" indent="0" algn="l">
              <a:lnSpc>
                <a:spcPts val="8370"/>
              </a:lnSpc>
              <a:buNone/>
            </a:pPr>
            <a:r>
              <a:rPr lang="en-US" sz="7750" b="1" i="0">
                <a:solidFill>
                  <a:srgbClr val="000000"/>
                </a:solidFill>
                <a:latin typeface="Anybody" pitchFamily="34" charset="0"/>
                <a:ea typeface="Anybody" pitchFamily="34" charset="-122"/>
                <a:cs typeface="Anybody" pitchFamily="34" charset="-120"/>
              </a:rPr>
              <a:t>Global AI</a:t>
            </a:r>
            <a:endParaRPr lang="en-US" sz="7750"/>
          </a:p>
          <a:p>
            <a:pPr marL="0" indent="0" algn="l">
              <a:lnSpc>
                <a:spcPts val="8370"/>
              </a:lnSpc>
              <a:buNone/>
            </a:pPr>
            <a:r>
              <a:rPr lang="en-US" sz="7750" b="1" i="0">
                <a:solidFill>
                  <a:srgbClr val="000000"/>
                </a:solidFill>
                <a:latin typeface="Anybody" pitchFamily="34" charset="0"/>
                <a:ea typeface="Anybody" pitchFamily="34" charset="-122"/>
                <a:cs typeface="Anybody" pitchFamily="34" charset="-120"/>
              </a:rPr>
              <a:t>Trust &amp;</a:t>
            </a:r>
            <a:endParaRPr lang="en-US" sz="7750"/>
          </a:p>
          <a:p>
            <a:pPr marL="0" indent="0" algn="l">
              <a:lnSpc>
                <a:spcPts val="8370"/>
              </a:lnSpc>
              <a:buNone/>
            </a:pPr>
            <a:r>
              <a:rPr lang="en-US" sz="7750" b="1" i="0">
                <a:solidFill>
                  <a:srgbClr val="000000"/>
                </a:solidFill>
                <a:latin typeface="Anybody" pitchFamily="34" charset="0"/>
                <a:ea typeface="Anybody" pitchFamily="34" charset="-122"/>
                <a:cs typeface="Anybody" pitchFamily="34" charset="-120"/>
              </a:rPr>
              <a:t>Attitudes</a:t>
            </a:r>
            <a:endParaRPr lang="en-US" sz="7750"/>
          </a:p>
        </p:txBody>
      </p:sp>
      <p:sp>
        <p:nvSpPr>
          <p:cNvPr id="6" name="Shape 2"/>
          <p:cNvSpPr/>
          <p:nvPr/>
        </p:nvSpPr>
        <p:spPr>
          <a:xfrm>
            <a:off x="3289300" y="4749800"/>
            <a:ext cx="7943850" cy="12700"/>
          </a:xfrm>
          <a:prstGeom prst="rect">
            <a:avLst/>
          </a:prstGeom>
          <a:solidFill>
            <a:srgbClr val="000000"/>
          </a:solidFill>
          <a:ln/>
        </p:spPr>
        <p:txBody>
          <a:bodyPr/>
          <a:lstStyle/>
          <a:p>
            <a:endParaRPr lang="en-SG"/>
          </a:p>
        </p:txBody>
      </p:sp>
      <p:sp>
        <p:nvSpPr>
          <p:cNvPr id="7" name="Text 3"/>
          <p:cNvSpPr/>
          <p:nvPr/>
        </p:nvSpPr>
        <p:spPr>
          <a:xfrm>
            <a:off x="4051300" y="5080000"/>
            <a:ext cx="4185920"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Section A Group 4</a:t>
            </a:r>
            <a:endParaRPr lang="en-US" sz="1850"/>
          </a:p>
        </p:txBody>
      </p:sp>
      <p:sp>
        <p:nvSpPr>
          <p:cNvPr id="8" name="Text 4"/>
          <p:cNvSpPr/>
          <p:nvPr/>
        </p:nvSpPr>
        <p:spPr>
          <a:xfrm>
            <a:off x="4051300" y="5425440"/>
            <a:ext cx="4185920" cy="75692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000000"/>
                </a:solidFill>
                <a:latin typeface="Albert Sans" pitchFamily="34" charset="0"/>
                <a:ea typeface="Albert Sans" pitchFamily="34" charset="-122"/>
                <a:cs typeface="Albert Sans" pitchFamily="34" charset="-120"/>
              </a:rPr>
              <a:t>Ang Wei Hao Welthan, Felda </a:t>
            </a:r>
            <a:r>
              <a:rPr lang="en-US" sz="1600" dirty="0" err="1">
                <a:solidFill>
                  <a:srgbClr val="000000"/>
                </a:solidFill>
                <a:latin typeface="Albert Sans" pitchFamily="34" charset="0"/>
                <a:ea typeface="Albert Sans" pitchFamily="34" charset="-122"/>
                <a:cs typeface="Albert Sans" pitchFamily="34" charset="-120"/>
              </a:rPr>
              <a:t>Everyl</a:t>
            </a:r>
            <a:r>
              <a:rPr lang="en-US" sz="1600" dirty="0">
                <a:solidFill>
                  <a:srgbClr val="000000"/>
                </a:solidFill>
                <a:latin typeface="Albert Sans" pitchFamily="34" charset="0"/>
                <a:ea typeface="Albert Sans" pitchFamily="34" charset="-122"/>
                <a:cs typeface="Albert Sans" pitchFamily="34" charset="-120"/>
              </a:rPr>
              <a:t>, Guo Yutong, </a:t>
            </a:r>
            <a:r>
              <a:rPr lang="en-US" sz="1600" dirty="0" err="1">
                <a:solidFill>
                  <a:srgbClr val="000000"/>
                </a:solidFill>
                <a:latin typeface="Albert Sans" pitchFamily="34" charset="0"/>
                <a:ea typeface="Albert Sans" pitchFamily="34" charset="-122"/>
                <a:cs typeface="Albert Sans" pitchFamily="34" charset="-120"/>
              </a:rPr>
              <a:t>Kaitwatcharachai</a:t>
            </a:r>
            <a:r>
              <a:rPr lang="en-US" sz="1600" dirty="0">
                <a:solidFill>
                  <a:srgbClr val="000000"/>
                </a:solidFill>
                <a:latin typeface="Albert Sans" pitchFamily="34" charset="0"/>
                <a:ea typeface="Albert Sans" pitchFamily="34" charset="-122"/>
                <a:cs typeface="Albert Sans" pitchFamily="34" charset="-120"/>
              </a:rPr>
              <a:t> </a:t>
            </a:r>
            <a:r>
              <a:rPr lang="en-US" sz="1600" dirty="0" err="1">
                <a:solidFill>
                  <a:srgbClr val="000000"/>
                </a:solidFill>
                <a:latin typeface="Albert Sans" pitchFamily="34" charset="0"/>
                <a:ea typeface="Albert Sans" pitchFamily="34" charset="-122"/>
                <a:cs typeface="Albert Sans" pitchFamily="34" charset="-120"/>
              </a:rPr>
              <a:t>Onnicha</a:t>
            </a:r>
            <a:r>
              <a:rPr lang="en-US" sz="1600" dirty="0">
                <a:solidFill>
                  <a:srgbClr val="000000"/>
                </a:solidFill>
                <a:latin typeface="Albert Sans" pitchFamily="34" charset="0"/>
                <a:ea typeface="Albert Sans" pitchFamily="34" charset="-122"/>
                <a:cs typeface="Albert Sans" pitchFamily="34" charset="-120"/>
              </a:rPr>
              <a:t>,  Quek</a:t>
            </a:r>
            <a:endParaRPr lang="en-US" sz="1600" dirty="0"/>
          </a:p>
        </p:txBody>
      </p:sp>
      <p:sp>
        <p:nvSpPr>
          <p:cNvPr id="9" name="Text 5"/>
          <p:cNvSpPr/>
          <p:nvPr/>
        </p:nvSpPr>
        <p:spPr>
          <a:xfrm>
            <a:off x="8300085" y="5080000"/>
            <a:ext cx="2812415" cy="871220"/>
          </a:xfrm>
          <a:prstGeom prst="rect">
            <a:avLst/>
          </a:prstGeom>
          <a:noFill/>
          <a:ln/>
        </p:spPr>
        <p:txBody>
          <a:bodyPr wrap="square" lIns="0" tIns="0" rIns="0" bIns="0" rtlCol="0" anchor="t">
            <a:normAutofit/>
          </a:bodyPr>
          <a:lstStyle/>
          <a:p>
            <a:pPr marL="0" indent="0" algn="r">
              <a:lnSpc>
                <a:spcPts val="2220"/>
              </a:lnSpc>
              <a:buNone/>
            </a:pPr>
            <a:r>
              <a:rPr lang="en-US" sz="1850">
                <a:solidFill>
                  <a:srgbClr val="000000"/>
                </a:solidFill>
                <a:latin typeface="Albert Sans" pitchFamily="34" charset="0"/>
                <a:ea typeface="Albert Sans" pitchFamily="34" charset="-122"/>
                <a:cs typeface="Albert Sans" pitchFamily="34" charset="-120"/>
              </a:rPr>
              <a:t>AN6002 Analytics &amp; Machine Learning in Business</a:t>
            </a:r>
            <a:endParaRPr lang="en-US" sz="18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551180"/>
          </a:xfrm>
          <a:prstGeom prst="rect">
            <a:avLst/>
          </a:prstGeom>
          <a:noFill/>
          <a:ln/>
        </p:spPr>
        <p:txBody>
          <a:bodyPr wrap="square" lIns="0" tIns="0" rIns="0" bIns="0" rtlCol="0" anchor="t">
            <a:normAutofit/>
          </a:bodyPr>
          <a:lstStyle/>
          <a:p>
            <a:pPr marL="0" indent="0" algn="l">
              <a:lnSpc>
                <a:spcPts val="4140"/>
              </a:lnSpc>
              <a:buNone/>
            </a:pPr>
            <a:r>
              <a:rPr lang="en-US" sz="3450" b="1" i="0">
                <a:solidFill>
                  <a:srgbClr val="000000"/>
                </a:solidFill>
                <a:latin typeface="Anybody" pitchFamily="34" charset="0"/>
                <a:ea typeface="Anybody" pitchFamily="34" charset="-122"/>
                <a:cs typeface="Anybody" pitchFamily="34" charset="-120"/>
              </a:rPr>
              <a:t>Table of contents</a:t>
            </a:r>
            <a:endParaRPr lang="en-US" sz="3450"/>
          </a:p>
        </p:txBody>
      </p:sp>
      <p:sp>
        <p:nvSpPr>
          <p:cNvPr id="5" name="Text 2"/>
          <p:cNvSpPr/>
          <p:nvPr/>
        </p:nvSpPr>
        <p:spPr>
          <a:xfrm>
            <a:off x="965200" y="1976120"/>
            <a:ext cx="1282700" cy="840740"/>
          </a:xfrm>
          <a:prstGeom prst="rect">
            <a:avLst/>
          </a:prstGeom>
          <a:noFill/>
          <a:ln/>
        </p:spPr>
        <p:txBody>
          <a:bodyPr wrap="square" lIns="0" tIns="0" rIns="0" bIns="0" rtlCol="0" anchor="t">
            <a:normAutofit/>
          </a:bodyPr>
          <a:lstStyle/>
          <a:p>
            <a:pPr marL="0" indent="0" algn="l">
              <a:lnSpc>
                <a:spcPts val="6420"/>
              </a:lnSpc>
              <a:buNone/>
            </a:pPr>
            <a:r>
              <a:rPr lang="en-US" sz="5350" b="1">
                <a:solidFill>
                  <a:srgbClr val="000000"/>
                </a:solidFill>
                <a:latin typeface="Anybody" pitchFamily="34" charset="0"/>
                <a:ea typeface="Anybody" pitchFamily="34" charset="-122"/>
                <a:cs typeface="Anybody" pitchFamily="34" charset="-120"/>
              </a:rPr>
              <a:t>01</a:t>
            </a:r>
            <a:endParaRPr lang="en-US" sz="5350"/>
          </a:p>
        </p:txBody>
      </p:sp>
      <p:sp>
        <p:nvSpPr>
          <p:cNvPr id="6" name="Text 3"/>
          <p:cNvSpPr/>
          <p:nvPr/>
        </p:nvSpPr>
        <p:spPr>
          <a:xfrm>
            <a:off x="2197100" y="2181860"/>
            <a:ext cx="4813808"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Context &amp; data</a:t>
            </a:r>
            <a:endParaRPr lang="en-US" sz="2650"/>
          </a:p>
        </p:txBody>
      </p:sp>
      <p:sp>
        <p:nvSpPr>
          <p:cNvPr id="7" name="Text 4"/>
          <p:cNvSpPr/>
          <p:nvPr/>
        </p:nvSpPr>
        <p:spPr>
          <a:xfrm>
            <a:off x="6870700" y="2139950"/>
            <a:ext cx="366268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Why calibrated trust matters and what the data cover</a:t>
            </a:r>
            <a:endParaRPr lang="en-US" sz="1600"/>
          </a:p>
        </p:txBody>
      </p:sp>
      <p:sp>
        <p:nvSpPr>
          <p:cNvPr id="8" name="Shape 5"/>
          <p:cNvSpPr/>
          <p:nvPr/>
        </p:nvSpPr>
        <p:spPr>
          <a:xfrm>
            <a:off x="533400" y="2990215"/>
            <a:ext cx="10274300" cy="0"/>
          </a:xfrm>
          <a:prstGeom prst="line">
            <a:avLst/>
          </a:prstGeom>
          <a:noFill/>
          <a:ln w="12700">
            <a:solidFill>
              <a:srgbClr val="000000"/>
            </a:solidFill>
            <a:prstDash val="solid"/>
          </a:ln>
        </p:spPr>
        <p:txBody>
          <a:bodyPr/>
          <a:lstStyle/>
          <a:p>
            <a:endParaRPr lang="en-SG"/>
          </a:p>
        </p:txBody>
      </p:sp>
      <p:sp>
        <p:nvSpPr>
          <p:cNvPr id="9" name="Text 6"/>
          <p:cNvSpPr/>
          <p:nvPr/>
        </p:nvSpPr>
        <p:spPr>
          <a:xfrm>
            <a:off x="965200" y="3181350"/>
            <a:ext cx="1282700" cy="840740"/>
          </a:xfrm>
          <a:prstGeom prst="rect">
            <a:avLst/>
          </a:prstGeom>
          <a:noFill/>
          <a:ln/>
        </p:spPr>
        <p:txBody>
          <a:bodyPr wrap="square" lIns="0" tIns="0" rIns="0" bIns="0" rtlCol="0" anchor="t">
            <a:normAutofit/>
          </a:bodyPr>
          <a:lstStyle/>
          <a:p>
            <a:pPr marL="0" indent="0" algn="l">
              <a:lnSpc>
                <a:spcPts val="6420"/>
              </a:lnSpc>
              <a:buNone/>
            </a:pPr>
            <a:r>
              <a:rPr lang="en-US" sz="5350" b="1">
                <a:solidFill>
                  <a:srgbClr val="000000"/>
                </a:solidFill>
                <a:latin typeface="Anybody" pitchFamily="34" charset="0"/>
                <a:ea typeface="Anybody" pitchFamily="34" charset="-122"/>
                <a:cs typeface="Anybody" pitchFamily="34" charset="-120"/>
              </a:rPr>
              <a:t>02</a:t>
            </a:r>
            <a:endParaRPr lang="en-US" sz="5350"/>
          </a:p>
        </p:txBody>
      </p:sp>
      <p:sp>
        <p:nvSpPr>
          <p:cNvPr id="10" name="Text 7"/>
          <p:cNvSpPr/>
          <p:nvPr/>
        </p:nvSpPr>
        <p:spPr>
          <a:xfrm>
            <a:off x="2197100" y="3387090"/>
            <a:ext cx="4813808"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Findings</a:t>
            </a:r>
            <a:endParaRPr lang="en-US" sz="2650"/>
          </a:p>
        </p:txBody>
      </p:sp>
      <p:sp>
        <p:nvSpPr>
          <p:cNvPr id="11" name="Text 8"/>
          <p:cNvSpPr/>
          <p:nvPr/>
        </p:nvSpPr>
        <p:spPr>
          <a:xfrm>
            <a:off x="6870700" y="3345180"/>
            <a:ext cx="366268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Where trust differs, what moves with it and how well it can be predicted</a:t>
            </a:r>
            <a:endParaRPr lang="en-US" sz="1600"/>
          </a:p>
        </p:txBody>
      </p:sp>
      <p:sp>
        <p:nvSpPr>
          <p:cNvPr id="12" name="Shape 9"/>
          <p:cNvSpPr/>
          <p:nvPr/>
        </p:nvSpPr>
        <p:spPr>
          <a:xfrm>
            <a:off x="533400" y="4190365"/>
            <a:ext cx="10274300" cy="0"/>
          </a:xfrm>
          <a:prstGeom prst="line">
            <a:avLst/>
          </a:prstGeom>
          <a:noFill/>
          <a:ln w="12700">
            <a:solidFill>
              <a:srgbClr val="000000"/>
            </a:solidFill>
            <a:prstDash val="solid"/>
          </a:ln>
        </p:spPr>
        <p:txBody>
          <a:bodyPr/>
          <a:lstStyle/>
          <a:p>
            <a:endParaRPr lang="en-SG"/>
          </a:p>
        </p:txBody>
      </p:sp>
      <p:sp>
        <p:nvSpPr>
          <p:cNvPr id="13" name="Text 10"/>
          <p:cNvSpPr/>
          <p:nvPr/>
        </p:nvSpPr>
        <p:spPr>
          <a:xfrm>
            <a:off x="965200" y="4381500"/>
            <a:ext cx="1282700" cy="840740"/>
          </a:xfrm>
          <a:prstGeom prst="rect">
            <a:avLst/>
          </a:prstGeom>
          <a:noFill/>
          <a:ln/>
        </p:spPr>
        <p:txBody>
          <a:bodyPr wrap="square" lIns="0" tIns="0" rIns="0" bIns="0" rtlCol="0" anchor="t">
            <a:normAutofit/>
          </a:bodyPr>
          <a:lstStyle/>
          <a:p>
            <a:pPr marL="0" indent="0" algn="l">
              <a:lnSpc>
                <a:spcPts val="6420"/>
              </a:lnSpc>
              <a:buNone/>
            </a:pPr>
            <a:r>
              <a:rPr lang="en-US" sz="5350" b="1">
                <a:solidFill>
                  <a:srgbClr val="000000"/>
                </a:solidFill>
                <a:latin typeface="Anybody" pitchFamily="34" charset="0"/>
                <a:ea typeface="Anybody" pitchFamily="34" charset="-122"/>
                <a:cs typeface="Anybody" pitchFamily="34" charset="-120"/>
              </a:rPr>
              <a:t>03</a:t>
            </a:r>
            <a:endParaRPr lang="en-US" sz="5350"/>
          </a:p>
        </p:txBody>
      </p:sp>
      <p:sp>
        <p:nvSpPr>
          <p:cNvPr id="14" name="Text 11"/>
          <p:cNvSpPr/>
          <p:nvPr/>
        </p:nvSpPr>
        <p:spPr>
          <a:xfrm>
            <a:off x="2197100" y="4587240"/>
            <a:ext cx="4813808"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Implications</a:t>
            </a:r>
            <a:endParaRPr lang="en-US" sz="2650"/>
          </a:p>
        </p:txBody>
      </p:sp>
      <p:sp>
        <p:nvSpPr>
          <p:cNvPr id="15" name="Text 12"/>
          <p:cNvSpPr/>
          <p:nvPr/>
        </p:nvSpPr>
        <p:spPr>
          <a:xfrm>
            <a:off x="6870700" y="4545330"/>
            <a:ext cx="366268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What organizations can do and where the study stops</a:t>
            </a:r>
            <a:endParaRPr 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bg>
      <p:bgPr>
        <a:solidFill>
          <a:srgbClr val="207368"/>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l="33" r="33"/>
          <a:stretch/>
        </p:blipFill>
        <p:spPr>
          <a:xfrm>
            <a:off x="9505950" y="0"/>
            <a:ext cx="2686050" cy="6858000"/>
          </a:xfrm>
          <a:prstGeom prst="rect">
            <a:avLst/>
          </a:prstGeom>
        </p:spPr>
      </p:pic>
      <p:pic>
        <p:nvPicPr>
          <p:cNvPr id="4" name="Image 1" descr="preencoded.png"/>
          <p:cNvPicPr>
            <a:picLocks noChangeAspect="1"/>
          </p:cNvPicPr>
          <p:nvPr/>
        </p:nvPicPr>
        <p:blipFill>
          <a:blip r:embed="rId4"/>
          <a:srcRect t="-649" b="-649"/>
          <a:stretch/>
        </p:blipFill>
        <p:spPr>
          <a:xfrm>
            <a:off x="685800" y="469900"/>
            <a:ext cx="539750" cy="495300"/>
          </a:xfrm>
          <a:prstGeom prst="rect">
            <a:avLst/>
          </a:prstGeom>
        </p:spPr>
      </p:pic>
      <p:sp>
        <p:nvSpPr>
          <p:cNvPr id="6" name="Text 2"/>
          <p:cNvSpPr>
            <a:spLocks noGrp="1"/>
          </p:cNvSpPr>
          <p:nvPr>
            <p:ph type="title"/>
          </p:nvPr>
        </p:nvSpPr>
        <p:spPr>
          <a:xfrm>
            <a:off x="2844800" y="2470150"/>
            <a:ext cx="6540500" cy="2052320"/>
          </a:xfrm>
          <a:prstGeom prst="rect">
            <a:avLst/>
          </a:prstGeom>
          <a:noFill/>
          <a:ln/>
        </p:spPr>
        <p:txBody>
          <a:bodyPr wrap="square" lIns="0" tIns="0" rIns="0" bIns="0" rtlCol="0" anchor="t">
            <a:normAutofit/>
          </a:bodyPr>
          <a:lstStyle/>
          <a:p>
            <a:pPr marL="0" indent="0" algn="l">
              <a:lnSpc>
                <a:spcPts val="7980"/>
              </a:lnSpc>
              <a:buNone/>
            </a:pPr>
            <a:r>
              <a:rPr lang="en-US" sz="6650" b="1" i="0">
                <a:solidFill>
                  <a:srgbClr val="000000"/>
                </a:solidFill>
                <a:latin typeface="Anybody" pitchFamily="34" charset="0"/>
                <a:ea typeface="Anybody" pitchFamily="34" charset="-122"/>
                <a:cs typeface="Anybody" pitchFamily="34" charset="-120"/>
              </a:rPr>
              <a:t>Context &amp;</a:t>
            </a:r>
            <a:endParaRPr lang="en-US" sz="6650"/>
          </a:p>
          <a:p>
            <a:pPr marL="0" indent="0" algn="l">
              <a:lnSpc>
                <a:spcPts val="7980"/>
              </a:lnSpc>
              <a:buNone/>
            </a:pPr>
            <a:r>
              <a:rPr lang="en-US" sz="6650" b="1" i="0">
                <a:solidFill>
                  <a:srgbClr val="000000"/>
                </a:solidFill>
                <a:latin typeface="Anybody" pitchFamily="34" charset="0"/>
                <a:ea typeface="Anybody" pitchFamily="34" charset="-122"/>
                <a:cs typeface="Anybody" pitchFamily="34" charset="-120"/>
              </a:rPr>
              <a:t>data</a:t>
            </a:r>
            <a:endParaRPr lang="en-US" sz="6650"/>
          </a:p>
        </p:txBody>
      </p:sp>
      <p:sp>
        <p:nvSpPr>
          <p:cNvPr id="7" name="Shape 3"/>
          <p:cNvSpPr/>
          <p:nvPr/>
        </p:nvSpPr>
        <p:spPr>
          <a:xfrm>
            <a:off x="958850" y="4794250"/>
            <a:ext cx="8547100" cy="12700"/>
          </a:xfrm>
          <a:prstGeom prst="rect">
            <a:avLst/>
          </a:prstGeom>
          <a:solidFill>
            <a:srgbClr val="000000"/>
          </a:solidFill>
          <a:ln/>
        </p:spPr>
        <p:txBody>
          <a:bodyPr/>
          <a:lstStyle/>
          <a:p>
            <a:endParaRPr lang="en-SG"/>
          </a:p>
        </p:txBody>
      </p:sp>
      <p:sp>
        <p:nvSpPr>
          <p:cNvPr id="8" name="Text 4"/>
          <p:cNvSpPr/>
          <p:nvPr/>
        </p:nvSpPr>
        <p:spPr>
          <a:xfrm>
            <a:off x="1079500" y="5149850"/>
            <a:ext cx="8502650" cy="391160"/>
          </a:xfrm>
          <a:prstGeom prst="rect">
            <a:avLst/>
          </a:prstGeom>
          <a:noFill/>
          <a:ln/>
        </p:spPr>
        <p:txBody>
          <a:bodyPr wrap="square" lIns="0" tIns="0" rIns="0" bIns="0" rtlCol="0" anchor="t">
            <a:normAutofit/>
          </a:bodyPr>
          <a:lstStyle/>
          <a:p>
            <a:pPr marL="0" indent="0" algn="l">
              <a:lnSpc>
                <a:spcPts val="2880"/>
              </a:lnSpc>
              <a:buNone/>
            </a:pPr>
            <a:r>
              <a:rPr lang="en-US" sz="2400">
                <a:solidFill>
                  <a:srgbClr val="000000"/>
                </a:solidFill>
                <a:latin typeface="Albert Sans" pitchFamily="34" charset="0"/>
                <a:ea typeface="Albert Sans" pitchFamily="34" charset="-122"/>
                <a:cs typeface="Albert Sans" pitchFamily="34" charset="-120"/>
              </a:rPr>
              <a:t>Why calibrated trust matters and what the data cover</a:t>
            </a:r>
            <a:endParaRPr 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189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The aim: Calibrated trust</a:t>
            </a:r>
            <a:endParaRPr lang="en-US" sz="4000"/>
          </a:p>
        </p:txBody>
      </p:sp>
      <p:sp>
        <p:nvSpPr>
          <p:cNvPr id="5" name="Text 2"/>
          <p:cNvSpPr/>
          <p:nvPr/>
        </p:nvSpPr>
        <p:spPr>
          <a:xfrm>
            <a:off x="654050" y="2115820"/>
            <a:ext cx="10333990" cy="353060"/>
          </a:xfrm>
          <a:prstGeom prst="rect">
            <a:avLst/>
          </a:prstGeom>
          <a:noFill/>
          <a:ln/>
        </p:spPr>
        <p:txBody>
          <a:bodyPr wrap="square" lIns="0" tIns="0" rIns="0" bIns="0" rtlCol="0" anchor="t">
            <a:normAutofit/>
          </a:bodyPr>
          <a:lstStyle/>
          <a:p>
            <a:pPr marL="0" indent="0" algn="l">
              <a:lnSpc>
                <a:spcPts val="2580"/>
              </a:lnSpc>
              <a:buNone/>
            </a:pPr>
            <a:r>
              <a:rPr lang="en-US" sz="2150">
                <a:solidFill>
                  <a:srgbClr val="000000"/>
                </a:solidFill>
                <a:latin typeface="Albert Sans" pitchFamily="34" charset="0"/>
                <a:ea typeface="Albert Sans" pitchFamily="34" charset="-122"/>
                <a:cs typeface="Albert Sans" pitchFamily="34" charset="-120"/>
              </a:rPr>
              <a:t>Higher trust does not necessarily mean better judgement</a:t>
            </a:r>
            <a:endParaRPr lang="en-US" sz="2150"/>
          </a:p>
        </p:txBody>
      </p:sp>
      <p:sp>
        <p:nvSpPr>
          <p:cNvPr id="6" name="Text 3"/>
          <p:cNvSpPr/>
          <p:nvPr/>
        </p:nvSpPr>
        <p:spPr>
          <a:xfrm>
            <a:off x="539750" y="2805430"/>
            <a:ext cx="3031014" cy="1170940"/>
          </a:xfrm>
          <a:prstGeom prst="rect">
            <a:avLst/>
          </a:prstGeom>
          <a:solidFill>
            <a:srgbClr val="FFFFFF"/>
          </a:solidFill>
          <a:ln w="12700">
            <a:solidFill>
              <a:srgbClr val="000000"/>
            </a:solidFill>
            <a:prstDash val="solid"/>
          </a:ln>
        </p:spPr>
        <p:txBody>
          <a:bodyPr wrap="square" lIns="796131" tIns="219710" rIns="796211" bIns="194310" rtlCol="0" anchor="t">
            <a:normAutofit/>
          </a:bodyPr>
          <a:lstStyle/>
          <a:p>
            <a:pPr marL="0" indent="0" algn="ctr">
              <a:lnSpc>
                <a:spcPts val="2880"/>
              </a:lnSpc>
              <a:buNone/>
            </a:pPr>
            <a:r>
              <a:rPr lang="en-US" sz="2000" b="1">
                <a:solidFill>
                  <a:srgbClr val="000000"/>
                </a:solidFill>
                <a:latin typeface="Anybody" pitchFamily="34" charset="0"/>
                <a:ea typeface="Anybody" pitchFamily="34" charset="-122"/>
                <a:cs typeface="Anybody" pitchFamily="34" charset="-120"/>
              </a:rPr>
              <a:t>Too little</a:t>
            </a:r>
            <a:endParaRPr lang="en-US" sz="2000"/>
          </a:p>
          <a:p>
            <a:pPr marL="0" indent="0" algn="ctr">
              <a:lnSpc>
                <a:spcPts val="2880"/>
              </a:lnSpc>
              <a:buNone/>
            </a:pPr>
            <a:r>
              <a:rPr lang="en-US" sz="2000" b="1">
                <a:solidFill>
                  <a:srgbClr val="000000"/>
                </a:solidFill>
                <a:latin typeface="Anybody" pitchFamily="34" charset="0"/>
                <a:ea typeface="Anybody" pitchFamily="34" charset="-122"/>
                <a:cs typeface="Anybody" pitchFamily="34" charset="-120"/>
              </a:rPr>
              <a:t>trust</a:t>
            </a:r>
            <a:endParaRPr lang="en-US" sz="2000"/>
          </a:p>
        </p:txBody>
      </p:sp>
      <p:sp>
        <p:nvSpPr>
          <p:cNvPr id="7" name="Shape 4"/>
          <p:cNvSpPr/>
          <p:nvPr/>
        </p:nvSpPr>
        <p:spPr>
          <a:xfrm>
            <a:off x="3577114" y="3384550"/>
            <a:ext cx="571500" cy="12700"/>
          </a:xfrm>
          <a:prstGeom prst="rect">
            <a:avLst/>
          </a:prstGeom>
          <a:solidFill>
            <a:srgbClr val="000000"/>
          </a:solidFill>
          <a:ln/>
        </p:spPr>
        <p:txBody>
          <a:bodyPr/>
          <a:lstStyle/>
          <a:p>
            <a:endParaRPr lang="en-SG"/>
          </a:p>
        </p:txBody>
      </p:sp>
      <p:sp>
        <p:nvSpPr>
          <p:cNvPr id="8" name="Text 5"/>
          <p:cNvSpPr/>
          <p:nvPr/>
        </p:nvSpPr>
        <p:spPr>
          <a:xfrm>
            <a:off x="4154964" y="2805430"/>
            <a:ext cx="3031093" cy="117094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w="12700">
            <a:solidFill>
              <a:srgbClr val="000000"/>
            </a:solidFill>
            <a:prstDash val="solid"/>
          </a:ln>
        </p:spPr>
        <p:txBody>
          <a:bodyPr wrap="square" lIns="657622" tIns="219710" rIns="657622" bIns="194310" rtlCol="0" anchor="t">
            <a:normAutofit/>
          </a:bodyPr>
          <a:lstStyle/>
          <a:p>
            <a:pPr marL="0" indent="0" algn="ctr">
              <a:lnSpc>
                <a:spcPts val="2880"/>
              </a:lnSpc>
              <a:buNone/>
            </a:pPr>
            <a:r>
              <a:rPr lang="en-US" sz="2000" b="1">
                <a:solidFill>
                  <a:srgbClr val="000000"/>
                </a:solidFill>
                <a:latin typeface="Anybody" pitchFamily="34" charset="0"/>
                <a:ea typeface="Anybody" pitchFamily="34" charset="-122"/>
                <a:cs typeface="Anybody" pitchFamily="34" charset="-120"/>
              </a:rPr>
              <a:t>Calibrated</a:t>
            </a:r>
            <a:endParaRPr lang="en-US" sz="2000"/>
          </a:p>
          <a:p>
            <a:pPr marL="0" indent="0" algn="ctr">
              <a:lnSpc>
                <a:spcPts val="2880"/>
              </a:lnSpc>
              <a:buNone/>
            </a:pPr>
            <a:r>
              <a:rPr lang="en-US" sz="2000" b="1">
                <a:solidFill>
                  <a:srgbClr val="000000"/>
                </a:solidFill>
                <a:latin typeface="Anybody" pitchFamily="34" charset="0"/>
                <a:ea typeface="Anybody" pitchFamily="34" charset="-122"/>
                <a:cs typeface="Anybody" pitchFamily="34" charset="-120"/>
              </a:rPr>
              <a:t>trust</a:t>
            </a:r>
            <a:endParaRPr lang="en-US" sz="2000"/>
          </a:p>
        </p:txBody>
      </p:sp>
      <p:sp>
        <p:nvSpPr>
          <p:cNvPr id="9" name="Shape 6"/>
          <p:cNvSpPr/>
          <p:nvPr/>
        </p:nvSpPr>
        <p:spPr>
          <a:xfrm>
            <a:off x="7192407" y="3384550"/>
            <a:ext cx="571500" cy="12700"/>
          </a:xfrm>
          <a:prstGeom prst="rect">
            <a:avLst/>
          </a:prstGeom>
          <a:solidFill>
            <a:srgbClr val="000000"/>
          </a:solidFill>
          <a:ln/>
        </p:spPr>
        <p:txBody>
          <a:bodyPr/>
          <a:lstStyle/>
          <a:p>
            <a:endParaRPr lang="en-SG"/>
          </a:p>
        </p:txBody>
      </p:sp>
      <p:sp>
        <p:nvSpPr>
          <p:cNvPr id="10" name="Text 7"/>
          <p:cNvSpPr/>
          <p:nvPr/>
        </p:nvSpPr>
        <p:spPr>
          <a:xfrm>
            <a:off x="7770257" y="2805430"/>
            <a:ext cx="3031093" cy="1170940"/>
          </a:xfrm>
          <a:prstGeom prst="rect">
            <a:avLst/>
          </a:prstGeom>
          <a:solidFill>
            <a:srgbClr val="FFFFFF"/>
          </a:solidFill>
          <a:ln w="12700">
            <a:solidFill>
              <a:srgbClr val="000000"/>
            </a:solidFill>
            <a:prstDash val="solid"/>
          </a:ln>
        </p:spPr>
        <p:txBody>
          <a:bodyPr wrap="square" lIns="745173" tIns="219710" rIns="745251" bIns="194310" rtlCol="0" anchor="t">
            <a:noAutofit/>
          </a:bodyPr>
          <a:lstStyle/>
          <a:p>
            <a:pPr marL="0" indent="0" algn="ctr">
              <a:lnSpc>
                <a:spcPts val="2880"/>
              </a:lnSpc>
              <a:buNone/>
            </a:pPr>
            <a:r>
              <a:rPr lang="en-US" sz="2000" b="1">
                <a:solidFill>
                  <a:srgbClr val="000000"/>
                </a:solidFill>
                <a:latin typeface="Anybody" pitchFamily="34" charset="0"/>
                <a:ea typeface="Anybody" pitchFamily="34" charset="-122"/>
                <a:cs typeface="Anybody" pitchFamily="34" charset="-120"/>
              </a:rPr>
              <a:t>Too much</a:t>
            </a:r>
            <a:endParaRPr lang="en-US" sz="2000"/>
          </a:p>
          <a:p>
            <a:pPr marL="0" indent="0" algn="ctr">
              <a:lnSpc>
                <a:spcPts val="2880"/>
              </a:lnSpc>
              <a:buNone/>
            </a:pPr>
            <a:r>
              <a:rPr lang="en-US" sz="2000" b="1">
                <a:solidFill>
                  <a:srgbClr val="000000"/>
                </a:solidFill>
                <a:latin typeface="Anybody" pitchFamily="34" charset="0"/>
                <a:ea typeface="Anybody" pitchFamily="34" charset="-122"/>
                <a:cs typeface="Anybody" pitchFamily="34" charset="-120"/>
              </a:rPr>
              <a:t>trust</a:t>
            </a:r>
            <a:endParaRPr lang="en-US" sz="2000"/>
          </a:p>
        </p:txBody>
      </p:sp>
      <p:sp>
        <p:nvSpPr>
          <p:cNvPr id="11" name="Text 8"/>
          <p:cNvSpPr/>
          <p:nvPr/>
        </p:nvSpPr>
        <p:spPr>
          <a:xfrm>
            <a:off x="612014" y="4160520"/>
            <a:ext cx="2886486" cy="100076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Useful systems may be avoided</a:t>
            </a:r>
            <a:endParaRPr lang="en-US" sz="1600"/>
          </a:p>
        </p:txBody>
      </p:sp>
      <p:sp>
        <p:nvSpPr>
          <p:cNvPr id="12" name="Text 9"/>
          <p:cNvSpPr/>
          <p:nvPr/>
        </p:nvSpPr>
        <p:spPr>
          <a:xfrm>
            <a:off x="4227226" y="4160520"/>
            <a:ext cx="2886568" cy="100076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Reliance that reflects what an AI system can reliably do, with awareness of when to question its output</a:t>
            </a:r>
            <a:endParaRPr lang="en-US" sz="1600"/>
          </a:p>
        </p:txBody>
      </p:sp>
      <p:sp>
        <p:nvSpPr>
          <p:cNvPr id="13" name="Text 10"/>
          <p:cNvSpPr/>
          <p:nvPr/>
        </p:nvSpPr>
        <p:spPr>
          <a:xfrm>
            <a:off x="7842519" y="4160520"/>
            <a:ext cx="2886568" cy="100076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Errors may go unchallenged</a:t>
            </a:r>
            <a:endParaRPr lang="en-US" sz="1600"/>
          </a:p>
        </p:txBody>
      </p:sp>
      <p:sp>
        <p:nvSpPr>
          <p:cNvPr id="14" name="Text 11"/>
          <p:cNvSpPr/>
          <p:nvPr/>
        </p:nvSpPr>
        <p:spPr>
          <a:xfrm>
            <a:off x="6762750" y="6019800"/>
            <a:ext cx="3924300" cy="269240"/>
          </a:xfrm>
          <a:prstGeom prst="rect">
            <a:avLst/>
          </a:prstGeom>
          <a:noFill/>
          <a:ln/>
        </p:spPr>
        <p:txBody>
          <a:bodyPr wrap="square" lIns="0" tIns="0" rIns="0" bIns="0" rtlCol="0" anchor="t">
            <a:normAutofit/>
          </a:bodyPr>
          <a:lstStyle/>
          <a:p>
            <a:pPr marL="0" indent="0" algn="r">
              <a:lnSpc>
                <a:spcPts val="1920"/>
              </a:lnSpc>
              <a:buNone/>
            </a:pPr>
            <a:r>
              <a:rPr lang="en-US" sz="1600" b="1">
                <a:solidFill>
                  <a:srgbClr val="000000"/>
                </a:solidFill>
                <a:latin typeface="Anybody" pitchFamily="34" charset="0"/>
                <a:ea typeface="Anybody" pitchFamily="34" charset="-122"/>
                <a:cs typeface="Anybody" pitchFamily="34" charset="-120"/>
              </a:rPr>
              <a:t>[Welthan Ang]</a:t>
            </a:r>
            <a:endParaRPr lang="en-US" sz="16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Four research questions</a:t>
            </a:r>
            <a:endParaRPr lang="en-US" sz="4000"/>
          </a:p>
        </p:txBody>
      </p:sp>
      <p:sp>
        <p:nvSpPr>
          <p:cNvPr id="5" name="Text 2"/>
          <p:cNvSpPr/>
          <p:nvPr/>
        </p:nvSpPr>
        <p:spPr>
          <a:xfrm>
            <a:off x="654050" y="1972311"/>
            <a:ext cx="1003300" cy="474980"/>
          </a:xfrm>
          <a:prstGeom prst="rect">
            <a:avLst/>
          </a:prstGeom>
          <a:noFill/>
          <a:ln/>
        </p:spPr>
        <p:txBody>
          <a:bodyPr wrap="square" lIns="0" tIns="0" rIns="0" bIns="0" rtlCol="0" anchor="t">
            <a:normAutofit/>
          </a:bodyPr>
          <a:lstStyle/>
          <a:p>
            <a:pPr marL="0" indent="0" algn="l">
              <a:lnSpc>
                <a:spcPts val="3540"/>
              </a:lnSpc>
              <a:buNone/>
            </a:pPr>
            <a:r>
              <a:rPr lang="en-US" sz="2950" b="1">
                <a:solidFill>
                  <a:srgbClr val="000000"/>
                </a:solidFill>
                <a:latin typeface="Anybody" pitchFamily="34" charset="0"/>
                <a:ea typeface="Anybody" pitchFamily="34" charset="-122"/>
                <a:cs typeface="Anybody" pitchFamily="34" charset="-120"/>
              </a:rPr>
              <a:t>01</a:t>
            </a:r>
            <a:endParaRPr lang="en-US" sz="2950"/>
          </a:p>
        </p:txBody>
      </p:sp>
      <p:sp>
        <p:nvSpPr>
          <p:cNvPr id="6" name="Text 3"/>
          <p:cNvSpPr/>
          <p:nvPr/>
        </p:nvSpPr>
        <p:spPr>
          <a:xfrm>
            <a:off x="1606550" y="1995171"/>
            <a:ext cx="3662680"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Differences</a:t>
            </a:r>
            <a:endParaRPr lang="en-US" sz="2650"/>
          </a:p>
        </p:txBody>
      </p:sp>
      <p:sp>
        <p:nvSpPr>
          <p:cNvPr id="7" name="Text 4"/>
          <p:cNvSpPr/>
          <p:nvPr/>
        </p:nvSpPr>
        <p:spPr>
          <a:xfrm>
            <a:off x="5162550" y="2075182"/>
            <a:ext cx="569023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How trust in AI differs across countries and regions</a:t>
            </a:r>
            <a:endParaRPr lang="en-US" sz="1600"/>
          </a:p>
        </p:txBody>
      </p:sp>
      <p:sp>
        <p:nvSpPr>
          <p:cNvPr id="8" name="Shape 5"/>
          <p:cNvSpPr/>
          <p:nvPr/>
        </p:nvSpPr>
        <p:spPr>
          <a:xfrm>
            <a:off x="533400" y="2679700"/>
            <a:ext cx="10274300" cy="0"/>
          </a:xfrm>
          <a:prstGeom prst="line">
            <a:avLst/>
          </a:prstGeom>
          <a:noFill/>
          <a:ln w="12700">
            <a:solidFill>
              <a:srgbClr val="000000"/>
            </a:solidFill>
            <a:prstDash val="solid"/>
          </a:ln>
        </p:spPr>
        <p:txBody>
          <a:bodyPr/>
          <a:lstStyle/>
          <a:p>
            <a:endParaRPr lang="en-SG"/>
          </a:p>
        </p:txBody>
      </p:sp>
      <p:sp>
        <p:nvSpPr>
          <p:cNvPr id="9" name="Text 6"/>
          <p:cNvSpPr/>
          <p:nvPr/>
        </p:nvSpPr>
        <p:spPr>
          <a:xfrm>
            <a:off x="654050" y="2929889"/>
            <a:ext cx="1003300" cy="474980"/>
          </a:xfrm>
          <a:prstGeom prst="rect">
            <a:avLst/>
          </a:prstGeom>
          <a:noFill/>
          <a:ln/>
        </p:spPr>
        <p:txBody>
          <a:bodyPr wrap="square" lIns="0" tIns="0" rIns="0" bIns="0" rtlCol="0" anchor="t">
            <a:normAutofit/>
          </a:bodyPr>
          <a:lstStyle/>
          <a:p>
            <a:pPr marL="0" indent="0" algn="l">
              <a:lnSpc>
                <a:spcPts val="3540"/>
              </a:lnSpc>
              <a:buNone/>
            </a:pPr>
            <a:r>
              <a:rPr lang="en-US" sz="2950" b="1">
                <a:solidFill>
                  <a:srgbClr val="000000"/>
                </a:solidFill>
                <a:latin typeface="Anybody" pitchFamily="34" charset="0"/>
                <a:ea typeface="Anybody" pitchFamily="34" charset="-122"/>
                <a:cs typeface="Anybody" pitchFamily="34" charset="-120"/>
              </a:rPr>
              <a:t>02</a:t>
            </a:r>
            <a:endParaRPr lang="en-US" sz="2950"/>
          </a:p>
        </p:txBody>
      </p:sp>
      <p:sp>
        <p:nvSpPr>
          <p:cNvPr id="10" name="Text 7"/>
          <p:cNvSpPr/>
          <p:nvPr/>
        </p:nvSpPr>
        <p:spPr>
          <a:xfrm>
            <a:off x="1606550" y="2952750"/>
            <a:ext cx="3662680"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Related factors</a:t>
            </a:r>
            <a:endParaRPr lang="en-US" sz="2650"/>
          </a:p>
        </p:txBody>
      </p:sp>
      <p:sp>
        <p:nvSpPr>
          <p:cNvPr id="11" name="Text 8"/>
          <p:cNvSpPr/>
          <p:nvPr/>
        </p:nvSpPr>
        <p:spPr>
          <a:xfrm>
            <a:off x="5162550" y="2910839"/>
            <a:ext cx="5690235"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Which experiences and perceptions accompany higher or lower trust</a:t>
            </a:r>
            <a:endParaRPr lang="en-US" sz="1600"/>
          </a:p>
        </p:txBody>
      </p:sp>
      <p:sp>
        <p:nvSpPr>
          <p:cNvPr id="12" name="Shape 9"/>
          <p:cNvSpPr/>
          <p:nvPr/>
        </p:nvSpPr>
        <p:spPr>
          <a:xfrm>
            <a:off x="533400" y="3632200"/>
            <a:ext cx="10274300" cy="0"/>
          </a:xfrm>
          <a:prstGeom prst="line">
            <a:avLst/>
          </a:prstGeom>
          <a:noFill/>
          <a:ln w="12700">
            <a:solidFill>
              <a:srgbClr val="000000"/>
            </a:solidFill>
            <a:prstDash val="solid"/>
          </a:ln>
        </p:spPr>
        <p:txBody>
          <a:bodyPr/>
          <a:lstStyle/>
          <a:p>
            <a:endParaRPr lang="en-SG"/>
          </a:p>
        </p:txBody>
      </p:sp>
      <p:sp>
        <p:nvSpPr>
          <p:cNvPr id="13" name="Text 10"/>
          <p:cNvSpPr/>
          <p:nvPr/>
        </p:nvSpPr>
        <p:spPr>
          <a:xfrm>
            <a:off x="654050" y="3882389"/>
            <a:ext cx="1003300" cy="474980"/>
          </a:xfrm>
          <a:prstGeom prst="rect">
            <a:avLst/>
          </a:prstGeom>
          <a:noFill/>
          <a:ln/>
        </p:spPr>
        <p:txBody>
          <a:bodyPr wrap="square" lIns="0" tIns="0" rIns="0" bIns="0" rtlCol="0" anchor="t">
            <a:normAutofit/>
          </a:bodyPr>
          <a:lstStyle/>
          <a:p>
            <a:pPr marL="0" indent="0" algn="l">
              <a:lnSpc>
                <a:spcPts val="3540"/>
              </a:lnSpc>
              <a:buNone/>
            </a:pPr>
            <a:r>
              <a:rPr lang="en-US" sz="2950" b="1">
                <a:solidFill>
                  <a:srgbClr val="000000"/>
                </a:solidFill>
                <a:latin typeface="Anybody" pitchFamily="34" charset="0"/>
                <a:ea typeface="Anybody" pitchFamily="34" charset="-122"/>
                <a:cs typeface="Anybody" pitchFamily="34" charset="-120"/>
              </a:rPr>
              <a:t>03</a:t>
            </a:r>
            <a:endParaRPr lang="en-US" sz="2950"/>
          </a:p>
        </p:txBody>
      </p:sp>
      <p:sp>
        <p:nvSpPr>
          <p:cNvPr id="14" name="Text 11"/>
          <p:cNvSpPr/>
          <p:nvPr/>
        </p:nvSpPr>
        <p:spPr>
          <a:xfrm>
            <a:off x="1606550" y="3905250"/>
            <a:ext cx="3662680"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Prediction</a:t>
            </a:r>
            <a:endParaRPr lang="en-US" sz="2650"/>
          </a:p>
        </p:txBody>
      </p:sp>
      <p:sp>
        <p:nvSpPr>
          <p:cNvPr id="15" name="Text 12"/>
          <p:cNvSpPr/>
          <p:nvPr/>
        </p:nvSpPr>
        <p:spPr>
          <a:xfrm>
            <a:off x="5162550" y="3985261"/>
            <a:ext cx="569023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Whether those factors can predict a country's trust level</a:t>
            </a:r>
            <a:endParaRPr lang="en-US" sz="1600"/>
          </a:p>
        </p:txBody>
      </p:sp>
      <p:sp>
        <p:nvSpPr>
          <p:cNvPr id="16" name="Shape 13"/>
          <p:cNvSpPr/>
          <p:nvPr/>
        </p:nvSpPr>
        <p:spPr>
          <a:xfrm>
            <a:off x="533400" y="4584700"/>
            <a:ext cx="10274300" cy="0"/>
          </a:xfrm>
          <a:prstGeom prst="line">
            <a:avLst/>
          </a:prstGeom>
          <a:noFill/>
          <a:ln w="12700">
            <a:solidFill>
              <a:srgbClr val="000000"/>
            </a:solidFill>
            <a:prstDash val="solid"/>
          </a:ln>
        </p:spPr>
        <p:txBody>
          <a:bodyPr/>
          <a:lstStyle/>
          <a:p>
            <a:endParaRPr lang="en-SG"/>
          </a:p>
        </p:txBody>
      </p:sp>
      <p:sp>
        <p:nvSpPr>
          <p:cNvPr id="17" name="Text 14"/>
          <p:cNvSpPr/>
          <p:nvPr/>
        </p:nvSpPr>
        <p:spPr>
          <a:xfrm>
            <a:off x="654050" y="4834889"/>
            <a:ext cx="1003300" cy="474980"/>
          </a:xfrm>
          <a:prstGeom prst="rect">
            <a:avLst/>
          </a:prstGeom>
          <a:noFill/>
          <a:ln/>
        </p:spPr>
        <p:txBody>
          <a:bodyPr wrap="square" lIns="0" tIns="0" rIns="0" bIns="0" rtlCol="0" anchor="t">
            <a:normAutofit/>
          </a:bodyPr>
          <a:lstStyle/>
          <a:p>
            <a:pPr marL="0" indent="0" algn="l">
              <a:lnSpc>
                <a:spcPts val="3540"/>
              </a:lnSpc>
              <a:buNone/>
            </a:pPr>
            <a:r>
              <a:rPr lang="en-US" sz="2950" b="1">
                <a:solidFill>
                  <a:srgbClr val="000000"/>
                </a:solidFill>
                <a:latin typeface="Anybody" pitchFamily="34" charset="0"/>
                <a:ea typeface="Anybody" pitchFamily="34" charset="-122"/>
                <a:cs typeface="Anybody" pitchFamily="34" charset="-120"/>
              </a:rPr>
              <a:t>04</a:t>
            </a:r>
            <a:endParaRPr lang="en-US" sz="2950"/>
          </a:p>
        </p:txBody>
      </p:sp>
      <p:sp>
        <p:nvSpPr>
          <p:cNvPr id="18" name="Text 15"/>
          <p:cNvSpPr/>
          <p:nvPr/>
        </p:nvSpPr>
        <p:spPr>
          <a:xfrm>
            <a:off x="1606550" y="4857750"/>
            <a:ext cx="3662680"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Perception trend</a:t>
            </a:r>
            <a:endParaRPr lang="en-US" sz="2650"/>
          </a:p>
        </p:txBody>
      </p:sp>
      <p:sp>
        <p:nvSpPr>
          <p:cNvPr id="19" name="Text 16"/>
          <p:cNvSpPr/>
          <p:nvPr/>
        </p:nvSpPr>
        <p:spPr>
          <a:xfrm>
            <a:off x="5162550" y="4815839"/>
            <a:ext cx="5690235"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Whether public perception of AI is becoming more positive</a:t>
            </a:r>
            <a:endParaRPr lang="en-US" sz="1600"/>
          </a:p>
        </p:txBody>
      </p:sp>
      <p:sp>
        <p:nvSpPr>
          <p:cNvPr id="20" name="Text 17"/>
          <p:cNvSpPr/>
          <p:nvPr/>
        </p:nvSpPr>
        <p:spPr>
          <a:xfrm>
            <a:off x="6762750" y="6019800"/>
            <a:ext cx="3924300" cy="269240"/>
          </a:xfrm>
          <a:prstGeom prst="rect">
            <a:avLst/>
          </a:prstGeom>
          <a:noFill/>
          <a:ln/>
        </p:spPr>
        <p:txBody>
          <a:bodyPr wrap="square" lIns="0" tIns="0" rIns="0" bIns="0" rtlCol="0" anchor="t">
            <a:normAutofit/>
          </a:bodyPr>
          <a:lstStyle/>
          <a:p>
            <a:pPr marL="0" indent="0" algn="r">
              <a:lnSpc>
                <a:spcPts val="1920"/>
              </a:lnSpc>
              <a:buNone/>
            </a:pPr>
            <a:r>
              <a:rPr lang="en-US" sz="1600" b="1">
                <a:solidFill>
                  <a:srgbClr val="000000"/>
                </a:solidFill>
                <a:latin typeface="Anybody"/>
                <a:ea typeface="Anybody"/>
                <a:cs typeface="Anybody" pitchFamily="34" charset="-120"/>
              </a:rPr>
              <a:t>[Welthan Ang</a:t>
            </a:r>
            <a:r>
              <a:rPr lang="en-US" sz="1600" b="1">
                <a:solidFill>
                  <a:srgbClr val="000000"/>
                </a:solidFill>
                <a:latin typeface="Anybody" pitchFamily="34" charset="0"/>
                <a:ea typeface="Anybody"/>
                <a:cs typeface="Anybody" pitchFamily="34" charset="-120"/>
              </a:rPr>
              <a:t>]</a:t>
            </a:r>
            <a:endParaRPr lang="en-US" sz="1600" b="1">
              <a:ea typeface="Anybody"/>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189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Data &amp; approach</a:t>
            </a:r>
            <a:endParaRPr lang="en-US" sz="4000"/>
          </a:p>
        </p:txBody>
      </p:sp>
      <p:sp>
        <p:nvSpPr>
          <p:cNvPr id="5" name="Text 2"/>
          <p:cNvSpPr/>
          <p:nvPr/>
        </p:nvSpPr>
        <p:spPr>
          <a:xfrm>
            <a:off x="654050" y="1661161"/>
            <a:ext cx="3021711" cy="840740"/>
          </a:xfrm>
          <a:prstGeom prst="rect">
            <a:avLst/>
          </a:prstGeom>
          <a:noFill/>
          <a:ln/>
        </p:spPr>
        <p:txBody>
          <a:bodyPr wrap="square" lIns="0" tIns="0" rIns="0" bIns="0" rtlCol="0" anchor="t">
            <a:normAutofit/>
          </a:bodyPr>
          <a:lstStyle/>
          <a:p>
            <a:pPr marL="0" indent="0" algn="l">
              <a:lnSpc>
                <a:spcPts val="6420"/>
              </a:lnSpc>
              <a:buNone/>
            </a:pPr>
            <a:r>
              <a:rPr lang="en-US" sz="5350" b="1">
                <a:solidFill>
                  <a:srgbClr val="000000"/>
                </a:solidFill>
                <a:latin typeface="Anybody" pitchFamily="34" charset="0"/>
                <a:ea typeface="Anybody" pitchFamily="34" charset="-122"/>
                <a:cs typeface="Anybody" pitchFamily="34" charset="-120"/>
              </a:rPr>
              <a:t>47</a:t>
            </a:r>
            <a:endParaRPr lang="en-US" sz="5350"/>
          </a:p>
        </p:txBody>
      </p:sp>
      <p:sp>
        <p:nvSpPr>
          <p:cNvPr id="6" name="Text 3"/>
          <p:cNvSpPr/>
          <p:nvPr/>
        </p:nvSpPr>
        <p:spPr>
          <a:xfrm>
            <a:off x="654050" y="2501900"/>
            <a:ext cx="3021711"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countries in the main trust dataset</a:t>
            </a:r>
            <a:endParaRPr lang="en-US" sz="1600"/>
          </a:p>
        </p:txBody>
      </p:sp>
      <p:sp>
        <p:nvSpPr>
          <p:cNvPr id="7" name="Text 4"/>
          <p:cNvSpPr/>
          <p:nvPr/>
        </p:nvSpPr>
        <p:spPr>
          <a:xfrm>
            <a:off x="654050" y="3243582"/>
            <a:ext cx="3021711" cy="840740"/>
          </a:xfrm>
          <a:prstGeom prst="rect">
            <a:avLst/>
          </a:prstGeom>
          <a:noFill/>
          <a:ln/>
        </p:spPr>
        <p:txBody>
          <a:bodyPr wrap="square" lIns="0" tIns="0" rIns="0" bIns="0" rtlCol="0" anchor="t">
            <a:normAutofit/>
          </a:bodyPr>
          <a:lstStyle/>
          <a:p>
            <a:pPr marL="0" indent="0" algn="l">
              <a:lnSpc>
                <a:spcPts val="6420"/>
              </a:lnSpc>
              <a:buNone/>
            </a:pPr>
            <a:r>
              <a:rPr lang="en-US" sz="5350" b="1">
                <a:solidFill>
                  <a:srgbClr val="000000"/>
                </a:solidFill>
                <a:latin typeface="Anybody" pitchFamily="34" charset="0"/>
                <a:ea typeface="Anybody" pitchFamily="34" charset="-122"/>
                <a:cs typeface="Anybody" pitchFamily="34" charset="-120"/>
              </a:rPr>
              <a:t>32</a:t>
            </a:r>
            <a:endParaRPr lang="en-US" sz="5350"/>
          </a:p>
        </p:txBody>
      </p:sp>
      <p:sp>
        <p:nvSpPr>
          <p:cNvPr id="8" name="Text 5"/>
          <p:cNvSpPr/>
          <p:nvPr/>
        </p:nvSpPr>
        <p:spPr>
          <a:xfrm>
            <a:off x="654050" y="4084321"/>
            <a:ext cx="3021711" cy="75692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countries in the benefit-perception dataset, 30 with both years</a:t>
            </a:r>
            <a:endParaRPr lang="en-US" sz="1600"/>
          </a:p>
        </p:txBody>
      </p:sp>
      <p:sp>
        <p:nvSpPr>
          <p:cNvPr id="9" name="Text 6"/>
          <p:cNvSpPr/>
          <p:nvPr/>
        </p:nvSpPr>
        <p:spPr>
          <a:xfrm>
            <a:off x="4337050" y="1880871"/>
            <a:ext cx="812800" cy="474980"/>
          </a:xfrm>
          <a:prstGeom prst="rect">
            <a:avLst/>
          </a:prstGeom>
          <a:noFill/>
          <a:ln/>
        </p:spPr>
        <p:txBody>
          <a:bodyPr wrap="square" lIns="0" tIns="0" rIns="0" bIns="0" rtlCol="0" anchor="t">
            <a:normAutofit/>
          </a:bodyPr>
          <a:lstStyle/>
          <a:p>
            <a:pPr marL="0" indent="0" algn="l">
              <a:lnSpc>
                <a:spcPts val="3540"/>
              </a:lnSpc>
              <a:buNone/>
            </a:pPr>
            <a:r>
              <a:rPr lang="en-US" sz="2950" b="1">
                <a:solidFill>
                  <a:srgbClr val="000000"/>
                </a:solidFill>
                <a:latin typeface="Anybody" pitchFamily="34" charset="0"/>
                <a:ea typeface="Anybody" pitchFamily="34" charset="-122"/>
                <a:cs typeface="Anybody" pitchFamily="34" charset="-120"/>
              </a:rPr>
              <a:t>01</a:t>
            </a:r>
            <a:endParaRPr lang="en-US" sz="2950"/>
          </a:p>
        </p:txBody>
      </p:sp>
      <p:sp>
        <p:nvSpPr>
          <p:cNvPr id="10" name="Text 7"/>
          <p:cNvSpPr/>
          <p:nvPr/>
        </p:nvSpPr>
        <p:spPr>
          <a:xfrm>
            <a:off x="5099050" y="1903732"/>
            <a:ext cx="1962150"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Describe</a:t>
            </a:r>
            <a:endParaRPr lang="en-US" sz="2650"/>
          </a:p>
        </p:txBody>
      </p:sp>
      <p:sp>
        <p:nvSpPr>
          <p:cNvPr id="11" name="Text 8"/>
          <p:cNvSpPr/>
          <p:nvPr/>
        </p:nvSpPr>
        <p:spPr>
          <a:xfrm>
            <a:off x="7004050" y="1861821"/>
            <a:ext cx="379349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Country rankings, economy and region comparisons</a:t>
            </a:r>
            <a:endParaRPr lang="en-US" sz="1600"/>
          </a:p>
        </p:txBody>
      </p:sp>
      <p:sp>
        <p:nvSpPr>
          <p:cNvPr id="12" name="Shape 9"/>
          <p:cNvSpPr/>
          <p:nvPr/>
        </p:nvSpPr>
        <p:spPr>
          <a:xfrm>
            <a:off x="4216400" y="2556511"/>
            <a:ext cx="6591300" cy="0"/>
          </a:xfrm>
          <a:prstGeom prst="line">
            <a:avLst/>
          </a:prstGeom>
          <a:noFill/>
          <a:ln w="12700">
            <a:solidFill>
              <a:srgbClr val="000000"/>
            </a:solidFill>
            <a:prstDash val="solid"/>
          </a:ln>
        </p:spPr>
        <p:txBody>
          <a:bodyPr/>
          <a:lstStyle/>
          <a:p>
            <a:endParaRPr lang="en-SG"/>
          </a:p>
        </p:txBody>
      </p:sp>
      <p:sp>
        <p:nvSpPr>
          <p:cNvPr id="13" name="Text 10"/>
          <p:cNvSpPr/>
          <p:nvPr/>
        </p:nvSpPr>
        <p:spPr>
          <a:xfrm>
            <a:off x="4337050" y="2774950"/>
            <a:ext cx="812800" cy="474980"/>
          </a:xfrm>
          <a:prstGeom prst="rect">
            <a:avLst/>
          </a:prstGeom>
          <a:noFill/>
          <a:ln/>
        </p:spPr>
        <p:txBody>
          <a:bodyPr wrap="square" lIns="0" tIns="0" rIns="0" bIns="0" rtlCol="0" anchor="t">
            <a:normAutofit/>
          </a:bodyPr>
          <a:lstStyle/>
          <a:p>
            <a:pPr marL="0" indent="0" algn="l">
              <a:lnSpc>
                <a:spcPts val="3540"/>
              </a:lnSpc>
              <a:buNone/>
            </a:pPr>
            <a:r>
              <a:rPr lang="en-US" sz="2950" b="1">
                <a:solidFill>
                  <a:srgbClr val="000000"/>
                </a:solidFill>
                <a:latin typeface="Anybody" pitchFamily="34" charset="0"/>
                <a:ea typeface="Anybody" pitchFamily="34" charset="-122"/>
                <a:cs typeface="Anybody" pitchFamily="34" charset="-120"/>
              </a:rPr>
              <a:t>02</a:t>
            </a:r>
            <a:endParaRPr lang="en-US" sz="2950"/>
          </a:p>
        </p:txBody>
      </p:sp>
      <p:sp>
        <p:nvSpPr>
          <p:cNvPr id="14" name="Text 11"/>
          <p:cNvSpPr/>
          <p:nvPr/>
        </p:nvSpPr>
        <p:spPr>
          <a:xfrm>
            <a:off x="5099050" y="2797811"/>
            <a:ext cx="1962150"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Relate</a:t>
            </a:r>
            <a:endParaRPr lang="en-US" sz="2650"/>
          </a:p>
        </p:txBody>
      </p:sp>
      <p:sp>
        <p:nvSpPr>
          <p:cNvPr id="15" name="Text 12"/>
          <p:cNvSpPr/>
          <p:nvPr/>
        </p:nvSpPr>
        <p:spPr>
          <a:xfrm>
            <a:off x="7004050" y="2755900"/>
            <a:ext cx="379349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Correlations between trust and survey indicators</a:t>
            </a:r>
            <a:endParaRPr lang="en-US" sz="1600"/>
          </a:p>
        </p:txBody>
      </p:sp>
      <p:sp>
        <p:nvSpPr>
          <p:cNvPr id="16" name="Shape 13"/>
          <p:cNvSpPr/>
          <p:nvPr/>
        </p:nvSpPr>
        <p:spPr>
          <a:xfrm>
            <a:off x="4216400" y="3445511"/>
            <a:ext cx="6591300" cy="0"/>
          </a:xfrm>
          <a:prstGeom prst="line">
            <a:avLst/>
          </a:prstGeom>
          <a:noFill/>
          <a:ln w="12700">
            <a:solidFill>
              <a:srgbClr val="000000"/>
            </a:solidFill>
            <a:prstDash val="solid"/>
          </a:ln>
        </p:spPr>
        <p:txBody>
          <a:bodyPr/>
          <a:lstStyle/>
          <a:p>
            <a:endParaRPr lang="en-SG"/>
          </a:p>
        </p:txBody>
      </p:sp>
      <p:sp>
        <p:nvSpPr>
          <p:cNvPr id="17" name="Text 14"/>
          <p:cNvSpPr/>
          <p:nvPr/>
        </p:nvSpPr>
        <p:spPr>
          <a:xfrm>
            <a:off x="4337050" y="3663950"/>
            <a:ext cx="812800" cy="474980"/>
          </a:xfrm>
          <a:prstGeom prst="rect">
            <a:avLst/>
          </a:prstGeom>
          <a:noFill/>
          <a:ln/>
        </p:spPr>
        <p:txBody>
          <a:bodyPr wrap="square" lIns="0" tIns="0" rIns="0" bIns="0" rtlCol="0" anchor="t">
            <a:normAutofit/>
          </a:bodyPr>
          <a:lstStyle/>
          <a:p>
            <a:pPr marL="0" indent="0" algn="l">
              <a:lnSpc>
                <a:spcPts val="3540"/>
              </a:lnSpc>
              <a:buNone/>
            </a:pPr>
            <a:r>
              <a:rPr lang="en-US" sz="2950" b="1">
                <a:solidFill>
                  <a:srgbClr val="000000"/>
                </a:solidFill>
                <a:latin typeface="Anybody" pitchFamily="34" charset="0"/>
                <a:ea typeface="Anybody" pitchFamily="34" charset="-122"/>
                <a:cs typeface="Anybody" pitchFamily="34" charset="-120"/>
              </a:rPr>
              <a:t>03</a:t>
            </a:r>
            <a:endParaRPr lang="en-US" sz="2950"/>
          </a:p>
        </p:txBody>
      </p:sp>
      <p:sp>
        <p:nvSpPr>
          <p:cNvPr id="18" name="Text 15"/>
          <p:cNvSpPr/>
          <p:nvPr/>
        </p:nvSpPr>
        <p:spPr>
          <a:xfrm>
            <a:off x="5099050" y="3686811"/>
            <a:ext cx="1962150"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Predict</a:t>
            </a:r>
            <a:endParaRPr lang="en-US" sz="2650"/>
          </a:p>
        </p:txBody>
      </p:sp>
      <p:sp>
        <p:nvSpPr>
          <p:cNvPr id="19" name="Text 16"/>
          <p:cNvSpPr/>
          <p:nvPr/>
        </p:nvSpPr>
        <p:spPr>
          <a:xfrm>
            <a:off x="7004050" y="3644900"/>
            <a:ext cx="379349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Four regression models against an average baseline</a:t>
            </a:r>
            <a:endParaRPr lang="en-US" sz="1600"/>
          </a:p>
        </p:txBody>
      </p:sp>
      <p:sp>
        <p:nvSpPr>
          <p:cNvPr id="20" name="Shape 17"/>
          <p:cNvSpPr/>
          <p:nvPr/>
        </p:nvSpPr>
        <p:spPr>
          <a:xfrm>
            <a:off x="4216400" y="4334511"/>
            <a:ext cx="6591300" cy="0"/>
          </a:xfrm>
          <a:prstGeom prst="line">
            <a:avLst/>
          </a:prstGeom>
          <a:noFill/>
          <a:ln w="12700">
            <a:solidFill>
              <a:srgbClr val="000000"/>
            </a:solidFill>
            <a:prstDash val="solid"/>
          </a:ln>
        </p:spPr>
        <p:txBody>
          <a:bodyPr/>
          <a:lstStyle/>
          <a:p>
            <a:endParaRPr lang="en-SG"/>
          </a:p>
        </p:txBody>
      </p:sp>
      <p:sp>
        <p:nvSpPr>
          <p:cNvPr id="21" name="Text 18"/>
          <p:cNvSpPr/>
          <p:nvPr/>
        </p:nvSpPr>
        <p:spPr>
          <a:xfrm>
            <a:off x="4337050" y="4552950"/>
            <a:ext cx="812800" cy="474980"/>
          </a:xfrm>
          <a:prstGeom prst="rect">
            <a:avLst/>
          </a:prstGeom>
          <a:noFill/>
          <a:ln/>
        </p:spPr>
        <p:txBody>
          <a:bodyPr wrap="square" lIns="0" tIns="0" rIns="0" bIns="0" rtlCol="0" anchor="t">
            <a:normAutofit/>
          </a:bodyPr>
          <a:lstStyle/>
          <a:p>
            <a:pPr marL="0" indent="0" algn="l">
              <a:lnSpc>
                <a:spcPts val="3540"/>
              </a:lnSpc>
              <a:buNone/>
            </a:pPr>
            <a:r>
              <a:rPr lang="en-US" sz="2950" b="1">
                <a:solidFill>
                  <a:srgbClr val="000000"/>
                </a:solidFill>
                <a:latin typeface="Anybody" pitchFamily="34" charset="0"/>
                <a:ea typeface="Anybody" pitchFamily="34" charset="-122"/>
                <a:cs typeface="Anybody" pitchFamily="34" charset="-120"/>
              </a:rPr>
              <a:t>04</a:t>
            </a:r>
            <a:endParaRPr lang="en-US" sz="2950"/>
          </a:p>
        </p:txBody>
      </p:sp>
      <p:sp>
        <p:nvSpPr>
          <p:cNvPr id="22" name="Text 19"/>
          <p:cNvSpPr/>
          <p:nvPr/>
        </p:nvSpPr>
        <p:spPr>
          <a:xfrm>
            <a:off x="5099050" y="4575811"/>
            <a:ext cx="1962150"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Track</a:t>
            </a:r>
            <a:endParaRPr lang="en-US" sz="2650"/>
          </a:p>
        </p:txBody>
      </p:sp>
      <p:sp>
        <p:nvSpPr>
          <p:cNvPr id="23" name="Text 20"/>
          <p:cNvSpPr/>
          <p:nvPr/>
        </p:nvSpPr>
        <p:spPr>
          <a:xfrm>
            <a:off x="7004050" y="4533900"/>
            <a:ext cx="379349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Paired change in benefit perception, 2023 to 2024</a:t>
            </a:r>
            <a:endParaRPr lang="en-US" sz="1600"/>
          </a:p>
        </p:txBody>
      </p:sp>
      <p:sp>
        <p:nvSpPr>
          <p:cNvPr id="24" name="Text 21"/>
          <p:cNvSpPr/>
          <p:nvPr/>
        </p:nvSpPr>
        <p:spPr>
          <a:xfrm>
            <a:off x="654050" y="5369561"/>
            <a:ext cx="10333990" cy="246380"/>
          </a:xfrm>
          <a:prstGeom prst="rect">
            <a:avLst/>
          </a:prstGeom>
          <a:noFill/>
          <a:ln/>
        </p:spPr>
        <p:txBody>
          <a:bodyPr wrap="square" lIns="0" tIns="0" rIns="0" bIns="0" rtlCol="0" anchor="t">
            <a:normAutofit/>
          </a:bodyPr>
          <a:lstStyle/>
          <a:p>
            <a:pPr marL="0" indent="0" algn="l">
              <a:lnSpc>
                <a:spcPts val="1740"/>
              </a:lnSpc>
              <a:buNone/>
            </a:pPr>
            <a:r>
              <a:rPr lang="en-US" sz="1450">
                <a:solidFill>
                  <a:srgbClr val="000000"/>
                </a:solidFill>
                <a:latin typeface="Albert Sans" pitchFamily="34" charset="0"/>
                <a:ea typeface="Albert Sans" pitchFamily="34" charset="-122"/>
                <a:cs typeface="Albert Sans" pitchFamily="34" charset="-120"/>
              </a:rPr>
              <a:t>Each row is a country, not an individual; means and medians give every country equal weight</a:t>
            </a:r>
            <a:endParaRPr lang="en-US" sz="1450"/>
          </a:p>
        </p:txBody>
      </p:sp>
      <p:sp>
        <p:nvSpPr>
          <p:cNvPr id="25" name="Text 22"/>
          <p:cNvSpPr/>
          <p:nvPr/>
        </p:nvSpPr>
        <p:spPr>
          <a:xfrm>
            <a:off x="6762750" y="6019800"/>
            <a:ext cx="3924300" cy="269240"/>
          </a:xfrm>
          <a:prstGeom prst="rect">
            <a:avLst/>
          </a:prstGeom>
          <a:noFill/>
          <a:ln/>
        </p:spPr>
        <p:txBody>
          <a:bodyPr wrap="square" lIns="0" tIns="0" rIns="0" bIns="0" rtlCol="0" anchor="t">
            <a:normAutofit/>
          </a:bodyPr>
          <a:lstStyle/>
          <a:p>
            <a:pPr marL="0" indent="0" algn="r">
              <a:lnSpc>
                <a:spcPts val="1920"/>
              </a:lnSpc>
              <a:buNone/>
            </a:pPr>
            <a:r>
              <a:rPr lang="en-US" sz="1600" b="1">
                <a:solidFill>
                  <a:srgbClr val="000000"/>
                </a:solidFill>
                <a:latin typeface="Anybody"/>
                <a:ea typeface="Anybody"/>
                <a:cs typeface="Anybody" pitchFamily="34" charset="-120"/>
              </a:rPr>
              <a:t>[Welthan Ang]</a:t>
            </a:r>
            <a:endParaRPr lang="en-US" sz="1600" b="1">
              <a:latin typeface="Anybody"/>
              <a:ea typeface="Anybody"/>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07368"/>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07368"/>
              </a:gs>
              <a:gs pos="24000">
                <a:srgbClr val="9EC0BE"/>
              </a:gs>
              <a:gs pos="49000">
                <a:srgbClr val="B185B4"/>
              </a:gs>
              <a:gs pos="75000">
                <a:srgbClr val="FFFFFF"/>
              </a:gs>
              <a:gs pos="100000">
                <a:srgbClr val="207368"/>
              </a:gs>
            </a:gsLst>
            <a:lin ang="8100000" scaled="0"/>
          </a:gradFill>
          <a:ln/>
        </p:spPr>
        <p:txBody>
          <a:bodyPr/>
          <a:lstStyle/>
          <a:p>
            <a:endParaRPr lang="en-SG"/>
          </a:p>
        </p:txBody>
      </p:sp>
      <p:pic>
        <p:nvPicPr>
          <p:cNvPr id="3" name="Image 0" descr="preencoded.png"/>
          <p:cNvPicPr>
            <a:picLocks noChangeAspect="1"/>
          </p:cNvPicPr>
          <p:nvPr/>
        </p:nvPicPr>
        <p:blipFill>
          <a:blip r:embed="rId3"/>
          <a:srcRect l="33" r="33"/>
          <a:stretch/>
        </p:blipFill>
        <p:spPr>
          <a:xfrm rot="10800000">
            <a:off x="0" y="0"/>
            <a:ext cx="2686050" cy="6858000"/>
          </a:xfrm>
          <a:prstGeom prst="rect">
            <a:avLst/>
          </a:prstGeom>
        </p:spPr>
      </p:pic>
      <p:pic>
        <p:nvPicPr>
          <p:cNvPr id="4" name="Image 1" descr="preencoded.png"/>
          <p:cNvPicPr>
            <a:picLocks noChangeAspect="1"/>
          </p:cNvPicPr>
          <p:nvPr/>
        </p:nvPicPr>
        <p:blipFill>
          <a:blip r:embed="rId4"/>
          <a:srcRect t="-649" b="-649"/>
          <a:stretch/>
        </p:blipFill>
        <p:spPr>
          <a:xfrm>
            <a:off x="10960100" y="469900"/>
            <a:ext cx="539750" cy="495300"/>
          </a:xfrm>
          <a:prstGeom prst="rect">
            <a:avLst/>
          </a:prstGeom>
        </p:spPr>
      </p:pic>
      <p:sp>
        <p:nvSpPr>
          <p:cNvPr id="6" name="Text 2"/>
          <p:cNvSpPr>
            <a:spLocks noGrp="1"/>
          </p:cNvSpPr>
          <p:nvPr>
            <p:ph type="title"/>
          </p:nvPr>
        </p:nvSpPr>
        <p:spPr>
          <a:xfrm>
            <a:off x="2806700" y="2470150"/>
            <a:ext cx="6540500" cy="2052320"/>
          </a:xfrm>
          <a:prstGeom prst="rect">
            <a:avLst/>
          </a:prstGeom>
          <a:noFill/>
          <a:ln/>
        </p:spPr>
        <p:txBody>
          <a:bodyPr wrap="square" lIns="0" tIns="0" rIns="0" bIns="0" rtlCol="0" anchor="t">
            <a:normAutofit/>
          </a:bodyPr>
          <a:lstStyle/>
          <a:p>
            <a:pPr marL="0" indent="0" algn="r">
              <a:lnSpc>
                <a:spcPts val="7980"/>
              </a:lnSpc>
              <a:buNone/>
            </a:pPr>
            <a:r>
              <a:rPr lang="en-US" sz="6650" b="1" i="0">
                <a:solidFill>
                  <a:srgbClr val="000000"/>
                </a:solidFill>
                <a:latin typeface="Anybody" pitchFamily="34" charset="0"/>
                <a:ea typeface="Anybody" pitchFamily="34" charset="-122"/>
                <a:cs typeface="Anybody" pitchFamily="34" charset="-120"/>
              </a:rPr>
              <a:t>What we</a:t>
            </a:r>
            <a:endParaRPr lang="en-US" sz="6650"/>
          </a:p>
          <a:p>
            <a:pPr marL="0" indent="0" algn="r">
              <a:lnSpc>
                <a:spcPts val="7980"/>
              </a:lnSpc>
              <a:buNone/>
            </a:pPr>
            <a:r>
              <a:rPr lang="en-US" sz="6650" b="1" i="0">
                <a:solidFill>
                  <a:srgbClr val="000000"/>
                </a:solidFill>
                <a:latin typeface="Anybody" pitchFamily="34" charset="0"/>
                <a:ea typeface="Anybody" pitchFamily="34" charset="-122"/>
                <a:cs typeface="Anybody" pitchFamily="34" charset="-120"/>
              </a:rPr>
              <a:t>found</a:t>
            </a:r>
            <a:endParaRPr lang="en-US" sz="6650"/>
          </a:p>
        </p:txBody>
      </p:sp>
      <p:sp>
        <p:nvSpPr>
          <p:cNvPr id="7" name="Shape 3"/>
          <p:cNvSpPr/>
          <p:nvPr/>
        </p:nvSpPr>
        <p:spPr>
          <a:xfrm>
            <a:off x="2686050" y="4794250"/>
            <a:ext cx="8547100" cy="12700"/>
          </a:xfrm>
          <a:prstGeom prst="rect">
            <a:avLst/>
          </a:prstGeom>
          <a:solidFill>
            <a:srgbClr val="000000"/>
          </a:solidFill>
          <a:ln/>
        </p:spPr>
        <p:txBody>
          <a:bodyPr/>
          <a:lstStyle/>
          <a:p>
            <a:endParaRPr lang="en-SG"/>
          </a:p>
        </p:txBody>
      </p:sp>
      <p:sp>
        <p:nvSpPr>
          <p:cNvPr id="8" name="Text 4"/>
          <p:cNvSpPr/>
          <p:nvPr/>
        </p:nvSpPr>
        <p:spPr>
          <a:xfrm>
            <a:off x="2609850" y="5149850"/>
            <a:ext cx="8502650" cy="391160"/>
          </a:xfrm>
          <a:prstGeom prst="rect">
            <a:avLst/>
          </a:prstGeom>
          <a:noFill/>
          <a:ln/>
        </p:spPr>
        <p:txBody>
          <a:bodyPr wrap="square" lIns="0" tIns="0" rIns="0" bIns="0" rtlCol="0" anchor="t">
            <a:normAutofit/>
          </a:bodyPr>
          <a:lstStyle/>
          <a:p>
            <a:pPr marL="0" indent="0" algn="r">
              <a:lnSpc>
                <a:spcPts val="2880"/>
              </a:lnSpc>
              <a:buNone/>
            </a:pPr>
            <a:r>
              <a:rPr lang="en-US" sz="2400">
                <a:solidFill>
                  <a:srgbClr val="000000"/>
                </a:solidFill>
                <a:latin typeface="Albert Sans" pitchFamily="34" charset="0"/>
                <a:ea typeface="Albert Sans" pitchFamily="34" charset="-122"/>
                <a:cs typeface="Albert Sans" pitchFamily="34" charset="-120"/>
              </a:rPr>
              <a:t>Country gaps, related factors, prediction and trend</a:t>
            </a:r>
            <a:endParaRPr 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Trust by country</a:t>
            </a:r>
            <a:endParaRPr lang="en-US" sz="4000"/>
          </a:p>
        </p:txBody>
      </p:sp>
      <p:sp>
        <p:nvSpPr>
          <p:cNvPr id="5" name="Text 2"/>
          <p:cNvSpPr/>
          <p:nvPr/>
        </p:nvSpPr>
        <p:spPr>
          <a:xfrm>
            <a:off x="654050" y="1678307"/>
            <a:ext cx="5836742" cy="35306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Highest 10</a:t>
            </a:r>
            <a:endParaRPr lang="en-US" sz="2150"/>
          </a:p>
        </p:txBody>
      </p:sp>
      <p:sp>
        <p:nvSpPr>
          <p:cNvPr id="6" name="Text 3"/>
          <p:cNvSpPr/>
          <p:nvPr/>
        </p:nvSpPr>
        <p:spPr>
          <a:xfrm>
            <a:off x="654050" y="2158364"/>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Nigeria</a:t>
            </a:r>
            <a:endParaRPr lang="en-US" sz="1600"/>
          </a:p>
        </p:txBody>
      </p:sp>
      <p:sp>
        <p:nvSpPr>
          <p:cNvPr id="7" name="Shape 4"/>
          <p:cNvSpPr/>
          <p:nvPr/>
        </p:nvSpPr>
        <p:spPr>
          <a:xfrm>
            <a:off x="2343150" y="2162811"/>
            <a:ext cx="3511550" cy="234950"/>
          </a:xfrm>
          <a:prstGeom prst="rect">
            <a:avLst/>
          </a:prstGeom>
          <a:solidFill>
            <a:srgbClr val="207368"/>
          </a:solidFill>
          <a:ln/>
        </p:spPr>
        <p:txBody>
          <a:bodyPr/>
          <a:lstStyle/>
          <a:p>
            <a:endParaRPr lang="en-SG"/>
          </a:p>
        </p:txBody>
      </p:sp>
      <p:sp>
        <p:nvSpPr>
          <p:cNvPr id="8" name="Text 5"/>
          <p:cNvSpPr/>
          <p:nvPr/>
        </p:nvSpPr>
        <p:spPr>
          <a:xfrm>
            <a:off x="5956300" y="2158364"/>
            <a:ext cx="437388"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79%</a:t>
            </a:r>
            <a:endParaRPr lang="en-US" sz="1600"/>
          </a:p>
        </p:txBody>
      </p:sp>
      <p:sp>
        <p:nvSpPr>
          <p:cNvPr id="9" name="Text 6"/>
          <p:cNvSpPr/>
          <p:nvPr/>
        </p:nvSpPr>
        <p:spPr>
          <a:xfrm>
            <a:off x="654050" y="2472057"/>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India</a:t>
            </a:r>
            <a:endParaRPr lang="en-US" sz="1600"/>
          </a:p>
        </p:txBody>
      </p:sp>
      <p:sp>
        <p:nvSpPr>
          <p:cNvPr id="10" name="Shape 7"/>
          <p:cNvSpPr/>
          <p:nvPr/>
        </p:nvSpPr>
        <p:spPr>
          <a:xfrm>
            <a:off x="2343150" y="2476500"/>
            <a:ext cx="3378200" cy="234950"/>
          </a:xfrm>
          <a:prstGeom prst="rect">
            <a:avLst/>
          </a:prstGeom>
          <a:solidFill>
            <a:srgbClr val="207368"/>
          </a:solidFill>
          <a:ln/>
        </p:spPr>
        <p:txBody>
          <a:bodyPr/>
          <a:lstStyle/>
          <a:p>
            <a:endParaRPr lang="en-SG"/>
          </a:p>
        </p:txBody>
      </p:sp>
      <p:sp>
        <p:nvSpPr>
          <p:cNvPr id="11" name="Text 8"/>
          <p:cNvSpPr/>
          <p:nvPr/>
        </p:nvSpPr>
        <p:spPr>
          <a:xfrm>
            <a:off x="5822950" y="2472057"/>
            <a:ext cx="438341"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76%</a:t>
            </a:r>
            <a:endParaRPr lang="en-US" sz="1600"/>
          </a:p>
        </p:txBody>
      </p:sp>
      <p:sp>
        <p:nvSpPr>
          <p:cNvPr id="12" name="Text 9"/>
          <p:cNvSpPr/>
          <p:nvPr/>
        </p:nvSpPr>
        <p:spPr>
          <a:xfrm>
            <a:off x="654050" y="2785746"/>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Egypt</a:t>
            </a:r>
            <a:endParaRPr lang="en-US" sz="1600"/>
          </a:p>
        </p:txBody>
      </p:sp>
      <p:sp>
        <p:nvSpPr>
          <p:cNvPr id="13" name="Shape 10"/>
          <p:cNvSpPr/>
          <p:nvPr/>
        </p:nvSpPr>
        <p:spPr>
          <a:xfrm>
            <a:off x="2343150" y="2790189"/>
            <a:ext cx="3155950" cy="234950"/>
          </a:xfrm>
          <a:prstGeom prst="rect">
            <a:avLst/>
          </a:prstGeom>
          <a:solidFill>
            <a:srgbClr val="207368"/>
          </a:solidFill>
          <a:ln/>
        </p:spPr>
        <p:txBody>
          <a:bodyPr/>
          <a:lstStyle/>
          <a:p>
            <a:endParaRPr lang="en-SG"/>
          </a:p>
        </p:txBody>
      </p:sp>
      <p:sp>
        <p:nvSpPr>
          <p:cNvPr id="14" name="Text 11"/>
          <p:cNvSpPr/>
          <p:nvPr/>
        </p:nvSpPr>
        <p:spPr>
          <a:xfrm>
            <a:off x="5600700" y="2785746"/>
            <a:ext cx="427292"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71%</a:t>
            </a:r>
            <a:endParaRPr lang="en-US" sz="1600"/>
          </a:p>
        </p:txBody>
      </p:sp>
      <p:sp>
        <p:nvSpPr>
          <p:cNvPr id="15" name="Text 12"/>
          <p:cNvSpPr/>
          <p:nvPr/>
        </p:nvSpPr>
        <p:spPr>
          <a:xfrm>
            <a:off x="654050" y="3099436"/>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China</a:t>
            </a:r>
            <a:endParaRPr lang="en-US" sz="1600"/>
          </a:p>
        </p:txBody>
      </p:sp>
      <p:sp>
        <p:nvSpPr>
          <p:cNvPr id="16" name="Shape 13"/>
          <p:cNvSpPr/>
          <p:nvPr/>
        </p:nvSpPr>
        <p:spPr>
          <a:xfrm>
            <a:off x="2343150" y="3103882"/>
            <a:ext cx="3022600" cy="234950"/>
          </a:xfrm>
          <a:prstGeom prst="rect">
            <a:avLst/>
          </a:prstGeom>
          <a:solidFill>
            <a:srgbClr val="207368"/>
          </a:solidFill>
          <a:ln/>
        </p:spPr>
        <p:txBody>
          <a:bodyPr/>
          <a:lstStyle/>
          <a:p>
            <a:endParaRPr lang="en-SG"/>
          </a:p>
        </p:txBody>
      </p:sp>
      <p:sp>
        <p:nvSpPr>
          <p:cNvPr id="17" name="Text 14"/>
          <p:cNvSpPr/>
          <p:nvPr/>
        </p:nvSpPr>
        <p:spPr>
          <a:xfrm>
            <a:off x="5467350" y="3099436"/>
            <a:ext cx="449771"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68%</a:t>
            </a:r>
            <a:endParaRPr lang="en-US" sz="1600"/>
          </a:p>
        </p:txBody>
      </p:sp>
      <p:sp>
        <p:nvSpPr>
          <p:cNvPr id="18" name="Text 15"/>
          <p:cNvSpPr/>
          <p:nvPr/>
        </p:nvSpPr>
        <p:spPr>
          <a:xfrm>
            <a:off x="654050" y="3413125"/>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UAE</a:t>
            </a:r>
            <a:endParaRPr lang="en-US" sz="1600"/>
          </a:p>
        </p:txBody>
      </p:sp>
      <p:sp>
        <p:nvSpPr>
          <p:cNvPr id="19" name="Shape 16"/>
          <p:cNvSpPr/>
          <p:nvPr/>
        </p:nvSpPr>
        <p:spPr>
          <a:xfrm>
            <a:off x="2343150" y="3417571"/>
            <a:ext cx="2889250" cy="234950"/>
          </a:xfrm>
          <a:prstGeom prst="rect">
            <a:avLst/>
          </a:prstGeom>
          <a:solidFill>
            <a:srgbClr val="207368"/>
          </a:solidFill>
          <a:ln/>
        </p:spPr>
        <p:txBody>
          <a:bodyPr/>
          <a:lstStyle/>
          <a:p>
            <a:endParaRPr lang="en-SG"/>
          </a:p>
        </p:txBody>
      </p:sp>
      <p:sp>
        <p:nvSpPr>
          <p:cNvPr id="20" name="Text 17"/>
          <p:cNvSpPr/>
          <p:nvPr/>
        </p:nvSpPr>
        <p:spPr>
          <a:xfrm>
            <a:off x="5334000" y="3413125"/>
            <a:ext cx="450056"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65%</a:t>
            </a:r>
            <a:endParaRPr lang="en-US" sz="1600"/>
          </a:p>
        </p:txBody>
      </p:sp>
      <p:sp>
        <p:nvSpPr>
          <p:cNvPr id="21" name="Text 18"/>
          <p:cNvSpPr/>
          <p:nvPr/>
        </p:nvSpPr>
        <p:spPr>
          <a:xfrm>
            <a:off x="654050" y="3726814"/>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Saudi Arabia</a:t>
            </a:r>
            <a:endParaRPr lang="en-US" sz="1600"/>
          </a:p>
        </p:txBody>
      </p:sp>
      <p:sp>
        <p:nvSpPr>
          <p:cNvPr id="22" name="Shape 19"/>
          <p:cNvSpPr/>
          <p:nvPr/>
        </p:nvSpPr>
        <p:spPr>
          <a:xfrm>
            <a:off x="2343150" y="3731261"/>
            <a:ext cx="2755900" cy="234950"/>
          </a:xfrm>
          <a:prstGeom prst="rect">
            <a:avLst/>
          </a:prstGeom>
          <a:solidFill>
            <a:srgbClr val="207368"/>
          </a:solidFill>
          <a:ln/>
        </p:spPr>
        <p:txBody>
          <a:bodyPr/>
          <a:lstStyle/>
          <a:p>
            <a:endParaRPr lang="en-SG"/>
          </a:p>
        </p:txBody>
      </p:sp>
      <p:sp>
        <p:nvSpPr>
          <p:cNvPr id="23" name="Text 20"/>
          <p:cNvSpPr/>
          <p:nvPr/>
        </p:nvSpPr>
        <p:spPr>
          <a:xfrm>
            <a:off x="5200650" y="3726814"/>
            <a:ext cx="451295"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62%</a:t>
            </a:r>
            <a:endParaRPr lang="en-US" sz="1600"/>
          </a:p>
        </p:txBody>
      </p:sp>
      <p:sp>
        <p:nvSpPr>
          <p:cNvPr id="24" name="Text 21"/>
          <p:cNvSpPr/>
          <p:nvPr/>
        </p:nvSpPr>
        <p:spPr>
          <a:xfrm>
            <a:off x="654050" y="4040504"/>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South Africa</a:t>
            </a:r>
            <a:endParaRPr lang="en-US" sz="1600"/>
          </a:p>
        </p:txBody>
      </p:sp>
      <p:sp>
        <p:nvSpPr>
          <p:cNvPr id="25" name="Shape 22"/>
          <p:cNvSpPr/>
          <p:nvPr/>
        </p:nvSpPr>
        <p:spPr>
          <a:xfrm>
            <a:off x="2343150" y="4044950"/>
            <a:ext cx="2755900" cy="234950"/>
          </a:xfrm>
          <a:prstGeom prst="rect">
            <a:avLst/>
          </a:prstGeom>
          <a:solidFill>
            <a:srgbClr val="207368"/>
          </a:solidFill>
          <a:ln/>
        </p:spPr>
        <p:txBody>
          <a:bodyPr/>
          <a:lstStyle/>
          <a:p>
            <a:endParaRPr lang="en-SG"/>
          </a:p>
        </p:txBody>
      </p:sp>
      <p:sp>
        <p:nvSpPr>
          <p:cNvPr id="26" name="Text 23"/>
          <p:cNvSpPr/>
          <p:nvPr/>
        </p:nvSpPr>
        <p:spPr>
          <a:xfrm>
            <a:off x="5200650" y="4040504"/>
            <a:ext cx="451295"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62%</a:t>
            </a:r>
            <a:endParaRPr lang="en-US" sz="1600"/>
          </a:p>
        </p:txBody>
      </p:sp>
      <p:sp>
        <p:nvSpPr>
          <p:cNvPr id="27" name="Text 24"/>
          <p:cNvSpPr/>
          <p:nvPr/>
        </p:nvSpPr>
        <p:spPr>
          <a:xfrm>
            <a:off x="654050" y="4354196"/>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Türkiye</a:t>
            </a:r>
            <a:endParaRPr lang="en-US" sz="1600"/>
          </a:p>
        </p:txBody>
      </p:sp>
      <p:sp>
        <p:nvSpPr>
          <p:cNvPr id="28" name="Shape 25"/>
          <p:cNvSpPr/>
          <p:nvPr/>
        </p:nvSpPr>
        <p:spPr>
          <a:xfrm>
            <a:off x="2343150" y="4358642"/>
            <a:ext cx="2489200" cy="234950"/>
          </a:xfrm>
          <a:prstGeom prst="rect">
            <a:avLst/>
          </a:prstGeom>
          <a:solidFill>
            <a:srgbClr val="207368"/>
          </a:solidFill>
          <a:ln/>
        </p:spPr>
        <p:txBody>
          <a:bodyPr/>
          <a:lstStyle/>
          <a:p>
            <a:endParaRPr lang="en-SG"/>
          </a:p>
        </p:txBody>
      </p:sp>
      <p:sp>
        <p:nvSpPr>
          <p:cNvPr id="29" name="Text 26"/>
          <p:cNvSpPr/>
          <p:nvPr/>
        </p:nvSpPr>
        <p:spPr>
          <a:xfrm>
            <a:off x="4933950" y="4354196"/>
            <a:ext cx="450056"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56%</a:t>
            </a:r>
            <a:endParaRPr lang="en-US" sz="1600"/>
          </a:p>
        </p:txBody>
      </p:sp>
      <p:sp>
        <p:nvSpPr>
          <p:cNvPr id="30" name="Text 27"/>
          <p:cNvSpPr/>
          <p:nvPr/>
        </p:nvSpPr>
        <p:spPr>
          <a:xfrm>
            <a:off x="654050" y="4667889"/>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Brazil</a:t>
            </a:r>
            <a:endParaRPr lang="en-US" sz="1600"/>
          </a:p>
        </p:txBody>
      </p:sp>
      <p:sp>
        <p:nvSpPr>
          <p:cNvPr id="31" name="Shape 28"/>
          <p:cNvSpPr/>
          <p:nvPr/>
        </p:nvSpPr>
        <p:spPr>
          <a:xfrm>
            <a:off x="2343150" y="4672329"/>
            <a:ext cx="2444750" cy="234950"/>
          </a:xfrm>
          <a:prstGeom prst="rect">
            <a:avLst/>
          </a:prstGeom>
          <a:solidFill>
            <a:srgbClr val="207368"/>
          </a:solidFill>
          <a:ln/>
        </p:spPr>
        <p:txBody>
          <a:bodyPr/>
          <a:lstStyle/>
          <a:p>
            <a:endParaRPr lang="en-SG"/>
          </a:p>
        </p:txBody>
      </p:sp>
      <p:sp>
        <p:nvSpPr>
          <p:cNvPr id="32" name="Text 29"/>
          <p:cNvSpPr/>
          <p:nvPr/>
        </p:nvSpPr>
        <p:spPr>
          <a:xfrm>
            <a:off x="4889500" y="4667889"/>
            <a:ext cx="448628"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55%</a:t>
            </a:r>
            <a:endParaRPr lang="en-US" sz="1600"/>
          </a:p>
        </p:txBody>
      </p:sp>
      <p:sp>
        <p:nvSpPr>
          <p:cNvPr id="33" name="Text 30"/>
          <p:cNvSpPr/>
          <p:nvPr/>
        </p:nvSpPr>
        <p:spPr>
          <a:xfrm>
            <a:off x="654050" y="4981575"/>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Hungary</a:t>
            </a:r>
            <a:endParaRPr lang="en-US" sz="1600"/>
          </a:p>
        </p:txBody>
      </p:sp>
      <p:sp>
        <p:nvSpPr>
          <p:cNvPr id="34" name="Shape 31"/>
          <p:cNvSpPr/>
          <p:nvPr/>
        </p:nvSpPr>
        <p:spPr>
          <a:xfrm>
            <a:off x="2343150" y="4986021"/>
            <a:ext cx="2400300" cy="234950"/>
          </a:xfrm>
          <a:prstGeom prst="rect">
            <a:avLst/>
          </a:prstGeom>
          <a:solidFill>
            <a:srgbClr val="207368"/>
          </a:solidFill>
          <a:ln/>
        </p:spPr>
        <p:txBody>
          <a:bodyPr/>
          <a:lstStyle/>
          <a:p>
            <a:endParaRPr lang="en-SG"/>
          </a:p>
        </p:txBody>
      </p:sp>
      <p:sp>
        <p:nvSpPr>
          <p:cNvPr id="35" name="Text 32"/>
          <p:cNvSpPr/>
          <p:nvPr/>
        </p:nvSpPr>
        <p:spPr>
          <a:xfrm>
            <a:off x="4845050" y="4981575"/>
            <a:ext cx="449675"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54%</a:t>
            </a:r>
            <a:endParaRPr lang="en-US" sz="1600"/>
          </a:p>
        </p:txBody>
      </p:sp>
      <p:sp>
        <p:nvSpPr>
          <p:cNvPr id="36" name="Text 33"/>
          <p:cNvSpPr/>
          <p:nvPr/>
        </p:nvSpPr>
        <p:spPr>
          <a:xfrm>
            <a:off x="7084378" y="1678307"/>
            <a:ext cx="3835022" cy="35306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Lowest 10</a:t>
            </a:r>
            <a:endParaRPr lang="en-US" sz="2150"/>
          </a:p>
        </p:txBody>
      </p:sp>
      <p:sp>
        <p:nvSpPr>
          <p:cNvPr id="37" name="Text 34"/>
          <p:cNvSpPr/>
          <p:nvPr/>
        </p:nvSpPr>
        <p:spPr>
          <a:xfrm>
            <a:off x="7084378" y="2158364"/>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Finland</a:t>
            </a:r>
            <a:endParaRPr lang="en-US" sz="1600"/>
          </a:p>
        </p:txBody>
      </p:sp>
      <p:sp>
        <p:nvSpPr>
          <p:cNvPr id="38" name="Shape 35"/>
          <p:cNvSpPr/>
          <p:nvPr/>
        </p:nvSpPr>
        <p:spPr>
          <a:xfrm>
            <a:off x="8773478" y="2162811"/>
            <a:ext cx="1111250" cy="234950"/>
          </a:xfrm>
          <a:prstGeom prst="rect">
            <a:avLst/>
          </a:prstGeom>
          <a:solidFill>
            <a:srgbClr val="B185B4"/>
          </a:solidFill>
          <a:ln/>
        </p:spPr>
        <p:txBody>
          <a:bodyPr/>
          <a:lstStyle/>
          <a:p>
            <a:endParaRPr lang="en-SG"/>
          </a:p>
        </p:txBody>
      </p:sp>
      <p:sp>
        <p:nvSpPr>
          <p:cNvPr id="39" name="Text 36"/>
          <p:cNvSpPr/>
          <p:nvPr/>
        </p:nvSpPr>
        <p:spPr>
          <a:xfrm>
            <a:off x="9986328" y="2158364"/>
            <a:ext cx="449771"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25%</a:t>
            </a:r>
            <a:endParaRPr lang="en-US" sz="1600"/>
          </a:p>
        </p:txBody>
      </p:sp>
      <p:sp>
        <p:nvSpPr>
          <p:cNvPr id="40" name="Text 37"/>
          <p:cNvSpPr/>
          <p:nvPr/>
        </p:nvSpPr>
        <p:spPr>
          <a:xfrm>
            <a:off x="7084378" y="2472057"/>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Japan</a:t>
            </a:r>
            <a:endParaRPr lang="en-US" sz="1600"/>
          </a:p>
        </p:txBody>
      </p:sp>
      <p:sp>
        <p:nvSpPr>
          <p:cNvPr id="41" name="Shape 38"/>
          <p:cNvSpPr/>
          <p:nvPr/>
        </p:nvSpPr>
        <p:spPr>
          <a:xfrm>
            <a:off x="8773478" y="2476500"/>
            <a:ext cx="1244600" cy="234950"/>
          </a:xfrm>
          <a:prstGeom prst="rect">
            <a:avLst/>
          </a:prstGeom>
          <a:solidFill>
            <a:srgbClr val="B185B4"/>
          </a:solidFill>
          <a:ln/>
        </p:spPr>
        <p:txBody>
          <a:bodyPr/>
          <a:lstStyle/>
          <a:p>
            <a:endParaRPr lang="en-SG"/>
          </a:p>
        </p:txBody>
      </p:sp>
      <p:sp>
        <p:nvSpPr>
          <p:cNvPr id="42" name="Text 39"/>
          <p:cNvSpPr/>
          <p:nvPr/>
        </p:nvSpPr>
        <p:spPr>
          <a:xfrm>
            <a:off x="10119678" y="2472057"/>
            <a:ext cx="44958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28%</a:t>
            </a:r>
            <a:endParaRPr lang="en-US" sz="1600"/>
          </a:p>
        </p:txBody>
      </p:sp>
      <p:sp>
        <p:nvSpPr>
          <p:cNvPr id="43" name="Text 40"/>
          <p:cNvSpPr/>
          <p:nvPr/>
        </p:nvSpPr>
        <p:spPr>
          <a:xfrm>
            <a:off x="7084378" y="2785746"/>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Czech Republic</a:t>
            </a:r>
            <a:endParaRPr lang="en-US" sz="1600"/>
          </a:p>
        </p:txBody>
      </p:sp>
      <p:sp>
        <p:nvSpPr>
          <p:cNvPr id="44" name="Shape 41"/>
          <p:cNvSpPr/>
          <p:nvPr/>
        </p:nvSpPr>
        <p:spPr>
          <a:xfrm>
            <a:off x="8773478" y="2790189"/>
            <a:ext cx="1377950" cy="234950"/>
          </a:xfrm>
          <a:prstGeom prst="rect">
            <a:avLst/>
          </a:prstGeom>
          <a:solidFill>
            <a:srgbClr val="B185B4"/>
          </a:solidFill>
          <a:ln/>
        </p:spPr>
        <p:txBody>
          <a:bodyPr/>
          <a:lstStyle/>
          <a:p>
            <a:endParaRPr lang="en-SG"/>
          </a:p>
        </p:txBody>
      </p:sp>
      <p:sp>
        <p:nvSpPr>
          <p:cNvPr id="45" name="Text 42"/>
          <p:cNvSpPr/>
          <p:nvPr/>
        </p:nvSpPr>
        <p:spPr>
          <a:xfrm>
            <a:off x="10253028" y="2785746"/>
            <a:ext cx="442627"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31%</a:t>
            </a:r>
            <a:endParaRPr lang="en-US" sz="1600"/>
          </a:p>
        </p:txBody>
      </p:sp>
      <p:sp>
        <p:nvSpPr>
          <p:cNvPr id="46" name="Text 43"/>
          <p:cNvSpPr/>
          <p:nvPr/>
        </p:nvSpPr>
        <p:spPr>
          <a:xfrm>
            <a:off x="7084378" y="3099436"/>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Germany</a:t>
            </a:r>
            <a:endParaRPr lang="en-US" sz="1600"/>
          </a:p>
        </p:txBody>
      </p:sp>
      <p:sp>
        <p:nvSpPr>
          <p:cNvPr id="47" name="Shape 44"/>
          <p:cNvSpPr/>
          <p:nvPr/>
        </p:nvSpPr>
        <p:spPr>
          <a:xfrm>
            <a:off x="8773478" y="3103882"/>
            <a:ext cx="1422400" cy="234950"/>
          </a:xfrm>
          <a:prstGeom prst="rect">
            <a:avLst/>
          </a:prstGeom>
          <a:solidFill>
            <a:srgbClr val="B185B4"/>
          </a:solidFill>
          <a:ln/>
        </p:spPr>
        <p:txBody>
          <a:bodyPr/>
          <a:lstStyle/>
          <a:p>
            <a:endParaRPr lang="en-SG"/>
          </a:p>
        </p:txBody>
      </p:sp>
      <p:sp>
        <p:nvSpPr>
          <p:cNvPr id="48" name="Text 45"/>
          <p:cNvSpPr/>
          <p:nvPr/>
        </p:nvSpPr>
        <p:spPr>
          <a:xfrm>
            <a:off x="10297478" y="3099436"/>
            <a:ext cx="453485"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32%</a:t>
            </a:r>
            <a:endParaRPr lang="en-US" sz="1600"/>
          </a:p>
        </p:txBody>
      </p:sp>
      <p:sp>
        <p:nvSpPr>
          <p:cNvPr id="49" name="Text 46"/>
          <p:cNvSpPr/>
          <p:nvPr/>
        </p:nvSpPr>
        <p:spPr>
          <a:xfrm>
            <a:off x="7084378" y="3413125"/>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France</a:t>
            </a:r>
            <a:endParaRPr lang="en-US" sz="1600"/>
          </a:p>
        </p:txBody>
      </p:sp>
      <p:sp>
        <p:nvSpPr>
          <p:cNvPr id="50" name="Shape 47"/>
          <p:cNvSpPr/>
          <p:nvPr/>
        </p:nvSpPr>
        <p:spPr>
          <a:xfrm>
            <a:off x="8773478" y="3417571"/>
            <a:ext cx="1466850" cy="234950"/>
          </a:xfrm>
          <a:prstGeom prst="rect">
            <a:avLst/>
          </a:prstGeom>
          <a:solidFill>
            <a:srgbClr val="B185B4"/>
          </a:solidFill>
          <a:ln/>
        </p:spPr>
        <p:txBody>
          <a:bodyPr/>
          <a:lstStyle/>
          <a:p>
            <a:endParaRPr lang="en-SG"/>
          </a:p>
        </p:txBody>
      </p:sp>
      <p:sp>
        <p:nvSpPr>
          <p:cNvPr id="51" name="Text 48"/>
          <p:cNvSpPr/>
          <p:nvPr/>
        </p:nvSpPr>
        <p:spPr>
          <a:xfrm>
            <a:off x="10341928" y="3413125"/>
            <a:ext cx="455867"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33%</a:t>
            </a:r>
            <a:endParaRPr lang="en-US" sz="1600"/>
          </a:p>
        </p:txBody>
      </p:sp>
      <p:sp>
        <p:nvSpPr>
          <p:cNvPr id="52" name="Text 49"/>
          <p:cNvSpPr/>
          <p:nvPr/>
        </p:nvSpPr>
        <p:spPr>
          <a:xfrm>
            <a:off x="7084378" y="3726814"/>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Netherlands</a:t>
            </a:r>
            <a:endParaRPr lang="en-US" sz="1600"/>
          </a:p>
        </p:txBody>
      </p:sp>
      <p:sp>
        <p:nvSpPr>
          <p:cNvPr id="53" name="Shape 50"/>
          <p:cNvSpPr/>
          <p:nvPr/>
        </p:nvSpPr>
        <p:spPr>
          <a:xfrm>
            <a:off x="8773478" y="3731261"/>
            <a:ext cx="1466850" cy="234950"/>
          </a:xfrm>
          <a:prstGeom prst="rect">
            <a:avLst/>
          </a:prstGeom>
          <a:solidFill>
            <a:srgbClr val="B185B4"/>
          </a:solidFill>
          <a:ln/>
        </p:spPr>
        <p:txBody>
          <a:bodyPr/>
          <a:lstStyle/>
          <a:p>
            <a:endParaRPr lang="en-SG"/>
          </a:p>
        </p:txBody>
      </p:sp>
      <p:sp>
        <p:nvSpPr>
          <p:cNvPr id="54" name="Text 51"/>
          <p:cNvSpPr/>
          <p:nvPr/>
        </p:nvSpPr>
        <p:spPr>
          <a:xfrm>
            <a:off x="10341928" y="3726814"/>
            <a:ext cx="455867"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33%</a:t>
            </a:r>
            <a:endParaRPr lang="en-US" sz="1600"/>
          </a:p>
        </p:txBody>
      </p:sp>
      <p:sp>
        <p:nvSpPr>
          <p:cNvPr id="55" name="Text 52"/>
          <p:cNvSpPr/>
          <p:nvPr/>
        </p:nvSpPr>
        <p:spPr>
          <a:xfrm>
            <a:off x="7084378" y="4040504"/>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Canada</a:t>
            </a:r>
            <a:endParaRPr lang="en-US" sz="1600"/>
          </a:p>
        </p:txBody>
      </p:sp>
      <p:sp>
        <p:nvSpPr>
          <p:cNvPr id="56" name="Shape 53"/>
          <p:cNvSpPr/>
          <p:nvPr/>
        </p:nvSpPr>
        <p:spPr>
          <a:xfrm>
            <a:off x="8773478" y="4044950"/>
            <a:ext cx="1511300" cy="234950"/>
          </a:xfrm>
          <a:prstGeom prst="rect">
            <a:avLst/>
          </a:prstGeom>
          <a:solidFill>
            <a:srgbClr val="B185B4"/>
          </a:solidFill>
          <a:ln/>
        </p:spPr>
        <p:txBody>
          <a:bodyPr/>
          <a:lstStyle/>
          <a:p>
            <a:endParaRPr lang="en-SG"/>
          </a:p>
        </p:txBody>
      </p:sp>
      <p:sp>
        <p:nvSpPr>
          <p:cNvPr id="57" name="Text 54"/>
          <p:cNvSpPr/>
          <p:nvPr/>
        </p:nvSpPr>
        <p:spPr>
          <a:xfrm>
            <a:off x="10386378" y="4040504"/>
            <a:ext cx="45339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34%</a:t>
            </a:r>
            <a:endParaRPr lang="en-US" sz="1600"/>
          </a:p>
        </p:txBody>
      </p:sp>
      <p:sp>
        <p:nvSpPr>
          <p:cNvPr id="58" name="Text 55"/>
          <p:cNvSpPr/>
          <p:nvPr/>
        </p:nvSpPr>
        <p:spPr>
          <a:xfrm>
            <a:off x="7084378" y="4354196"/>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Lithuania</a:t>
            </a:r>
            <a:endParaRPr lang="en-US" sz="1600"/>
          </a:p>
        </p:txBody>
      </p:sp>
      <p:sp>
        <p:nvSpPr>
          <p:cNvPr id="59" name="Shape 56"/>
          <p:cNvSpPr/>
          <p:nvPr/>
        </p:nvSpPr>
        <p:spPr>
          <a:xfrm>
            <a:off x="8773478" y="4358642"/>
            <a:ext cx="1511300" cy="234950"/>
          </a:xfrm>
          <a:prstGeom prst="rect">
            <a:avLst/>
          </a:prstGeom>
          <a:solidFill>
            <a:srgbClr val="B185B4"/>
          </a:solidFill>
          <a:ln/>
        </p:spPr>
        <p:txBody>
          <a:bodyPr/>
          <a:lstStyle/>
          <a:p>
            <a:endParaRPr lang="en-SG"/>
          </a:p>
        </p:txBody>
      </p:sp>
      <p:sp>
        <p:nvSpPr>
          <p:cNvPr id="60" name="Text 57"/>
          <p:cNvSpPr/>
          <p:nvPr/>
        </p:nvSpPr>
        <p:spPr>
          <a:xfrm>
            <a:off x="10386378" y="4354196"/>
            <a:ext cx="45339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34%</a:t>
            </a:r>
            <a:endParaRPr lang="en-US" sz="1600"/>
          </a:p>
        </p:txBody>
      </p:sp>
      <p:sp>
        <p:nvSpPr>
          <p:cNvPr id="61" name="Text 58"/>
          <p:cNvSpPr/>
          <p:nvPr/>
        </p:nvSpPr>
        <p:spPr>
          <a:xfrm>
            <a:off x="7084378" y="4667889"/>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New Zealand</a:t>
            </a:r>
            <a:endParaRPr lang="en-US" sz="1600"/>
          </a:p>
        </p:txBody>
      </p:sp>
      <p:sp>
        <p:nvSpPr>
          <p:cNvPr id="62" name="Shape 59"/>
          <p:cNvSpPr/>
          <p:nvPr/>
        </p:nvSpPr>
        <p:spPr>
          <a:xfrm>
            <a:off x="8773478" y="4672329"/>
            <a:ext cx="1511300" cy="234950"/>
          </a:xfrm>
          <a:prstGeom prst="rect">
            <a:avLst/>
          </a:prstGeom>
          <a:solidFill>
            <a:srgbClr val="B185B4"/>
          </a:solidFill>
          <a:ln/>
        </p:spPr>
        <p:txBody>
          <a:bodyPr/>
          <a:lstStyle/>
          <a:p>
            <a:endParaRPr lang="en-SG"/>
          </a:p>
        </p:txBody>
      </p:sp>
      <p:sp>
        <p:nvSpPr>
          <p:cNvPr id="63" name="Text 60"/>
          <p:cNvSpPr/>
          <p:nvPr/>
        </p:nvSpPr>
        <p:spPr>
          <a:xfrm>
            <a:off x="10386378" y="4667889"/>
            <a:ext cx="45339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34%</a:t>
            </a:r>
            <a:endParaRPr lang="en-US" sz="1600"/>
          </a:p>
        </p:txBody>
      </p:sp>
      <p:sp>
        <p:nvSpPr>
          <p:cNvPr id="64" name="Text 61"/>
          <p:cNvSpPr/>
          <p:nvPr/>
        </p:nvSpPr>
        <p:spPr>
          <a:xfrm>
            <a:off x="7084378" y="4981575"/>
            <a:ext cx="1638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Belgium</a:t>
            </a:r>
            <a:endParaRPr lang="en-US" sz="1600"/>
          </a:p>
        </p:txBody>
      </p:sp>
      <p:sp>
        <p:nvSpPr>
          <p:cNvPr id="65" name="Shape 62"/>
          <p:cNvSpPr/>
          <p:nvPr/>
        </p:nvSpPr>
        <p:spPr>
          <a:xfrm>
            <a:off x="8773478" y="4986021"/>
            <a:ext cx="1555750" cy="234950"/>
          </a:xfrm>
          <a:prstGeom prst="rect">
            <a:avLst/>
          </a:prstGeom>
          <a:solidFill>
            <a:srgbClr val="B185B4"/>
          </a:solidFill>
          <a:ln/>
        </p:spPr>
        <p:txBody>
          <a:bodyPr/>
          <a:lstStyle/>
          <a:p>
            <a:endParaRPr lang="en-SG"/>
          </a:p>
        </p:txBody>
      </p:sp>
      <p:sp>
        <p:nvSpPr>
          <p:cNvPr id="66" name="Text 63"/>
          <p:cNvSpPr/>
          <p:nvPr/>
        </p:nvSpPr>
        <p:spPr>
          <a:xfrm>
            <a:off x="10430828" y="4981575"/>
            <a:ext cx="452247"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35%</a:t>
            </a:r>
            <a:endParaRPr lang="en-US" sz="1600"/>
          </a:p>
        </p:txBody>
      </p:sp>
      <p:sp>
        <p:nvSpPr>
          <p:cNvPr id="67" name="Text 64"/>
          <p:cNvSpPr/>
          <p:nvPr/>
        </p:nvSpPr>
        <p:spPr>
          <a:xfrm>
            <a:off x="654050" y="5352417"/>
            <a:ext cx="10333990" cy="246380"/>
          </a:xfrm>
          <a:prstGeom prst="rect">
            <a:avLst/>
          </a:prstGeom>
          <a:noFill/>
          <a:ln/>
        </p:spPr>
        <p:txBody>
          <a:bodyPr wrap="square" lIns="0" tIns="0" rIns="0" bIns="0" rtlCol="0" anchor="t">
            <a:normAutofit/>
          </a:bodyPr>
          <a:lstStyle/>
          <a:p>
            <a:pPr marL="0" indent="0" algn="l">
              <a:lnSpc>
                <a:spcPts val="1740"/>
              </a:lnSpc>
              <a:buNone/>
            </a:pPr>
            <a:r>
              <a:rPr lang="en-US" sz="1450">
                <a:solidFill>
                  <a:srgbClr val="000000"/>
                </a:solidFill>
                <a:latin typeface="Albert Sans" pitchFamily="34" charset="0"/>
                <a:ea typeface="Albert Sans" pitchFamily="34" charset="-122"/>
                <a:cs typeface="Albert Sans" pitchFamily="34" charset="-120"/>
              </a:rPr>
              <a:t>Share of people in each country who trust AI; 47 countries in the main dataset</a:t>
            </a:r>
            <a:endParaRPr lang="en-US" sz="1450"/>
          </a:p>
        </p:txBody>
      </p:sp>
      <p:sp>
        <p:nvSpPr>
          <p:cNvPr id="68" name="Text 65"/>
          <p:cNvSpPr/>
          <p:nvPr/>
        </p:nvSpPr>
        <p:spPr>
          <a:xfrm>
            <a:off x="6762750" y="6019800"/>
            <a:ext cx="3924300" cy="269240"/>
          </a:xfrm>
          <a:prstGeom prst="rect">
            <a:avLst/>
          </a:prstGeom>
          <a:noFill/>
          <a:ln/>
        </p:spPr>
        <p:txBody>
          <a:bodyPr wrap="square" lIns="0" tIns="0" rIns="0" bIns="0" rtlCol="0" anchor="t">
            <a:normAutofit/>
          </a:bodyPr>
          <a:lstStyle/>
          <a:p>
            <a:pPr marL="0" indent="0" algn="r">
              <a:lnSpc>
                <a:spcPts val="1920"/>
              </a:lnSpc>
              <a:buNone/>
            </a:pPr>
            <a:r>
              <a:rPr lang="en-US" sz="1600" b="1">
                <a:solidFill>
                  <a:srgbClr val="000000"/>
                </a:solidFill>
                <a:latin typeface="Anybody"/>
                <a:ea typeface="Anybody"/>
              </a:rPr>
              <a:t>[Felda Everyl]</a:t>
            </a:r>
            <a:endParaRPr lang="en-US" sz="1600">
              <a:ea typeface="Anybody"/>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AEEF6D2-88B0-B321-5730-D434EE64ECB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1E82293-32D3-89E6-B431-ED15BC260BCC}"/>
              </a:ext>
            </a:extLst>
          </p:cNvPr>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18900000" scaled="0"/>
          </a:gradFill>
          <a:ln/>
        </p:spPr>
        <p:txBody>
          <a:bodyPr/>
          <a:lstStyle/>
          <a:p>
            <a:endParaRPr lang="en-SG"/>
          </a:p>
        </p:txBody>
      </p:sp>
      <p:pic>
        <p:nvPicPr>
          <p:cNvPr id="3" name="Image 0" descr="preencoded.png">
            <a:extLst>
              <a:ext uri="{FF2B5EF4-FFF2-40B4-BE49-F238E27FC236}">
                <a16:creationId xmlns:a16="http://schemas.microsoft.com/office/drawing/2014/main" id="{503E6307-E617-8E76-5C20-2E2C83CA5CC8}"/>
              </a:ext>
            </a:extLst>
          </p:cNvPr>
          <p:cNvPicPr>
            <a:picLocks noChangeAspect="1"/>
          </p:cNvPicPr>
          <p:nvPr/>
        </p:nvPicPr>
        <p:blipFill>
          <a:blip r:embed="rId3"/>
          <a:srcRect t="-649" b="-649"/>
          <a:stretch/>
        </p:blipFill>
        <p:spPr>
          <a:xfrm>
            <a:off x="685800" y="5892800"/>
            <a:ext cx="539750" cy="495300"/>
          </a:xfrm>
          <a:prstGeom prst="rect">
            <a:avLst/>
          </a:prstGeom>
        </p:spPr>
      </p:pic>
      <p:sp>
        <p:nvSpPr>
          <p:cNvPr id="4" name="Text 1">
            <a:extLst>
              <a:ext uri="{FF2B5EF4-FFF2-40B4-BE49-F238E27FC236}">
                <a16:creationId xmlns:a16="http://schemas.microsoft.com/office/drawing/2014/main" id="{12941924-8EEF-25B6-A088-3243879E311A}"/>
              </a:ext>
            </a:extLst>
          </p:cNvPr>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a:lnSpc>
                <a:spcPts val="4800"/>
              </a:lnSpc>
            </a:pPr>
            <a:r>
              <a:rPr lang="en-US" b="1">
                <a:latin typeface="Anybody"/>
                <a:ea typeface="Anybody"/>
              </a:rPr>
              <a:t>Mean Trust by Economy</a:t>
            </a:r>
            <a:r>
              <a:rPr lang="en-US" sz="4000" b="1" i="0">
                <a:solidFill>
                  <a:srgbClr val="000000"/>
                </a:solidFill>
                <a:latin typeface="Anybody"/>
              </a:rPr>
              <a:t> type &amp; region</a:t>
            </a:r>
            <a:endParaRPr lang="en-US" sz="4000">
              <a:latin typeface="Anybody"/>
            </a:endParaRPr>
          </a:p>
        </p:txBody>
      </p:sp>
      <p:sp>
        <p:nvSpPr>
          <p:cNvPr id="14" name="Text 11">
            <a:extLst>
              <a:ext uri="{FF2B5EF4-FFF2-40B4-BE49-F238E27FC236}">
                <a16:creationId xmlns:a16="http://schemas.microsoft.com/office/drawing/2014/main" id="{2555CC01-3714-5CA9-BB69-48BD4B5C2C92}"/>
              </a:ext>
            </a:extLst>
          </p:cNvPr>
          <p:cNvSpPr/>
          <p:nvPr/>
        </p:nvSpPr>
        <p:spPr>
          <a:xfrm>
            <a:off x="709112" y="1672606"/>
            <a:ext cx="7181469" cy="35306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Mean trust by region</a:t>
            </a:r>
            <a:endParaRPr lang="en-US" sz="2150"/>
          </a:p>
        </p:txBody>
      </p:sp>
      <p:sp>
        <p:nvSpPr>
          <p:cNvPr id="15" name="Text 12">
            <a:extLst>
              <a:ext uri="{FF2B5EF4-FFF2-40B4-BE49-F238E27FC236}">
                <a16:creationId xmlns:a16="http://schemas.microsoft.com/office/drawing/2014/main" id="{9063163A-5EAE-D27B-7212-05821C8B492B}"/>
              </a:ext>
            </a:extLst>
          </p:cNvPr>
          <p:cNvSpPr/>
          <p:nvPr/>
        </p:nvSpPr>
        <p:spPr>
          <a:xfrm>
            <a:off x="709112" y="2089169"/>
            <a:ext cx="3466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Africa</a:t>
            </a:r>
            <a:endParaRPr lang="en-US" sz="1600"/>
          </a:p>
        </p:txBody>
      </p:sp>
      <p:sp>
        <p:nvSpPr>
          <p:cNvPr id="16" name="Shape 13">
            <a:extLst>
              <a:ext uri="{FF2B5EF4-FFF2-40B4-BE49-F238E27FC236}">
                <a16:creationId xmlns:a16="http://schemas.microsoft.com/office/drawing/2014/main" id="{B4C9755C-B8E9-83A9-8FD4-76FBF3FCD5A1}"/>
              </a:ext>
            </a:extLst>
          </p:cNvPr>
          <p:cNvSpPr/>
          <p:nvPr/>
        </p:nvSpPr>
        <p:spPr>
          <a:xfrm>
            <a:off x="4176212" y="2093616"/>
            <a:ext cx="1974850" cy="234950"/>
          </a:xfrm>
          <a:prstGeom prst="rect">
            <a:avLst/>
          </a:prstGeom>
          <a:solidFill>
            <a:srgbClr val="B185B4"/>
          </a:solidFill>
          <a:ln/>
        </p:spPr>
        <p:txBody>
          <a:bodyPr/>
          <a:lstStyle/>
          <a:p>
            <a:endParaRPr lang="en-SG"/>
          </a:p>
        </p:txBody>
      </p:sp>
      <p:sp>
        <p:nvSpPr>
          <p:cNvPr id="17" name="Text 14">
            <a:extLst>
              <a:ext uri="{FF2B5EF4-FFF2-40B4-BE49-F238E27FC236}">
                <a16:creationId xmlns:a16="http://schemas.microsoft.com/office/drawing/2014/main" id="{94800801-0F6C-3426-39AD-714A53B7A8B6}"/>
              </a:ext>
            </a:extLst>
          </p:cNvPr>
          <p:cNvSpPr/>
          <p:nvPr/>
        </p:nvSpPr>
        <p:spPr>
          <a:xfrm>
            <a:off x="6278062" y="2089169"/>
            <a:ext cx="71755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70.7%</a:t>
            </a:r>
            <a:endParaRPr lang="en-US" sz="1600"/>
          </a:p>
        </p:txBody>
      </p:sp>
      <p:sp>
        <p:nvSpPr>
          <p:cNvPr id="18" name="Text 15">
            <a:extLst>
              <a:ext uri="{FF2B5EF4-FFF2-40B4-BE49-F238E27FC236}">
                <a16:creationId xmlns:a16="http://schemas.microsoft.com/office/drawing/2014/main" id="{CB11DD33-D96B-895B-BA28-B697F8634632}"/>
              </a:ext>
            </a:extLst>
          </p:cNvPr>
          <p:cNvSpPr/>
          <p:nvPr/>
        </p:nvSpPr>
        <p:spPr>
          <a:xfrm>
            <a:off x="7046412" y="2089169"/>
            <a:ext cx="582549"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 = 3</a:t>
            </a:r>
            <a:endParaRPr lang="en-US" sz="1600"/>
          </a:p>
        </p:txBody>
      </p:sp>
      <p:sp>
        <p:nvSpPr>
          <p:cNvPr id="19" name="Text 16">
            <a:extLst>
              <a:ext uri="{FF2B5EF4-FFF2-40B4-BE49-F238E27FC236}">
                <a16:creationId xmlns:a16="http://schemas.microsoft.com/office/drawing/2014/main" id="{80B95126-1F80-5278-58EC-6528B007415D}"/>
              </a:ext>
            </a:extLst>
          </p:cNvPr>
          <p:cNvSpPr/>
          <p:nvPr/>
        </p:nvSpPr>
        <p:spPr>
          <a:xfrm>
            <a:off x="709112" y="2421906"/>
            <a:ext cx="3466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Western Asia</a:t>
            </a:r>
            <a:endParaRPr lang="en-US" sz="1600"/>
          </a:p>
        </p:txBody>
      </p:sp>
      <p:sp>
        <p:nvSpPr>
          <p:cNvPr id="20" name="Shape 17">
            <a:extLst>
              <a:ext uri="{FF2B5EF4-FFF2-40B4-BE49-F238E27FC236}">
                <a16:creationId xmlns:a16="http://schemas.microsoft.com/office/drawing/2014/main" id="{3874FDAF-0DF8-9FF1-7606-694AC5B9002F}"/>
              </a:ext>
            </a:extLst>
          </p:cNvPr>
          <p:cNvSpPr/>
          <p:nvPr/>
        </p:nvSpPr>
        <p:spPr>
          <a:xfrm>
            <a:off x="4176212" y="2426352"/>
            <a:ext cx="1631950" cy="234950"/>
          </a:xfrm>
          <a:prstGeom prst="rect">
            <a:avLst/>
          </a:prstGeom>
          <a:solidFill>
            <a:srgbClr val="B185B4"/>
          </a:solidFill>
          <a:ln/>
        </p:spPr>
        <p:txBody>
          <a:bodyPr/>
          <a:lstStyle/>
          <a:p>
            <a:endParaRPr lang="en-SG"/>
          </a:p>
        </p:txBody>
      </p:sp>
      <p:sp>
        <p:nvSpPr>
          <p:cNvPr id="21" name="Text 18">
            <a:extLst>
              <a:ext uri="{FF2B5EF4-FFF2-40B4-BE49-F238E27FC236}">
                <a16:creationId xmlns:a16="http://schemas.microsoft.com/office/drawing/2014/main" id="{5A5BCA8E-E2C7-AE77-796B-020335EB2C8F}"/>
              </a:ext>
            </a:extLst>
          </p:cNvPr>
          <p:cNvSpPr/>
          <p:nvPr/>
        </p:nvSpPr>
        <p:spPr>
          <a:xfrm>
            <a:off x="6278062" y="2421906"/>
            <a:ext cx="71755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58.5%</a:t>
            </a:r>
            <a:endParaRPr lang="en-US" sz="1600"/>
          </a:p>
        </p:txBody>
      </p:sp>
      <p:sp>
        <p:nvSpPr>
          <p:cNvPr id="22" name="Text 19">
            <a:extLst>
              <a:ext uri="{FF2B5EF4-FFF2-40B4-BE49-F238E27FC236}">
                <a16:creationId xmlns:a16="http://schemas.microsoft.com/office/drawing/2014/main" id="{9375021E-9412-9777-F63E-356DA5B839AF}"/>
              </a:ext>
            </a:extLst>
          </p:cNvPr>
          <p:cNvSpPr/>
          <p:nvPr/>
        </p:nvSpPr>
        <p:spPr>
          <a:xfrm>
            <a:off x="7046412" y="2421906"/>
            <a:ext cx="5962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 = 4</a:t>
            </a:r>
            <a:endParaRPr lang="en-US" sz="1600"/>
          </a:p>
        </p:txBody>
      </p:sp>
      <p:sp>
        <p:nvSpPr>
          <p:cNvPr id="23" name="Text 20">
            <a:extLst>
              <a:ext uri="{FF2B5EF4-FFF2-40B4-BE49-F238E27FC236}">
                <a16:creationId xmlns:a16="http://schemas.microsoft.com/office/drawing/2014/main" id="{03C3B0FB-4459-A541-4730-CDEEF7319B61}"/>
              </a:ext>
            </a:extLst>
          </p:cNvPr>
          <p:cNvSpPr/>
          <p:nvPr/>
        </p:nvSpPr>
        <p:spPr>
          <a:xfrm>
            <a:off x="709112" y="2754648"/>
            <a:ext cx="3466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Eastern, Southern &amp; Central Asia</a:t>
            </a:r>
            <a:endParaRPr lang="en-US" sz="1600"/>
          </a:p>
        </p:txBody>
      </p:sp>
      <p:sp>
        <p:nvSpPr>
          <p:cNvPr id="24" name="Shape 21">
            <a:extLst>
              <a:ext uri="{FF2B5EF4-FFF2-40B4-BE49-F238E27FC236}">
                <a16:creationId xmlns:a16="http://schemas.microsoft.com/office/drawing/2014/main" id="{FDA35B7D-F190-B068-D230-3BD4E4FBB972}"/>
              </a:ext>
            </a:extLst>
          </p:cNvPr>
          <p:cNvSpPr/>
          <p:nvPr/>
        </p:nvSpPr>
        <p:spPr>
          <a:xfrm>
            <a:off x="4176212" y="2759094"/>
            <a:ext cx="1485900" cy="234950"/>
          </a:xfrm>
          <a:prstGeom prst="rect">
            <a:avLst/>
          </a:prstGeom>
          <a:solidFill>
            <a:srgbClr val="B185B4"/>
          </a:solidFill>
          <a:ln/>
        </p:spPr>
        <p:txBody>
          <a:bodyPr/>
          <a:lstStyle/>
          <a:p>
            <a:endParaRPr lang="en-SG"/>
          </a:p>
        </p:txBody>
      </p:sp>
      <p:sp>
        <p:nvSpPr>
          <p:cNvPr id="25" name="Text 22">
            <a:extLst>
              <a:ext uri="{FF2B5EF4-FFF2-40B4-BE49-F238E27FC236}">
                <a16:creationId xmlns:a16="http://schemas.microsoft.com/office/drawing/2014/main" id="{CF0D7A40-546A-45F7-EE41-2CF342733761}"/>
              </a:ext>
            </a:extLst>
          </p:cNvPr>
          <p:cNvSpPr/>
          <p:nvPr/>
        </p:nvSpPr>
        <p:spPr>
          <a:xfrm>
            <a:off x="6278062" y="2754648"/>
            <a:ext cx="71755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53.2%</a:t>
            </a:r>
            <a:endParaRPr lang="en-US" sz="1600"/>
          </a:p>
        </p:txBody>
      </p:sp>
      <p:sp>
        <p:nvSpPr>
          <p:cNvPr id="26" name="Text 23">
            <a:extLst>
              <a:ext uri="{FF2B5EF4-FFF2-40B4-BE49-F238E27FC236}">
                <a16:creationId xmlns:a16="http://schemas.microsoft.com/office/drawing/2014/main" id="{FDC58377-EF47-2681-9EA2-53A6B140C480}"/>
              </a:ext>
            </a:extLst>
          </p:cNvPr>
          <p:cNvSpPr/>
          <p:nvPr/>
        </p:nvSpPr>
        <p:spPr>
          <a:xfrm>
            <a:off x="7046412" y="2754648"/>
            <a:ext cx="58864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 = 5</a:t>
            </a:r>
            <a:endParaRPr lang="en-US" sz="1600"/>
          </a:p>
        </p:txBody>
      </p:sp>
      <p:sp>
        <p:nvSpPr>
          <p:cNvPr id="27" name="Text 24">
            <a:extLst>
              <a:ext uri="{FF2B5EF4-FFF2-40B4-BE49-F238E27FC236}">
                <a16:creationId xmlns:a16="http://schemas.microsoft.com/office/drawing/2014/main" id="{2388F9E2-1228-6BE4-91B1-2CDC0BAACFD5}"/>
              </a:ext>
            </a:extLst>
          </p:cNvPr>
          <p:cNvSpPr/>
          <p:nvPr/>
        </p:nvSpPr>
        <p:spPr>
          <a:xfrm>
            <a:off x="709112" y="3087391"/>
            <a:ext cx="3466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Latin America &amp; Caribbean</a:t>
            </a:r>
            <a:endParaRPr lang="en-US" sz="1600"/>
          </a:p>
        </p:txBody>
      </p:sp>
      <p:sp>
        <p:nvSpPr>
          <p:cNvPr id="28" name="Shape 25">
            <a:extLst>
              <a:ext uri="{FF2B5EF4-FFF2-40B4-BE49-F238E27FC236}">
                <a16:creationId xmlns:a16="http://schemas.microsoft.com/office/drawing/2014/main" id="{77E3667C-0010-970F-6653-6CDE87AC78AB}"/>
              </a:ext>
            </a:extLst>
          </p:cNvPr>
          <p:cNvSpPr/>
          <p:nvPr/>
        </p:nvSpPr>
        <p:spPr>
          <a:xfrm>
            <a:off x="4176212" y="3091831"/>
            <a:ext cx="1371600" cy="234950"/>
          </a:xfrm>
          <a:prstGeom prst="rect">
            <a:avLst/>
          </a:prstGeom>
          <a:solidFill>
            <a:srgbClr val="B185B4"/>
          </a:solidFill>
          <a:ln/>
        </p:spPr>
        <p:txBody>
          <a:bodyPr/>
          <a:lstStyle/>
          <a:p>
            <a:endParaRPr lang="en-SG"/>
          </a:p>
        </p:txBody>
      </p:sp>
      <p:sp>
        <p:nvSpPr>
          <p:cNvPr id="29" name="Text 26">
            <a:extLst>
              <a:ext uri="{FF2B5EF4-FFF2-40B4-BE49-F238E27FC236}">
                <a16:creationId xmlns:a16="http://schemas.microsoft.com/office/drawing/2014/main" id="{CF3202DA-F610-D38C-B94D-FEBA13F24805}"/>
              </a:ext>
            </a:extLst>
          </p:cNvPr>
          <p:cNvSpPr/>
          <p:nvPr/>
        </p:nvSpPr>
        <p:spPr>
          <a:xfrm>
            <a:off x="6278062" y="3087391"/>
            <a:ext cx="71755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49.0%</a:t>
            </a:r>
            <a:endParaRPr lang="en-US" sz="1600"/>
          </a:p>
        </p:txBody>
      </p:sp>
      <p:sp>
        <p:nvSpPr>
          <p:cNvPr id="30" name="Text 27">
            <a:extLst>
              <a:ext uri="{FF2B5EF4-FFF2-40B4-BE49-F238E27FC236}">
                <a16:creationId xmlns:a16="http://schemas.microsoft.com/office/drawing/2014/main" id="{D01CFB92-830A-BE9F-8781-D0A0E85C2839}"/>
              </a:ext>
            </a:extLst>
          </p:cNvPr>
          <p:cNvSpPr/>
          <p:nvPr/>
        </p:nvSpPr>
        <p:spPr>
          <a:xfrm>
            <a:off x="7046412" y="3087391"/>
            <a:ext cx="582549"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 = 6</a:t>
            </a:r>
            <a:endParaRPr lang="en-US" sz="1600"/>
          </a:p>
        </p:txBody>
      </p:sp>
      <p:sp>
        <p:nvSpPr>
          <p:cNvPr id="31" name="Text 28">
            <a:extLst>
              <a:ext uri="{FF2B5EF4-FFF2-40B4-BE49-F238E27FC236}">
                <a16:creationId xmlns:a16="http://schemas.microsoft.com/office/drawing/2014/main" id="{538E85CD-3412-DF74-1DB3-EF83C6C7764B}"/>
              </a:ext>
            </a:extLst>
          </p:cNvPr>
          <p:cNvSpPr/>
          <p:nvPr/>
        </p:nvSpPr>
        <p:spPr>
          <a:xfrm>
            <a:off x="709112" y="3420127"/>
            <a:ext cx="3466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Southern Europe</a:t>
            </a:r>
            <a:endParaRPr lang="en-US" sz="1600"/>
          </a:p>
        </p:txBody>
      </p:sp>
      <p:sp>
        <p:nvSpPr>
          <p:cNvPr id="32" name="Shape 29">
            <a:extLst>
              <a:ext uri="{FF2B5EF4-FFF2-40B4-BE49-F238E27FC236}">
                <a16:creationId xmlns:a16="http://schemas.microsoft.com/office/drawing/2014/main" id="{C3A26914-EE42-7269-344C-4CBA8A4D755F}"/>
              </a:ext>
            </a:extLst>
          </p:cNvPr>
          <p:cNvSpPr/>
          <p:nvPr/>
        </p:nvSpPr>
        <p:spPr>
          <a:xfrm>
            <a:off x="4176212" y="3424573"/>
            <a:ext cx="1187450" cy="234950"/>
          </a:xfrm>
          <a:prstGeom prst="rect">
            <a:avLst/>
          </a:prstGeom>
          <a:solidFill>
            <a:srgbClr val="B185B4"/>
          </a:solidFill>
          <a:ln/>
        </p:spPr>
        <p:txBody>
          <a:bodyPr/>
          <a:lstStyle/>
          <a:p>
            <a:endParaRPr lang="en-SG"/>
          </a:p>
        </p:txBody>
      </p:sp>
      <p:sp>
        <p:nvSpPr>
          <p:cNvPr id="33" name="Text 30">
            <a:extLst>
              <a:ext uri="{FF2B5EF4-FFF2-40B4-BE49-F238E27FC236}">
                <a16:creationId xmlns:a16="http://schemas.microsoft.com/office/drawing/2014/main" id="{EE941179-36C8-0B7F-DD65-263C249B9089}"/>
              </a:ext>
            </a:extLst>
          </p:cNvPr>
          <p:cNvSpPr/>
          <p:nvPr/>
        </p:nvSpPr>
        <p:spPr>
          <a:xfrm>
            <a:off x="6278062" y="3420127"/>
            <a:ext cx="71755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42.6%</a:t>
            </a:r>
            <a:endParaRPr lang="en-US" sz="1600"/>
          </a:p>
        </p:txBody>
      </p:sp>
      <p:sp>
        <p:nvSpPr>
          <p:cNvPr id="34" name="Text 31">
            <a:extLst>
              <a:ext uri="{FF2B5EF4-FFF2-40B4-BE49-F238E27FC236}">
                <a16:creationId xmlns:a16="http://schemas.microsoft.com/office/drawing/2014/main" id="{06F19FBA-E8B0-75EA-9919-7AEEE848781B}"/>
              </a:ext>
            </a:extLst>
          </p:cNvPr>
          <p:cNvSpPr/>
          <p:nvPr/>
        </p:nvSpPr>
        <p:spPr>
          <a:xfrm>
            <a:off x="7046412" y="3420127"/>
            <a:ext cx="58864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 = 5</a:t>
            </a:r>
            <a:endParaRPr lang="en-US" sz="1600"/>
          </a:p>
        </p:txBody>
      </p:sp>
      <p:sp>
        <p:nvSpPr>
          <p:cNvPr id="35" name="Text 32">
            <a:extLst>
              <a:ext uri="{FF2B5EF4-FFF2-40B4-BE49-F238E27FC236}">
                <a16:creationId xmlns:a16="http://schemas.microsoft.com/office/drawing/2014/main" id="{EF1952BF-B810-9391-1429-057A286B6AE3}"/>
              </a:ext>
            </a:extLst>
          </p:cNvPr>
          <p:cNvSpPr/>
          <p:nvPr/>
        </p:nvSpPr>
        <p:spPr>
          <a:xfrm>
            <a:off x="709112" y="3752869"/>
            <a:ext cx="3466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Eastern Europe</a:t>
            </a:r>
            <a:endParaRPr lang="en-US" sz="1600"/>
          </a:p>
        </p:txBody>
      </p:sp>
      <p:sp>
        <p:nvSpPr>
          <p:cNvPr id="36" name="Shape 33">
            <a:extLst>
              <a:ext uri="{FF2B5EF4-FFF2-40B4-BE49-F238E27FC236}">
                <a16:creationId xmlns:a16="http://schemas.microsoft.com/office/drawing/2014/main" id="{3857125D-64E9-8BDE-5C8C-85CE41CCB2EE}"/>
              </a:ext>
            </a:extLst>
          </p:cNvPr>
          <p:cNvSpPr/>
          <p:nvPr/>
        </p:nvSpPr>
        <p:spPr>
          <a:xfrm>
            <a:off x="4176212" y="3757316"/>
            <a:ext cx="1155700" cy="234950"/>
          </a:xfrm>
          <a:prstGeom prst="rect">
            <a:avLst/>
          </a:prstGeom>
          <a:solidFill>
            <a:srgbClr val="B185B4"/>
          </a:solidFill>
          <a:ln/>
        </p:spPr>
        <p:txBody>
          <a:bodyPr/>
          <a:lstStyle/>
          <a:p>
            <a:endParaRPr lang="en-SG"/>
          </a:p>
        </p:txBody>
      </p:sp>
      <p:sp>
        <p:nvSpPr>
          <p:cNvPr id="37" name="Text 34">
            <a:extLst>
              <a:ext uri="{FF2B5EF4-FFF2-40B4-BE49-F238E27FC236}">
                <a16:creationId xmlns:a16="http://schemas.microsoft.com/office/drawing/2014/main" id="{44C2BE4A-DCA2-3AB7-9779-A008B8432B0D}"/>
              </a:ext>
            </a:extLst>
          </p:cNvPr>
          <p:cNvSpPr/>
          <p:nvPr/>
        </p:nvSpPr>
        <p:spPr>
          <a:xfrm>
            <a:off x="6278062" y="3752869"/>
            <a:ext cx="71755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41.4%</a:t>
            </a:r>
            <a:endParaRPr lang="en-US" sz="1600"/>
          </a:p>
        </p:txBody>
      </p:sp>
      <p:sp>
        <p:nvSpPr>
          <p:cNvPr id="38" name="Text 35">
            <a:extLst>
              <a:ext uri="{FF2B5EF4-FFF2-40B4-BE49-F238E27FC236}">
                <a16:creationId xmlns:a16="http://schemas.microsoft.com/office/drawing/2014/main" id="{AE1C5F7A-C3C4-D282-3C46-B384BF9CA380}"/>
              </a:ext>
            </a:extLst>
          </p:cNvPr>
          <p:cNvSpPr/>
          <p:nvPr/>
        </p:nvSpPr>
        <p:spPr>
          <a:xfrm>
            <a:off x="7046412" y="3752869"/>
            <a:ext cx="58864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 = 5</a:t>
            </a:r>
            <a:endParaRPr lang="en-US" sz="1600"/>
          </a:p>
        </p:txBody>
      </p:sp>
      <p:sp>
        <p:nvSpPr>
          <p:cNvPr id="39" name="Text 36">
            <a:extLst>
              <a:ext uri="{FF2B5EF4-FFF2-40B4-BE49-F238E27FC236}">
                <a16:creationId xmlns:a16="http://schemas.microsoft.com/office/drawing/2014/main" id="{0DB5407D-D3B5-74DC-6FA4-2EBA9D1F87CF}"/>
              </a:ext>
            </a:extLst>
          </p:cNvPr>
          <p:cNvSpPr/>
          <p:nvPr/>
        </p:nvSpPr>
        <p:spPr>
          <a:xfrm>
            <a:off x="709112" y="4085606"/>
            <a:ext cx="3466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Northern &amp; Western Europe</a:t>
            </a:r>
            <a:endParaRPr lang="en-US" sz="1600"/>
          </a:p>
        </p:txBody>
      </p:sp>
      <p:sp>
        <p:nvSpPr>
          <p:cNvPr id="40" name="Shape 37">
            <a:extLst>
              <a:ext uri="{FF2B5EF4-FFF2-40B4-BE49-F238E27FC236}">
                <a16:creationId xmlns:a16="http://schemas.microsoft.com/office/drawing/2014/main" id="{F1F5D02A-99C8-CE05-25EB-1D0EA4AD5EED}"/>
              </a:ext>
            </a:extLst>
          </p:cNvPr>
          <p:cNvSpPr/>
          <p:nvPr/>
        </p:nvSpPr>
        <p:spPr>
          <a:xfrm>
            <a:off x="4176212" y="4090052"/>
            <a:ext cx="1085850" cy="234950"/>
          </a:xfrm>
          <a:prstGeom prst="rect">
            <a:avLst/>
          </a:prstGeom>
          <a:solidFill>
            <a:srgbClr val="B185B4"/>
          </a:solidFill>
          <a:ln/>
        </p:spPr>
        <p:txBody>
          <a:bodyPr/>
          <a:lstStyle/>
          <a:p>
            <a:endParaRPr lang="en-SG"/>
          </a:p>
        </p:txBody>
      </p:sp>
      <p:sp>
        <p:nvSpPr>
          <p:cNvPr id="41" name="Text 38">
            <a:extLst>
              <a:ext uri="{FF2B5EF4-FFF2-40B4-BE49-F238E27FC236}">
                <a16:creationId xmlns:a16="http://schemas.microsoft.com/office/drawing/2014/main" id="{0175586D-03A6-A611-1305-58555FD79DD8}"/>
              </a:ext>
            </a:extLst>
          </p:cNvPr>
          <p:cNvSpPr/>
          <p:nvPr/>
        </p:nvSpPr>
        <p:spPr>
          <a:xfrm>
            <a:off x="6278062" y="4085606"/>
            <a:ext cx="71755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38.9%</a:t>
            </a:r>
            <a:endParaRPr lang="en-US" sz="1600"/>
          </a:p>
        </p:txBody>
      </p:sp>
      <p:sp>
        <p:nvSpPr>
          <p:cNvPr id="42" name="Text 39">
            <a:extLst>
              <a:ext uri="{FF2B5EF4-FFF2-40B4-BE49-F238E27FC236}">
                <a16:creationId xmlns:a16="http://schemas.microsoft.com/office/drawing/2014/main" id="{CA1D0BFC-38B0-5E60-346C-6F0CADA46ECC}"/>
              </a:ext>
            </a:extLst>
          </p:cNvPr>
          <p:cNvSpPr/>
          <p:nvPr/>
        </p:nvSpPr>
        <p:spPr>
          <a:xfrm>
            <a:off x="7046412" y="4085606"/>
            <a:ext cx="663321"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 = 15</a:t>
            </a:r>
            <a:endParaRPr lang="en-US" sz="1600"/>
          </a:p>
        </p:txBody>
      </p:sp>
      <p:sp>
        <p:nvSpPr>
          <p:cNvPr id="43" name="Text 40">
            <a:extLst>
              <a:ext uri="{FF2B5EF4-FFF2-40B4-BE49-F238E27FC236}">
                <a16:creationId xmlns:a16="http://schemas.microsoft.com/office/drawing/2014/main" id="{7639B038-2AE5-AE8B-B237-BE2D2E90EF0F}"/>
              </a:ext>
            </a:extLst>
          </p:cNvPr>
          <p:cNvSpPr/>
          <p:nvPr/>
        </p:nvSpPr>
        <p:spPr>
          <a:xfrm>
            <a:off x="709112" y="4418348"/>
            <a:ext cx="3466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North America</a:t>
            </a:r>
            <a:endParaRPr lang="en-US" sz="1600"/>
          </a:p>
        </p:txBody>
      </p:sp>
      <p:sp>
        <p:nvSpPr>
          <p:cNvPr id="44" name="Shape 41">
            <a:extLst>
              <a:ext uri="{FF2B5EF4-FFF2-40B4-BE49-F238E27FC236}">
                <a16:creationId xmlns:a16="http://schemas.microsoft.com/office/drawing/2014/main" id="{7FB5EF83-A5A1-3EDC-6166-1C448A9BCD79}"/>
              </a:ext>
            </a:extLst>
          </p:cNvPr>
          <p:cNvSpPr/>
          <p:nvPr/>
        </p:nvSpPr>
        <p:spPr>
          <a:xfrm>
            <a:off x="4176212" y="4422794"/>
            <a:ext cx="1047750" cy="234950"/>
          </a:xfrm>
          <a:prstGeom prst="rect">
            <a:avLst/>
          </a:prstGeom>
          <a:solidFill>
            <a:srgbClr val="B185B4"/>
          </a:solidFill>
          <a:ln/>
        </p:spPr>
        <p:txBody>
          <a:bodyPr/>
          <a:lstStyle/>
          <a:p>
            <a:endParaRPr lang="en-SG"/>
          </a:p>
        </p:txBody>
      </p:sp>
      <p:sp>
        <p:nvSpPr>
          <p:cNvPr id="45" name="Text 42">
            <a:extLst>
              <a:ext uri="{FF2B5EF4-FFF2-40B4-BE49-F238E27FC236}">
                <a16:creationId xmlns:a16="http://schemas.microsoft.com/office/drawing/2014/main" id="{066FF20A-E72F-7F0E-C3DE-CDE0BBDEB293}"/>
              </a:ext>
            </a:extLst>
          </p:cNvPr>
          <p:cNvSpPr/>
          <p:nvPr/>
        </p:nvSpPr>
        <p:spPr>
          <a:xfrm>
            <a:off x="6278062" y="4418348"/>
            <a:ext cx="71755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37.5%</a:t>
            </a:r>
            <a:endParaRPr lang="en-US" sz="1600"/>
          </a:p>
        </p:txBody>
      </p:sp>
      <p:sp>
        <p:nvSpPr>
          <p:cNvPr id="46" name="Text 43">
            <a:extLst>
              <a:ext uri="{FF2B5EF4-FFF2-40B4-BE49-F238E27FC236}">
                <a16:creationId xmlns:a16="http://schemas.microsoft.com/office/drawing/2014/main" id="{0BB548FB-FE40-5FC0-0228-E6BEB09EF56D}"/>
              </a:ext>
            </a:extLst>
          </p:cNvPr>
          <p:cNvSpPr/>
          <p:nvPr/>
        </p:nvSpPr>
        <p:spPr>
          <a:xfrm>
            <a:off x="7046412" y="4418348"/>
            <a:ext cx="58302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 = 2</a:t>
            </a:r>
            <a:endParaRPr lang="en-US" sz="1600"/>
          </a:p>
        </p:txBody>
      </p:sp>
      <p:sp>
        <p:nvSpPr>
          <p:cNvPr id="47" name="Text 44">
            <a:extLst>
              <a:ext uri="{FF2B5EF4-FFF2-40B4-BE49-F238E27FC236}">
                <a16:creationId xmlns:a16="http://schemas.microsoft.com/office/drawing/2014/main" id="{CF9EFE4B-7041-746E-A477-9DCC8BE6E677}"/>
              </a:ext>
            </a:extLst>
          </p:cNvPr>
          <p:cNvSpPr/>
          <p:nvPr/>
        </p:nvSpPr>
        <p:spPr>
          <a:xfrm>
            <a:off x="709112" y="4751091"/>
            <a:ext cx="3466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Oceania</a:t>
            </a:r>
            <a:endParaRPr lang="en-US" sz="1600"/>
          </a:p>
        </p:txBody>
      </p:sp>
      <p:sp>
        <p:nvSpPr>
          <p:cNvPr id="48" name="Shape 45">
            <a:extLst>
              <a:ext uri="{FF2B5EF4-FFF2-40B4-BE49-F238E27FC236}">
                <a16:creationId xmlns:a16="http://schemas.microsoft.com/office/drawing/2014/main" id="{964887E1-B8FB-EC5B-8519-987AC7262DC1}"/>
              </a:ext>
            </a:extLst>
          </p:cNvPr>
          <p:cNvSpPr/>
          <p:nvPr/>
        </p:nvSpPr>
        <p:spPr>
          <a:xfrm>
            <a:off x="4176212" y="4755531"/>
            <a:ext cx="977900" cy="234950"/>
          </a:xfrm>
          <a:prstGeom prst="rect">
            <a:avLst/>
          </a:prstGeom>
          <a:solidFill>
            <a:srgbClr val="B185B4"/>
          </a:solidFill>
          <a:ln/>
        </p:spPr>
        <p:txBody>
          <a:bodyPr/>
          <a:lstStyle/>
          <a:p>
            <a:endParaRPr lang="en-SG"/>
          </a:p>
        </p:txBody>
      </p:sp>
      <p:sp>
        <p:nvSpPr>
          <p:cNvPr id="49" name="Text 46">
            <a:extLst>
              <a:ext uri="{FF2B5EF4-FFF2-40B4-BE49-F238E27FC236}">
                <a16:creationId xmlns:a16="http://schemas.microsoft.com/office/drawing/2014/main" id="{CA32EA3E-2832-1EDE-815F-1953A9B608FC}"/>
              </a:ext>
            </a:extLst>
          </p:cNvPr>
          <p:cNvSpPr/>
          <p:nvPr/>
        </p:nvSpPr>
        <p:spPr>
          <a:xfrm>
            <a:off x="6278062" y="4751091"/>
            <a:ext cx="717550" cy="26924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00000"/>
                </a:solidFill>
                <a:latin typeface="Anybody" pitchFamily="34" charset="0"/>
                <a:ea typeface="Anybody" pitchFamily="34" charset="-122"/>
                <a:cs typeface="Anybody" pitchFamily="34" charset="-120"/>
              </a:rPr>
              <a:t>35.0%</a:t>
            </a:r>
            <a:endParaRPr lang="en-US" sz="1600"/>
          </a:p>
        </p:txBody>
      </p:sp>
      <p:sp>
        <p:nvSpPr>
          <p:cNvPr id="50" name="Text 47">
            <a:extLst>
              <a:ext uri="{FF2B5EF4-FFF2-40B4-BE49-F238E27FC236}">
                <a16:creationId xmlns:a16="http://schemas.microsoft.com/office/drawing/2014/main" id="{FFD9514F-84A9-1D5E-E356-F01AC7CA3F6D}"/>
              </a:ext>
            </a:extLst>
          </p:cNvPr>
          <p:cNvSpPr/>
          <p:nvPr/>
        </p:nvSpPr>
        <p:spPr>
          <a:xfrm>
            <a:off x="7046412" y="4751091"/>
            <a:ext cx="58302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 = 2</a:t>
            </a:r>
            <a:endParaRPr lang="en-US" sz="1600"/>
          </a:p>
        </p:txBody>
      </p:sp>
      <p:sp>
        <p:nvSpPr>
          <p:cNvPr id="51" name="Text 48">
            <a:extLst>
              <a:ext uri="{FF2B5EF4-FFF2-40B4-BE49-F238E27FC236}">
                <a16:creationId xmlns:a16="http://schemas.microsoft.com/office/drawing/2014/main" id="{84C4C781-860B-5779-2184-CA3276B28F95}"/>
              </a:ext>
            </a:extLst>
          </p:cNvPr>
          <p:cNvSpPr/>
          <p:nvPr/>
        </p:nvSpPr>
        <p:spPr>
          <a:xfrm>
            <a:off x="709112" y="5121927"/>
            <a:ext cx="7181469" cy="246380"/>
          </a:xfrm>
          <a:prstGeom prst="rect">
            <a:avLst/>
          </a:prstGeom>
          <a:noFill/>
          <a:ln/>
        </p:spPr>
        <p:txBody>
          <a:bodyPr wrap="square" lIns="0" tIns="0" rIns="0" bIns="0" rtlCol="0" anchor="t">
            <a:normAutofit/>
          </a:bodyPr>
          <a:lstStyle/>
          <a:p>
            <a:pPr marL="0" indent="0" algn="l">
              <a:lnSpc>
                <a:spcPts val="1740"/>
              </a:lnSpc>
              <a:buNone/>
            </a:pPr>
            <a:r>
              <a:rPr lang="en-US" sz="1450">
                <a:solidFill>
                  <a:srgbClr val="000000"/>
                </a:solidFill>
                <a:latin typeface="Albert Sans" pitchFamily="34" charset="0"/>
                <a:ea typeface="Albert Sans" pitchFamily="34" charset="-122"/>
                <a:cs typeface="Albert Sans" pitchFamily="34" charset="-120"/>
              </a:rPr>
              <a:t>n = countries sampled in the region; every country has equal weight</a:t>
            </a:r>
            <a:endParaRPr lang="en-US" sz="1450"/>
          </a:p>
        </p:txBody>
      </p:sp>
      <p:sp>
        <p:nvSpPr>
          <p:cNvPr id="52" name="Text 49">
            <a:extLst>
              <a:ext uri="{FF2B5EF4-FFF2-40B4-BE49-F238E27FC236}">
                <a16:creationId xmlns:a16="http://schemas.microsoft.com/office/drawing/2014/main" id="{DC2CB2B6-5BDE-8BFE-2A2B-3848A50A8FC3}"/>
              </a:ext>
            </a:extLst>
          </p:cNvPr>
          <p:cNvSpPr/>
          <p:nvPr/>
        </p:nvSpPr>
        <p:spPr>
          <a:xfrm>
            <a:off x="6762750" y="6019800"/>
            <a:ext cx="3924300" cy="269240"/>
          </a:xfrm>
          <a:prstGeom prst="rect">
            <a:avLst/>
          </a:prstGeom>
          <a:noFill/>
          <a:ln/>
        </p:spPr>
        <p:txBody>
          <a:bodyPr wrap="square" lIns="0" tIns="0" rIns="0" bIns="0" rtlCol="0" anchor="t">
            <a:normAutofit/>
          </a:bodyPr>
          <a:lstStyle/>
          <a:p>
            <a:pPr marL="0" indent="0" algn="r">
              <a:lnSpc>
                <a:spcPts val="1920"/>
              </a:lnSpc>
              <a:buNone/>
            </a:pPr>
            <a:r>
              <a:rPr lang="en-US" sz="1600" b="1">
                <a:solidFill>
                  <a:srgbClr val="000000"/>
                </a:solidFill>
                <a:latin typeface="Anybody"/>
                <a:ea typeface="Anybody"/>
                <a:cs typeface="Anybody" pitchFamily="34" charset="-120"/>
              </a:rPr>
              <a:t>[Felda Everyl]</a:t>
            </a:r>
            <a:endParaRPr lang="en-US" sz="1600">
              <a:latin typeface="Albert Sans"/>
              <a:ea typeface="Anybody"/>
            </a:endParaRPr>
          </a:p>
        </p:txBody>
      </p:sp>
      <p:sp>
        <p:nvSpPr>
          <p:cNvPr id="72" name="Shape 2">
            <a:extLst>
              <a:ext uri="{FF2B5EF4-FFF2-40B4-BE49-F238E27FC236}">
                <a16:creationId xmlns:a16="http://schemas.microsoft.com/office/drawing/2014/main" id="{58DF8D10-4566-40C8-6363-AC77441D29F1}"/>
              </a:ext>
            </a:extLst>
          </p:cNvPr>
          <p:cNvSpPr/>
          <p:nvPr/>
        </p:nvSpPr>
        <p:spPr>
          <a:xfrm>
            <a:off x="8180105" y="1949223"/>
            <a:ext cx="158750" cy="1295400"/>
          </a:xfrm>
          <a:prstGeom prst="rect">
            <a:avLst/>
          </a:prstGeom>
          <a:solidFill>
            <a:srgbClr val="207368"/>
          </a:solidFill>
          <a:ln/>
        </p:spPr>
        <p:txBody>
          <a:bodyPr/>
          <a:lstStyle/>
          <a:p>
            <a:endParaRPr lang="en-SG"/>
          </a:p>
        </p:txBody>
      </p:sp>
      <p:sp>
        <p:nvSpPr>
          <p:cNvPr id="74" name="Text 3">
            <a:extLst>
              <a:ext uri="{FF2B5EF4-FFF2-40B4-BE49-F238E27FC236}">
                <a16:creationId xmlns:a16="http://schemas.microsoft.com/office/drawing/2014/main" id="{144F4408-2128-F035-2AF3-C513B368A942}"/>
              </a:ext>
            </a:extLst>
          </p:cNvPr>
          <p:cNvSpPr/>
          <p:nvPr/>
        </p:nvSpPr>
        <p:spPr>
          <a:xfrm>
            <a:off x="8475163" y="2434606"/>
            <a:ext cx="2465769" cy="353060"/>
          </a:xfrm>
          <a:prstGeom prst="rect">
            <a:avLst/>
          </a:prstGeom>
          <a:noFill/>
          <a:ln/>
        </p:spPr>
        <p:txBody>
          <a:bodyPr wrap="square" lIns="0" tIns="0" rIns="0" bIns="0" rtlCol="0" anchor="t">
            <a:normAutofit/>
          </a:bodyPr>
          <a:lstStyle/>
          <a:p>
            <a:pPr>
              <a:lnSpc>
                <a:spcPts val="2580"/>
              </a:lnSpc>
            </a:pPr>
            <a:r>
              <a:rPr lang="en-US" sz="2150" b="1">
                <a:solidFill>
                  <a:srgbClr val="000000"/>
                </a:solidFill>
                <a:latin typeface="Anybody"/>
                <a:ea typeface="Anybody"/>
                <a:cs typeface="Anybody" pitchFamily="34" charset="-120"/>
              </a:rPr>
              <a:t>57.2%</a:t>
            </a:r>
            <a:endParaRPr lang="en-US" sz="2150">
              <a:latin typeface="Anybody"/>
            </a:endParaRPr>
          </a:p>
        </p:txBody>
      </p:sp>
      <p:sp>
        <p:nvSpPr>
          <p:cNvPr id="76" name="Text 4">
            <a:extLst>
              <a:ext uri="{FF2B5EF4-FFF2-40B4-BE49-F238E27FC236}">
                <a16:creationId xmlns:a16="http://schemas.microsoft.com/office/drawing/2014/main" id="{00344865-C407-4ACC-043B-A262A87B941F}"/>
              </a:ext>
            </a:extLst>
          </p:cNvPr>
          <p:cNvSpPr/>
          <p:nvPr/>
        </p:nvSpPr>
        <p:spPr>
          <a:xfrm>
            <a:off x="8475163" y="1996617"/>
            <a:ext cx="2465769"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Emerging</a:t>
            </a:r>
            <a:endParaRPr lang="en-US" sz="2650"/>
          </a:p>
        </p:txBody>
      </p:sp>
      <p:sp>
        <p:nvSpPr>
          <p:cNvPr id="78" name="Text 5">
            <a:extLst>
              <a:ext uri="{FF2B5EF4-FFF2-40B4-BE49-F238E27FC236}">
                <a16:creationId xmlns:a16="http://schemas.microsoft.com/office/drawing/2014/main" id="{1C9307A9-FE1F-C186-4C4E-C5E551142AFF}"/>
              </a:ext>
            </a:extLst>
          </p:cNvPr>
          <p:cNvSpPr/>
          <p:nvPr/>
        </p:nvSpPr>
        <p:spPr>
          <a:xfrm>
            <a:off x="8475163" y="2788259"/>
            <a:ext cx="2465769"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17 countries, standard deviation 11.6 points</a:t>
            </a:r>
            <a:endParaRPr lang="en-US" sz="1600"/>
          </a:p>
        </p:txBody>
      </p:sp>
      <p:sp>
        <p:nvSpPr>
          <p:cNvPr id="80" name="Shape 6">
            <a:extLst>
              <a:ext uri="{FF2B5EF4-FFF2-40B4-BE49-F238E27FC236}">
                <a16:creationId xmlns:a16="http://schemas.microsoft.com/office/drawing/2014/main" id="{D4586391-688A-2C29-EA8C-C9B04BE71F6C}"/>
              </a:ext>
            </a:extLst>
          </p:cNvPr>
          <p:cNvSpPr/>
          <p:nvPr/>
        </p:nvSpPr>
        <p:spPr>
          <a:xfrm>
            <a:off x="8186455" y="3530373"/>
            <a:ext cx="146050" cy="1282700"/>
          </a:xfrm>
          <a:prstGeom prst="rect">
            <a:avLst/>
          </a:prstGeom>
          <a:solidFill>
            <a:srgbClr val="A6C1D8"/>
          </a:solidFill>
          <a:ln w="12700">
            <a:solidFill>
              <a:srgbClr val="000000"/>
            </a:solidFill>
            <a:prstDash val="solid"/>
          </a:ln>
        </p:spPr>
        <p:txBody>
          <a:bodyPr/>
          <a:lstStyle/>
          <a:p>
            <a:endParaRPr lang="en-SG"/>
          </a:p>
        </p:txBody>
      </p:sp>
      <p:sp>
        <p:nvSpPr>
          <p:cNvPr id="82" name="Text 7">
            <a:extLst>
              <a:ext uri="{FF2B5EF4-FFF2-40B4-BE49-F238E27FC236}">
                <a16:creationId xmlns:a16="http://schemas.microsoft.com/office/drawing/2014/main" id="{0405CB59-70A2-6355-C13E-CD2FCCA25B29}"/>
              </a:ext>
            </a:extLst>
          </p:cNvPr>
          <p:cNvSpPr/>
          <p:nvPr/>
        </p:nvSpPr>
        <p:spPr>
          <a:xfrm>
            <a:off x="8475163" y="3946777"/>
            <a:ext cx="2465769" cy="353060"/>
          </a:xfrm>
          <a:prstGeom prst="rect">
            <a:avLst/>
          </a:prstGeom>
          <a:noFill/>
          <a:ln/>
        </p:spPr>
        <p:txBody>
          <a:bodyPr wrap="square" lIns="0" tIns="0" rIns="0" bIns="0" rtlCol="0" anchor="t">
            <a:normAutofit/>
          </a:bodyPr>
          <a:lstStyle/>
          <a:p>
            <a:pPr>
              <a:lnSpc>
                <a:spcPts val="2580"/>
              </a:lnSpc>
            </a:pPr>
            <a:r>
              <a:rPr lang="en-US" sz="2150" b="1">
                <a:solidFill>
                  <a:srgbClr val="000000"/>
                </a:solidFill>
                <a:latin typeface="Anybody"/>
                <a:ea typeface="Anybody"/>
                <a:cs typeface="Anybody" pitchFamily="34" charset="-120"/>
              </a:rPr>
              <a:t>39.4%</a:t>
            </a:r>
            <a:endParaRPr lang="en-US" sz="2150" b="1">
              <a:latin typeface="Anybody"/>
            </a:endParaRPr>
          </a:p>
        </p:txBody>
      </p:sp>
      <p:sp>
        <p:nvSpPr>
          <p:cNvPr id="84" name="Text 8">
            <a:extLst>
              <a:ext uri="{FF2B5EF4-FFF2-40B4-BE49-F238E27FC236}">
                <a16:creationId xmlns:a16="http://schemas.microsoft.com/office/drawing/2014/main" id="{A1CCDDE5-15F8-C5C5-3DAF-C45B96D4E4CE}"/>
              </a:ext>
            </a:extLst>
          </p:cNvPr>
          <p:cNvSpPr/>
          <p:nvPr/>
        </p:nvSpPr>
        <p:spPr>
          <a:xfrm>
            <a:off x="8475163" y="3560978"/>
            <a:ext cx="2465769"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Advanced</a:t>
            </a:r>
            <a:endParaRPr lang="en-US" sz="2650"/>
          </a:p>
        </p:txBody>
      </p:sp>
      <p:sp>
        <p:nvSpPr>
          <p:cNvPr id="86" name="Text 9">
            <a:extLst>
              <a:ext uri="{FF2B5EF4-FFF2-40B4-BE49-F238E27FC236}">
                <a16:creationId xmlns:a16="http://schemas.microsoft.com/office/drawing/2014/main" id="{51C36CEA-9145-9BE2-83D4-17C530C0F93E}"/>
              </a:ext>
            </a:extLst>
          </p:cNvPr>
          <p:cNvSpPr/>
          <p:nvPr/>
        </p:nvSpPr>
        <p:spPr>
          <a:xfrm>
            <a:off x="8475163" y="4363059"/>
            <a:ext cx="2465769"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30 countries, standard deviation 7.3 points</a:t>
            </a:r>
            <a:endParaRPr lang="en-US" sz="1600"/>
          </a:p>
        </p:txBody>
      </p:sp>
      <p:sp>
        <p:nvSpPr>
          <p:cNvPr id="88" name="Text 10">
            <a:extLst>
              <a:ext uri="{FF2B5EF4-FFF2-40B4-BE49-F238E27FC236}">
                <a16:creationId xmlns:a16="http://schemas.microsoft.com/office/drawing/2014/main" id="{9FAB5FA3-460B-C5A3-1BDC-DA48CE551EB3}"/>
              </a:ext>
            </a:extLst>
          </p:cNvPr>
          <p:cNvSpPr/>
          <p:nvPr/>
        </p:nvSpPr>
        <p:spPr>
          <a:xfrm>
            <a:off x="8195763" y="5130138"/>
            <a:ext cx="2753551" cy="688340"/>
          </a:xfrm>
          <a:prstGeom prst="rect">
            <a:avLst/>
          </a:prstGeom>
          <a:noFill/>
          <a:ln/>
        </p:spPr>
        <p:txBody>
          <a:bodyPr wrap="square" lIns="0" tIns="0" rIns="0" bIns="0" rtlCol="0" anchor="t">
            <a:normAutofit/>
          </a:bodyPr>
          <a:lstStyle/>
          <a:p>
            <a:pPr marL="0" indent="0" algn="l">
              <a:lnSpc>
                <a:spcPts val="1740"/>
              </a:lnSpc>
              <a:buNone/>
            </a:pPr>
            <a:r>
              <a:rPr lang="en-US" sz="1450">
                <a:solidFill>
                  <a:srgbClr val="000000"/>
                </a:solidFill>
                <a:latin typeface="Albert Sans" pitchFamily="34" charset="0"/>
                <a:ea typeface="Albert Sans" pitchFamily="34" charset="-122"/>
                <a:cs typeface="Albert Sans" pitchFamily="34" charset="-120"/>
              </a:rPr>
              <a:t>Mean trust by economy type; Mann–Whitney U = 45.5, p &lt; 0.001</a:t>
            </a:r>
            <a:endParaRPr lang="en-US" sz="1450"/>
          </a:p>
        </p:txBody>
      </p:sp>
      <p:sp>
        <p:nvSpPr>
          <p:cNvPr id="90" name="Shape 2">
            <a:extLst>
              <a:ext uri="{FF2B5EF4-FFF2-40B4-BE49-F238E27FC236}">
                <a16:creationId xmlns:a16="http://schemas.microsoft.com/office/drawing/2014/main" id="{735F9AA9-8774-6F38-EA08-7E264F0B7878}"/>
              </a:ext>
            </a:extLst>
          </p:cNvPr>
          <p:cNvSpPr/>
          <p:nvPr/>
        </p:nvSpPr>
        <p:spPr>
          <a:xfrm>
            <a:off x="8195762" y="2027510"/>
            <a:ext cx="158750" cy="1295400"/>
          </a:xfrm>
          <a:prstGeom prst="rect">
            <a:avLst/>
          </a:prstGeom>
          <a:solidFill>
            <a:srgbClr val="207368"/>
          </a:solidFill>
          <a:ln/>
        </p:spPr>
        <p:txBody>
          <a:bodyPr/>
          <a:lstStyle/>
          <a:p>
            <a:endParaRPr lang="en-SG"/>
          </a:p>
        </p:txBody>
      </p:sp>
    </p:spTree>
    <p:extLst>
      <p:ext uri="{BB962C8B-B14F-4D97-AF65-F5344CB8AC3E}">
        <p14:creationId xmlns:p14="http://schemas.microsoft.com/office/powerpoint/2010/main" val="2173369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189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Acceptance vs trust</a:t>
            </a:r>
            <a:endParaRPr lang="en-US" sz="4000"/>
          </a:p>
        </p:txBody>
      </p:sp>
      <p:sp>
        <p:nvSpPr>
          <p:cNvPr id="5" name="Text 2"/>
          <p:cNvSpPr/>
          <p:nvPr/>
        </p:nvSpPr>
        <p:spPr>
          <a:xfrm>
            <a:off x="654050" y="2236471"/>
            <a:ext cx="4967510"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Lithuania</a:t>
            </a:r>
            <a:endParaRPr lang="en-US" sz="2650"/>
          </a:p>
        </p:txBody>
      </p:sp>
      <p:sp>
        <p:nvSpPr>
          <p:cNvPr id="6" name="Text 3"/>
          <p:cNvSpPr/>
          <p:nvPr/>
        </p:nvSpPr>
        <p:spPr>
          <a:xfrm>
            <a:off x="654050" y="2860042"/>
            <a:ext cx="1130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Accept AI</a:t>
            </a:r>
            <a:endParaRPr lang="en-US" sz="1600"/>
          </a:p>
        </p:txBody>
      </p:sp>
      <p:sp>
        <p:nvSpPr>
          <p:cNvPr id="7" name="Shape 4"/>
          <p:cNvSpPr/>
          <p:nvPr/>
        </p:nvSpPr>
        <p:spPr>
          <a:xfrm>
            <a:off x="1841500" y="2826389"/>
            <a:ext cx="2844800" cy="311150"/>
          </a:xfrm>
          <a:prstGeom prst="rect">
            <a:avLst/>
          </a:prstGeom>
          <a:solidFill>
            <a:srgbClr val="E3E8E8"/>
          </a:solidFill>
          <a:ln w="12700">
            <a:solidFill>
              <a:srgbClr val="000000"/>
            </a:solidFill>
            <a:prstDash val="solid"/>
          </a:ln>
        </p:spPr>
        <p:txBody>
          <a:bodyPr/>
          <a:lstStyle/>
          <a:p>
            <a:endParaRPr lang="en-SG"/>
          </a:p>
        </p:txBody>
      </p:sp>
      <p:sp>
        <p:nvSpPr>
          <p:cNvPr id="8" name="Shape 5"/>
          <p:cNvSpPr/>
          <p:nvPr/>
        </p:nvSpPr>
        <p:spPr>
          <a:xfrm>
            <a:off x="1845310" y="2830196"/>
            <a:ext cx="2152650" cy="303530"/>
          </a:xfrm>
          <a:prstGeom prst="rect">
            <a:avLst/>
          </a:prstGeom>
          <a:solidFill>
            <a:srgbClr val="B185B4"/>
          </a:solidFill>
          <a:ln/>
        </p:spPr>
        <p:txBody>
          <a:bodyPr/>
          <a:lstStyle/>
          <a:p>
            <a:endParaRPr lang="en-SG"/>
          </a:p>
        </p:txBody>
      </p:sp>
      <p:sp>
        <p:nvSpPr>
          <p:cNvPr id="9" name="Shape 6"/>
          <p:cNvSpPr/>
          <p:nvPr/>
        </p:nvSpPr>
        <p:spPr>
          <a:xfrm>
            <a:off x="3991610" y="2830196"/>
            <a:ext cx="0" cy="303530"/>
          </a:xfrm>
          <a:prstGeom prst="line">
            <a:avLst/>
          </a:prstGeom>
          <a:noFill/>
          <a:ln w="12700">
            <a:solidFill>
              <a:srgbClr val="000000"/>
            </a:solidFill>
            <a:prstDash val="solid"/>
          </a:ln>
        </p:spPr>
        <p:txBody>
          <a:bodyPr/>
          <a:lstStyle/>
          <a:p>
            <a:endParaRPr lang="en-SG"/>
          </a:p>
        </p:txBody>
      </p:sp>
      <p:sp>
        <p:nvSpPr>
          <p:cNvPr id="10" name="Text 7"/>
          <p:cNvSpPr/>
          <p:nvPr/>
        </p:nvSpPr>
        <p:spPr>
          <a:xfrm>
            <a:off x="4794250" y="2818129"/>
            <a:ext cx="589026" cy="35306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76%</a:t>
            </a:r>
            <a:endParaRPr lang="en-US" sz="2150"/>
          </a:p>
        </p:txBody>
      </p:sp>
      <p:sp>
        <p:nvSpPr>
          <p:cNvPr id="11" name="Text 8"/>
          <p:cNvSpPr/>
          <p:nvPr/>
        </p:nvSpPr>
        <p:spPr>
          <a:xfrm>
            <a:off x="654050" y="3365500"/>
            <a:ext cx="1130300"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Trust AI</a:t>
            </a:r>
            <a:endParaRPr lang="en-US" sz="1600"/>
          </a:p>
        </p:txBody>
      </p:sp>
      <p:sp>
        <p:nvSpPr>
          <p:cNvPr id="12" name="Shape 9"/>
          <p:cNvSpPr/>
          <p:nvPr/>
        </p:nvSpPr>
        <p:spPr>
          <a:xfrm>
            <a:off x="1841500" y="3331846"/>
            <a:ext cx="2844800" cy="311150"/>
          </a:xfrm>
          <a:prstGeom prst="rect">
            <a:avLst/>
          </a:prstGeom>
          <a:solidFill>
            <a:srgbClr val="E3E8E8"/>
          </a:solidFill>
          <a:ln w="12700">
            <a:solidFill>
              <a:srgbClr val="000000"/>
            </a:solidFill>
            <a:prstDash val="solid"/>
          </a:ln>
        </p:spPr>
        <p:txBody>
          <a:bodyPr/>
          <a:lstStyle/>
          <a:p>
            <a:endParaRPr lang="en-SG"/>
          </a:p>
        </p:txBody>
      </p:sp>
      <p:sp>
        <p:nvSpPr>
          <p:cNvPr id="13" name="Shape 10"/>
          <p:cNvSpPr/>
          <p:nvPr/>
        </p:nvSpPr>
        <p:spPr>
          <a:xfrm>
            <a:off x="1845310" y="3335654"/>
            <a:ext cx="965200" cy="303530"/>
          </a:xfrm>
          <a:prstGeom prst="rect">
            <a:avLst/>
          </a:prstGeom>
          <a:solidFill>
            <a:srgbClr val="B185B4"/>
          </a:solidFill>
          <a:ln/>
        </p:spPr>
        <p:txBody>
          <a:bodyPr/>
          <a:lstStyle/>
          <a:p>
            <a:endParaRPr lang="en-SG"/>
          </a:p>
        </p:txBody>
      </p:sp>
      <p:sp>
        <p:nvSpPr>
          <p:cNvPr id="14" name="Shape 11"/>
          <p:cNvSpPr/>
          <p:nvPr/>
        </p:nvSpPr>
        <p:spPr>
          <a:xfrm>
            <a:off x="2804160" y="3335654"/>
            <a:ext cx="0" cy="303530"/>
          </a:xfrm>
          <a:prstGeom prst="line">
            <a:avLst/>
          </a:prstGeom>
          <a:noFill/>
          <a:ln w="12700">
            <a:solidFill>
              <a:srgbClr val="000000"/>
            </a:solidFill>
            <a:prstDash val="solid"/>
          </a:ln>
        </p:spPr>
        <p:txBody>
          <a:bodyPr/>
          <a:lstStyle/>
          <a:p>
            <a:endParaRPr lang="en-SG"/>
          </a:p>
        </p:txBody>
      </p:sp>
      <p:sp>
        <p:nvSpPr>
          <p:cNvPr id="15" name="Text 12"/>
          <p:cNvSpPr/>
          <p:nvPr/>
        </p:nvSpPr>
        <p:spPr>
          <a:xfrm>
            <a:off x="4794250" y="3323592"/>
            <a:ext cx="609124" cy="35306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34%</a:t>
            </a:r>
            <a:endParaRPr lang="en-US" sz="2150"/>
          </a:p>
        </p:txBody>
      </p:sp>
      <p:sp>
        <p:nvSpPr>
          <p:cNvPr id="16" name="Text 13"/>
          <p:cNvSpPr/>
          <p:nvPr/>
        </p:nvSpPr>
        <p:spPr>
          <a:xfrm>
            <a:off x="654050" y="3905250"/>
            <a:ext cx="496751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People may be willing to accept AI without feeling confident about it</a:t>
            </a:r>
            <a:endParaRPr lang="en-US" sz="1600"/>
          </a:p>
        </p:txBody>
      </p:sp>
      <p:sp>
        <p:nvSpPr>
          <p:cNvPr id="17" name="Text 14"/>
          <p:cNvSpPr/>
          <p:nvPr/>
        </p:nvSpPr>
        <p:spPr>
          <a:xfrm>
            <a:off x="6105525" y="2236471"/>
            <a:ext cx="4718971"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Across countries</a:t>
            </a:r>
            <a:endParaRPr lang="en-US" sz="2650"/>
          </a:p>
        </p:txBody>
      </p:sp>
      <p:sp>
        <p:nvSpPr>
          <p:cNvPr id="18" name="Text 15"/>
          <p:cNvSpPr/>
          <p:nvPr/>
        </p:nvSpPr>
        <p:spPr>
          <a:xfrm>
            <a:off x="6105525" y="2691129"/>
            <a:ext cx="4718971"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Acceptance is higher than trust across the countries studied</a:t>
            </a:r>
            <a:endParaRPr lang="en-US" sz="1600"/>
          </a:p>
        </p:txBody>
      </p:sp>
      <p:sp>
        <p:nvSpPr>
          <p:cNvPr id="19" name="Shape 16"/>
          <p:cNvSpPr/>
          <p:nvPr/>
        </p:nvSpPr>
        <p:spPr>
          <a:xfrm>
            <a:off x="5984875" y="3356614"/>
            <a:ext cx="4822825" cy="12700"/>
          </a:xfrm>
          <a:prstGeom prst="rect">
            <a:avLst/>
          </a:prstGeom>
          <a:solidFill>
            <a:srgbClr val="000000"/>
          </a:solidFill>
          <a:ln/>
        </p:spPr>
        <p:txBody>
          <a:bodyPr/>
          <a:lstStyle/>
          <a:p>
            <a:endParaRPr lang="en-SG"/>
          </a:p>
        </p:txBody>
      </p:sp>
      <p:sp>
        <p:nvSpPr>
          <p:cNvPr id="20" name="Text 17"/>
          <p:cNvSpPr/>
          <p:nvPr/>
        </p:nvSpPr>
        <p:spPr>
          <a:xfrm>
            <a:off x="6105525" y="3547114"/>
            <a:ext cx="4718971"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The takeaway</a:t>
            </a:r>
            <a:endParaRPr lang="en-US" sz="2650"/>
          </a:p>
        </p:txBody>
      </p:sp>
      <p:sp>
        <p:nvSpPr>
          <p:cNvPr id="21" name="Text 18"/>
          <p:cNvSpPr/>
          <p:nvPr/>
        </p:nvSpPr>
        <p:spPr>
          <a:xfrm>
            <a:off x="6105525" y="4001771"/>
            <a:ext cx="4718971"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Willingness to accept AI should not be treated as evidence of confidence in it</a:t>
            </a:r>
            <a:endParaRPr lang="en-US" sz="1600"/>
          </a:p>
        </p:txBody>
      </p:sp>
      <p:sp>
        <p:nvSpPr>
          <p:cNvPr id="22" name="Text 19"/>
          <p:cNvSpPr/>
          <p:nvPr/>
        </p:nvSpPr>
        <p:spPr>
          <a:xfrm>
            <a:off x="654050" y="4794250"/>
            <a:ext cx="10333990" cy="246380"/>
          </a:xfrm>
          <a:prstGeom prst="rect">
            <a:avLst/>
          </a:prstGeom>
          <a:noFill/>
          <a:ln/>
        </p:spPr>
        <p:txBody>
          <a:bodyPr wrap="square" lIns="0" tIns="0" rIns="0" bIns="0" rtlCol="0" anchor="t">
            <a:normAutofit/>
          </a:bodyPr>
          <a:lstStyle/>
          <a:p>
            <a:pPr marL="0" indent="0" algn="l">
              <a:lnSpc>
                <a:spcPts val="1740"/>
              </a:lnSpc>
              <a:buNone/>
            </a:pPr>
            <a:r>
              <a:rPr lang="en-US" sz="1450">
                <a:solidFill>
                  <a:srgbClr val="000000"/>
                </a:solidFill>
                <a:latin typeface="Albert Sans" pitchFamily="34" charset="0"/>
                <a:ea typeface="Albert Sans" pitchFamily="34" charset="-122"/>
                <a:cs typeface="Albert Sans" pitchFamily="34" charset="-120"/>
              </a:rPr>
              <a:t>Separate country percentages: they cannot show whether the same individuals both accept and distrust AI</a:t>
            </a:r>
            <a:endParaRPr lang="en-US" sz="1450"/>
          </a:p>
        </p:txBody>
      </p:sp>
      <p:sp>
        <p:nvSpPr>
          <p:cNvPr id="23" name="Text 20"/>
          <p:cNvSpPr/>
          <p:nvPr/>
        </p:nvSpPr>
        <p:spPr>
          <a:xfrm>
            <a:off x="6762750" y="6019800"/>
            <a:ext cx="3924300" cy="269240"/>
          </a:xfrm>
          <a:prstGeom prst="rect">
            <a:avLst/>
          </a:prstGeom>
          <a:noFill/>
          <a:ln/>
        </p:spPr>
        <p:txBody>
          <a:bodyPr wrap="square" lIns="0" tIns="0" rIns="0" bIns="0" rtlCol="0" anchor="t">
            <a:normAutofit/>
          </a:bodyPr>
          <a:lstStyle/>
          <a:p>
            <a:pPr algn="r">
              <a:lnSpc>
                <a:spcPts val="1920"/>
              </a:lnSpc>
            </a:pPr>
            <a:r>
              <a:rPr lang="en-US" sz="1600" b="1">
                <a:solidFill>
                  <a:srgbClr val="000000"/>
                </a:solidFill>
                <a:latin typeface="Anybody"/>
                <a:ea typeface="Anybody"/>
                <a:cs typeface="Anybody" pitchFamily="34" charset="-120"/>
              </a:rPr>
              <a:t>[Felda </a:t>
            </a:r>
            <a:r>
              <a:rPr lang="en-US" sz="1600" b="1" err="1">
                <a:solidFill>
                  <a:srgbClr val="000000"/>
                </a:solidFill>
                <a:latin typeface="Anybody"/>
                <a:ea typeface="Anybody"/>
              </a:rPr>
              <a:t>Everyl</a:t>
            </a:r>
            <a:r>
              <a:rPr lang="en-US" sz="1600" b="1">
                <a:solidFill>
                  <a:srgbClr val="000000"/>
                </a:solidFill>
                <a:latin typeface="Anybody"/>
                <a:ea typeface="Anybody"/>
                <a:cs typeface="Anybody" pitchFamily="34" charset="-120"/>
              </a:rPr>
              <a:t>]</a:t>
            </a:r>
            <a:endParaRPr lang="en-US" sz="1600">
              <a:latin typeface="Anybod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Factors linked to trust</a:t>
            </a:r>
            <a:endParaRPr lang="en-US" sz="4000"/>
          </a:p>
        </p:txBody>
      </p:sp>
      <p:sp>
        <p:nvSpPr>
          <p:cNvPr id="5" name="Text 2"/>
          <p:cNvSpPr/>
          <p:nvPr/>
        </p:nvSpPr>
        <p:spPr>
          <a:xfrm>
            <a:off x="654050" y="1691642"/>
            <a:ext cx="7541197" cy="35306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Pearson correlation with trust</a:t>
            </a:r>
            <a:endParaRPr lang="en-US" sz="2150"/>
          </a:p>
        </p:txBody>
      </p:sp>
      <p:sp>
        <p:nvSpPr>
          <p:cNvPr id="6" name="Text 3"/>
          <p:cNvSpPr/>
          <p:nvPr/>
        </p:nvSpPr>
        <p:spPr>
          <a:xfrm>
            <a:off x="654050" y="2108200"/>
            <a:ext cx="3080576" cy="317976"/>
          </a:xfrm>
          <a:prstGeom prst="rect">
            <a:avLst/>
          </a:prstGeom>
          <a:noFill/>
          <a:ln/>
        </p:spPr>
        <p:txBody>
          <a:bodyPr wrap="none" lIns="0" tIns="0" rIns="0" bIns="0" rtlCol="0" anchor="t">
            <a:normAutofit/>
          </a:bodyPr>
          <a:lstStyle/>
          <a:p>
            <a:pPr marL="0" indent="0" algn="l">
              <a:lnSpc>
                <a:spcPts val="2304"/>
              </a:lnSpc>
              <a:buNone/>
            </a:pPr>
            <a:r>
              <a:rPr lang="en-US" sz="1600">
                <a:solidFill>
                  <a:srgbClr val="000000"/>
                </a:solidFill>
                <a:latin typeface="Albert Sans" pitchFamily="34" charset="0"/>
                <a:ea typeface="Albert Sans" pitchFamily="34" charset="-122"/>
                <a:cs typeface="Albert Sans" pitchFamily="34" charset="-120"/>
              </a:rPr>
              <a:t>AI increased efficiency</a:t>
            </a:r>
            <a:endParaRPr lang="en-US" sz="1600"/>
          </a:p>
        </p:txBody>
      </p:sp>
      <p:sp>
        <p:nvSpPr>
          <p:cNvPr id="7" name="Text 4"/>
          <p:cNvSpPr/>
          <p:nvPr/>
        </p:nvSpPr>
        <p:spPr>
          <a:xfrm>
            <a:off x="654050" y="2400777"/>
            <a:ext cx="3080576" cy="317976"/>
          </a:xfrm>
          <a:prstGeom prst="rect">
            <a:avLst/>
          </a:prstGeom>
          <a:noFill/>
          <a:ln/>
        </p:spPr>
        <p:txBody>
          <a:bodyPr wrap="none" lIns="0" tIns="0" rIns="0" bIns="0" rtlCol="0" anchor="t">
            <a:normAutofit/>
          </a:bodyPr>
          <a:lstStyle/>
          <a:p>
            <a:pPr marL="0" indent="0" algn="l">
              <a:lnSpc>
                <a:spcPts val="2304"/>
              </a:lnSpc>
              <a:buNone/>
            </a:pPr>
            <a:r>
              <a:rPr lang="en-US" sz="1600">
                <a:solidFill>
                  <a:srgbClr val="000000"/>
                </a:solidFill>
                <a:latin typeface="Albert Sans" pitchFamily="34" charset="0"/>
                <a:ea typeface="Albert Sans" pitchFamily="34" charset="-122"/>
                <a:cs typeface="Albert Sans" pitchFamily="34" charset="-120"/>
              </a:rPr>
              <a:t>Safeguards are sufficient</a:t>
            </a:r>
            <a:endParaRPr lang="en-US" sz="1600"/>
          </a:p>
        </p:txBody>
      </p:sp>
      <p:sp>
        <p:nvSpPr>
          <p:cNvPr id="8" name="Text 5"/>
          <p:cNvSpPr/>
          <p:nvPr/>
        </p:nvSpPr>
        <p:spPr>
          <a:xfrm>
            <a:off x="654050" y="2693355"/>
            <a:ext cx="3080576" cy="317976"/>
          </a:xfrm>
          <a:prstGeom prst="rect">
            <a:avLst/>
          </a:prstGeom>
          <a:noFill/>
          <a:ln/>
        </p:spPr>
        <p:txBody>
          <a:bodyPr wrap="none" lIns="0" tIns="0" rIns="0" bIns="0" rtlCol="0" anchor="t">
            <a:normAutofit/>
          </a:bodyPr>
          <a:lstStyle/>
          <a:p>
            <a:pPr marL="0" indent="0" algn="l">
              <a:lnSpc>
                <a:spcPts val="2304"/>
              </a:lnSpc>
              <a:buNone/>
            </a:pPr>
            <a:r>
              <a:rPr lang="en-US" sz="1600">
                <a:solidFill>
                  <a:srgbClr val="000000"/>
                </a:solidFill>
                <a:latin typeface="Albert Sans" pitchFamily="34" charset="0"/>
                <a:ea typeface="Albert Sans" pitchFamily="34" charset="-122"/>
                <a:cs typeface="Albert Sans" pitchFamily="34" charset="-120"/>
              </a:rPr>
              <a:t>AI increased revenue</a:t>
            </a:r>
            <a:endParaRPr lang="en-US" sz="1600"/>
          </a:p>
        </p:txBody>
      </p:sp>
      <p:sp>
        <p:nvSpPr>
          <p:cNvPr id="9" name="Text 6"/>
          <p:cNvSpPr/>
          <p:nvPr/>
        </p:nvSpPr>
        <p:spPr>
          <a:xfrm>
            <a:off x="654050" y="2985932"/>
            <a:ext cx="3080576" cy="317976"/>
          </a:xfrm>
          <a:prstGeom prst="rect">
            <a:avLst/>
          </a:prstGeom>
          <a:noFill/>
          <a:ln/>
        </p:spPr>
        <p:txBody>
          <a:bodyPr wrap="none" lIns="0" tIns="0" rIns="0" bIns="0" rtlCol="0" anchor="t">
            <a:normAutofit/>
          </a:bodyPr>
          <a:lstStyle/>
          <a:p>
            <a:pPr marL="0" indent="0" algn="l">
              <a:lnSpc>
                <a:spcPts val="2304"/>
              </a:lnSpc>
              <a:buNone/>
            </a:pPr>
            <a:r>
              <a:rPr lang="en-US" sz="1600">
                <a:solidFill>
                  <a:srgbClr val="000000"/>
                </a:solidFill>
                <a:latin typeface="Albert Sans" pitchFamily="34" charset="0"/>
                <a:ea typeface="Albert Sans" pitchFamily="34" charset="-122"/>
                <a:cs typeface="Albert Sans" pitchFamily="34" charset="-120"/>
              </a:rPr>
              <a:t>Organization provides training</a:t>
            </a:r>
            <a:endParaRPr lang="en-US" sz="1600"/>
          </a:p>
        </p:txBody>
      </p:sp>
      <p:sp>
        <p:nvSpPr>
          <p:cNvPr id="10" name="Text 7"/>
          <p:cNvSpPr/>
          <p:nvPr/>
        </p:nvSpPr>
        <p:spPr>
          <a:xfrm>
            <a:off x="654050" y="3278504"/>
            <a:ext cx="3080576" cy="317976"/>
          </a:xfrm>
          <a:prstGeom prst="rect">
            <a:avLst/>
          </a:prstGeom>
          <a:noFill/>
          <a:ln/>
        </p:spPr>
        <p:txBody>
          <a:bodyPr wrap="none" lIns="0" tIns="0" rIns="0" bIns="0" rtlCol="0" anchor="t">
            <a:normAutofit/>
          </a:bodyPr>
          <a:lstStyle/>
          <a:p>
            <a:pPr marL="0" indent="0" algn="l">
              <a:lnSpc>
                <a:spcPts val="2304"/>
              </a:lnSpc>
              <a:buNone/>
            </a:pPr>
            <a:r>
              <a:rPr lang="en-US" sz="1600">
                <a:solidFill>
                  <a:srgbClr val="000000"/>
                </a:solidFill>
                <a:latin typeface="Albert Sans" pitchFamily="34" charset="0"/>
                <a:ea typeface="Albert Sans" pitchFamily="34" charset="-122"/>
                <a:cs typeface="Albert Sans" pitchFamily="34" charset="-120"/>
              </a:rPr>
              <a:t>Regular workplace AI use</a:t>
            </a:r>
            <a:endParaRPr lang="en-US" sz="1600"/>
          </a:p>
        </p:txBody>
      </p:sp>
      <p:sp>
        <p:nvSpPr>
          <p:cNvPr id="11" name="Text 8"/>
          <p:cNvSpPr/>
          <p:nvPr/>
        </p:nvSpPr>
        <p:spPr>
          <a:xfrm>
            <a:off x="654050" y="3571081"/>
            <a:ext cx="3080576" cy="317976"/>
          </a:xfrm>
          <a:prstGeom prst="rect">
            <a:avLst/>
          </a:prstGeom>
          <a:noFill/>
          <a:ln/>
        </p:spPr>
        <p:txBody>
          <a:bodyPr wrap="none" lIns="0" tIns="0" rIns="0" bIns="0" rtlCol="0" anchor="t">
            <a:normAutofit/>
          </a:bodyPr>
          <a:lstStyle/>
          <a:p>
            <a:pPr marL="0" indent="0" algn="l">
              <a:lnSpc>
                <a:spcPts val="2304"/>
              </a:lnSpc>
              <a:buNone/>
            </a:pPr>
            <a:r>
              <a:rPr lang="en-US" sz="1600">
                <a:solidFill>
                  <a:srgbClr val="000000"/>
                </a:solidFill>
                <a:latin typeface="Albert Sans" pitchFamily="34" charset="0"/>
                <a:ea typeface="Albert Sans" pitchFamily="34" charset="-122"/>
                <a:cs typeface="Albert Sans" pitchFamily="34" charset="-120"/>
              </a:rPr>
              <a:t>AI literacy and skills</a:t>
            </a:r>
            <a:endParaRPr lang="en-US" sz="1600"/>
          </a:p>
        </p:txBody>
      </p:sp>
      <p:sp>
        <p:nvSpPr>
          <p:cNvPr id="12" name="Text 9"/>
          <p:cNvSpPr/>
          <p:nvPr/>
        </p:nvSpPr>
        <p:spPr>
          <a:xfrm>
            <a:off x="654050" y="3863659"/>
            <a:ext cx="3080576" cy="317976"/>
          </a:xfrm>
          <a:prstGeom prst="rect">
            <a:avLst/>
          </a:prstGeom>
          <a:noFill/>
          <a:ln/>
        </p:spPr>
        <p:txBody>
          <a:bodyPr wrap="none" lIns="0" tIns="0" rIns="0" bIns="0" rtlCol="0" anchor="t">
            <a:normAutofit/>
          </a:bodyPr>
          <a:lstStyle/>
          <a:p>
            <a:pPr marL="0" indent="0" algn="l">
              <a:lnSpc>
                <a:spcPts val="2304"/>
              </a:lnSpc>
              <a:buNone/>
            </a:pPr>
            <a:r>
              <a:rPr lang="en-US" sz="1600">
                <a:solidFill>
                  <a:srgbClr val="000000"/>
                </a:solidFill>
                <a:latin typeface="Albert Sans" pitchFamily="34" charset="0"/>
                <a:ea typeface="Albert Sans" pitchFamily="34" charset="-122"/>
                <a:cs typeface="Albert Sans" pitchFamily="34" charset="-120"/>
              </a:rPr>
              <a:t>AI training</a:t>
            </a:r>
            <a:endParaRPr lang="en-US" sz="1600"/>
          </a:p>
        </p:txBody>
      </p:sp>
      <p:sp>
        <p:nvSpPr>
          <p:cNvPr id="13" name="Text 10"/>
          <p:cNvSpPr/>
          <p:nvPr/>
        </p:nvSpPr>
        <p:spPr>
          <a:xfrm>
            <a:off x="654050" y="4156236"/>
            <a:ext cx="3080576" cy="317976"/>
          </a:xfrm>
          <a:prstGeom prst="rect">
            <a:avLst/>
          </a:prstGeom>
          <a:noFill/>
          <a:ln/>
        </p:spPr>
        <p:txBody>
          <a:bodyPr wrap="none" lIns="0" tIns="0" rIns="0" bIns="0" rtlCol="0" anchor="t">
            <a:normAutofit/>
          </a:bodyPr>
          <a:lstStyle/>
          <a:p>
            <a:pPr marL="0" indent="0" algn="l">
              <a:lnSpc>
                <a:spcPts val="2304"/>
              </a:lnSpc>
              <a:buNone/>
            </a:pPr>
            <a:r>
              <a:rPr lang="en-US" sz="1600">
                <a:solidFill>
                  <a:srgbClr val="000000"/>
                </a:solidFill>
                <a:latin typeface="Albert Sans" pitchFamily="34" charset="0"/>
                <a:ea typeface="Albert Sans" pitchFamily="34" charset="-122"/>
                <a:cs typeface="Albert Sans" pitchFamily="34" charset="-120"/>
              </a:rPr>
              <a:t>Risks outweigh benefits</a:t>
            </a:r>
            <a:endParaRPr lang="en-US" sz="1600"/>
          </a:p>
        </p:txBody>
      </p:sp>
      <p:sp>
        <p:nvSpPr>
          <p:cNvPr id="14" name="Text 11"/>
          <p:cNvSpPr/>
          <p:nvPr/>
        </p:nvSpPr>
        <p:spPr>
          <a:xfrm>
            <a:off x="654050" y="4448814"/>
            <a:ext cx="3080576" cy="317976"/>
          </a:xfrm>
          <a:prstGeom prst="rect">
            <a:avLst/>
          </a:prstGeom>
          <a:noFill/>
          <a:ln/>
        </p:spPr>
        <p:txBody>
          <a:bodyPr wrap="none" lIns="0" tIns="0" rIns="0" bIns="0" rtlCol="0" anchor="t">
            <a:normAutofit/>
          </a:bodyPr>
          <a:lstStyle/>
          <a:p>
            <a:pPr marL="0" indent="0" algn="l">
              <a:lnSpc>
                <a:spcPts val="2304"/>
              </a:lnSpc>
              <a:buNone/>
            </a:pPr>
            <a:r>
              <a:rPr lang="en-US" sz="1600">
                <a:solidFill>
                  <a:srgbClr val="000000"/>
                </a:solidFill>
                <a:latin typeface="Albert Sans" pitchFamily="34" charset="0"/>
                <a:ea typeface="Albert Sans" pitchFamily="34" charset="-122"/>
                <a:cs typeface="Albert Sans" pitchFamily="34" charset="-120"/>
              </a:rPr>
              <a:t>Regulation is required</a:t>
            </a:r>
            <a:endParaRPr lang="en-US" sz="1600"/>
          </a:p>
        </p:txBody>
      </p:sp>
      <p:sp>
        <p:nvSpPr>
          <p:cNvPr id="15" name="Shape 12"/>
          <p:cNvSpPr/>
          <p:nvPr/>
        </p:nvSpPr>
        <p:spPr>
          <a:xfrm>
            <a:off x="5422900" y="2108200"/>
            <a:ext cx="12700" cy="2628900"/>
          </a:xfrm>
          <a:prstGeom prst="rect">
            <a:avLst/>
          </a:prstGeom>
          <a:solidFill>
            <a:srgbClr val="000000"/>
          </a:solidFill>
          <a:ln/>
        </p:spPr>
        <p:txBody>
          <a:bodyPr/>
          <a:lstStyle/>
          <a:p>
            <a:endParaRPr lang="en-SG"/>
          </a:p>
        </p:txBody>
      </p:sp>
      <p:sp>
        <p:nvSpPr>
          <p:cNvPr id="16" name="Shape 13"/>
          <p:cNvSpPr/>
          <p:nvPr/>
        </p:nvSpPr>
        <p:spPr>
          <a:xfrm>
            <a:off x="5435600" y="2133600"/>
            <a:ext cx="1593850" cy="234950"/>
          </a:xfrm>
          <a:prstGeom prst="rect">
            <a:avLst/>
          </a:prstGeom>
          <a:solidFill>
            <a:srgbClr val="207368"/>
          </a:solidFill>
          <a:ln/>
        </p:spPr>
        <p:txBody>
          <a:bodyPr/>
          <a:lstStyle/>
          <a:p>
            <a:endParaRPr lang="en-SG"/>
          </a:p>
        </p:txBody>
      </p:sp>
      <p:sp>
        <p:nvSpPr>
          <p:cNvPr id="17" name="Shape 14"/>
          <p:cNvSpPr/>
          <p:nvPr/>
        </p:nvSpPr>
        <p:spPr>
          <a:xfrm>
            <a:off x="5435600" y="2425700"/>
            <a:ext cx="1587500" cy="234950"/>
          </a:xfrm>
          <a:prstGeom prst="rect">
            <a:avLst/>
          </a:prstGeom>
          <a:solidFill>
            <a:srgbClr val="207368"/>
          </a:solidFill>
          <a:ln/>
        </p:spPr>
        <p:txBody>
          <a:bodyPr/>
          <a:lstStyle/>
          <a:p>
            <a:endParaRPr lang="en-SG"/>
          </a:p>
        </p:txBody>
      </p:sp>
      <p:sp>
        <p:nvSpPr>
          <p:cNvPr id="18" name="Shape 15"/>
          <p:cNvSpPr/>
          <p:nvPr/>
        </p:nvSpPr>
        <p:spPr>
          <a:xfrm>
            <a:off x="5435600" y="2717800"/>
            <a:ext cx="1574800" cy="234950"/>
          </a:xfrm>
          <a:prstGeom prst="rect">
            <a:avLst/>
          </a:prstGeom>
          <a:solidFill>
            <a:srgbClr val="207368"/>
          </a:solidFill>
          <a:ln/>
        </p:spPr>
        <p:txBody>
          <a:bodyPr/>
          <a:lstStyle/>
          <a:p>
            <a:endParaRPr lang="en-SG"/>
          </a:p>
        </p:txBody>
      </p:sp>
      <p:sp>
        <p:nvSpPr>
          <p:cNvPr id="19" name="Shape 16"/>
          <p:cNvSpPr/>
          <p:nvPr/>
        </p:nvSpPr>
        <p:spPr>
          <a:xfrm>
            <a:off x="5435600" y="3009900"/>
            <a:ext cx="1530350" cy="234950"/>
          </a:xfrm>
          <a:prstGeom prst="rect">
            <a:avLst/>
          </a:prstGeom>
          <a:solidFill>
            <a:srgbClr val="207368"/>
          </a:solidFill>
          <a:ln/>
        </p:spPr>
        <p:txBody>
          <a:bodyPr/>
          <a:lstStyle/>
          <a:p>
            <a:endParaRPr lang="en-SG"/>
          </a:p>
        </p:txBody>
      </p:sp>
      <p:sp>
        <p:nvSpPr>
          <p:cNvPr id="20" name="Shape 17"/>
          <p:cNvSpPr/>
          <p:nvPr/>
        </p:nvSpPr>
        <p:spPr>
          <a:xfrm>
            <a:off x="5435600" y="3302000"/>
            <a:ext cx="1517650" cy="234950"/>
          </a:xfrm>
          <a:prstGeom prst="rect">
            <a:avLst/>
          </a:prstGeom>
          <a:solidFill>
            <a:srgbClr val="207368"/>
          </a:solidFill>
          <a:ln/>
        </p:spPr>
        <p:txBody>
          <a:bodyPr/>
          <a:lstStyle/>
          <a:p>
            <a:endParaRPr lang="en-SG"/>
          </a:p>
        </p:txBody>
      </p:sp>
      <p:sp>
        <p:nvSpPr>
          <p:cNvPr id="21" name="Shape 18"/>
          <p:cNvSpPr/>
          <p:nvPr/>
        </p:nvSpPr>
        <p:spPr>
          <a:xfrm>
            <a:off x="5435600" y="3594100"/>
            <a:ext cx="1504950" cy="234950"/>
          </a:xfrm>
          <a:prstGeom prst="rect">
            <a:avLst/>
          </a:prstGeom>
          <a:solidFill>
            <a:srgbClr val="207368"/>
          </a:solidFill>
          <a:ln/>
        </p:spPr>
        <p:txBody>
          <a:bodyPr/>
          <a:lstStyle/>
          <a:p>
            <a:endParaRPr lang="en-SG"/>
          </a:p>
        </p:txBody>
      </p:sp>
      <p:sp>
        <p:nvSpPr>
          <p:cNvPr id="22" name="Shape 19"/>
          <p:cNvSpPr/>
          <p:nvPr/>
        </p:nvSpPr>
        <p:spPr>
          <a:xfrm>
            <a:off x="5435600" y="3886200"/>
            <a:ext cx="1479550" cy="234950"/>
          </a:xfrm>
          <a:prstGeom prst="rect">
            <a:avLst/>
          </a:prstGeom>
          <a:solidFill>
            <a:srgbClr val="207368"/>
          </a:solidFill>
          <a:ln/>
        </p:spPr>
        <p:txBody>
          <a:bodyPr/>
          <a:lstStyle/>
          <a:p>
            <a:endParaRPr lang="en-SG"/>
          </a:p>
        </p:txBody>
      </p:sp>
      <p:sp>
        <p:nvSpPr>
          <p:cNvPr id="23" name="Shape 20"/>
          <p:cNvSpPr/>
          <p:nvPr/>
        </p:nvSpPr>
        <p:spPr>
          <a:xfrm>
            <a:off x="4038600" y="4178300"/>
            <a:ext cx="1384300" cy="234950"/>
          </a:xfrm>
          <a:prstGeom prst="rect">
            <a:avLst/>
          </a:prstGeom>
          <a:solidFill>
            <a:srgbClr val="B185B4"/>
          </a:solidFill>
          <a:ln/>
        </p:spPr>
        <p:txBody>
          <a:bodyPr/>
          <a:lstStyle/>
          <a:p>
            <a:endParaRPr lang="en-SG"/>
          </a:p>
        </p:txBody>
      </p:sp>
      <p:sp>
        <p:nvSpPr>
          <p:cNvPr id="24" name="Shape 21"/>
          <p:cNvSpPr/>
          <p:nvPr/>
        </p:nvSpPr>
        <p:spPr>
          <a:xfrm>
            <a:off x="4419600" y="4470400"/>
            <a:ext cx="1003300" cy="234950"/>
          </a:xfrm>
          <a:prstGeom prst="rect">
            <a:avLst/>
          </a:prstGeom>
          <a:solidFill>
            <a:srgbClr val="B185B4"/>
          </a:solidFill>
          <a:ln/>
        </p:spPr>
        <p:txBody>
          <a:bodyPr/>
          <a:lstStyle/>
          <a:p>
            <a:endParaRPr lang="en-SG"/>
          </a:p>
        </p:txBody>
      </p:sp>
      <p:sp>
        <p:nvSpPr>
          <p:cNvPr id="25" name="Text 22"/>
          <p:cNvSpPr/>
          <p:nvPr/>
        </p:nvSpPr>
        <p:spPr>
          <a:xfrm>
            <a:off x="3644900" y="4762500"/>
            <a:ext cx="812800" cy="246380"/>
          </a:xfrm>
          <a:prstGeom prst="rect">
            <a:avLst/>
          </a:prstGeom>
          <a:noFill/>
          <a:ln/>
        </p:spPr>
        <p:txBody>
          <a:bodyPr wrap="square" lIns="0" tIns="0" rIns="0" bIns="0" rtlCol="0" anchor="t">
            <a:normAutofit/>
          </a:bodyPr>
          <a:lstStyle/>
          <a:p>
            <a:pPr marL="0" indent="0" algn="l">
              <a:lnSpc>
                <a:spcPts val="1740"/>
              </a:lnSpc>
              <a:buNone/>
            </a:pPr>
            <a:r>
              <a:rPr lang="en-US" sz="1450">
                <a:solidFill>
                  <a:srgbClr val="000000"/>
                </a:solidFill>
                <a:latin typeface="Albert Sans" pitchFamily="34" charset="0"/>
                <a:ea typeface="Albert Sans" pitchFamily="34" charset="-122"/>
                <a:cs typeface="Albert Sans" pitchFamily="34" charset="-120"/>
              </a:rPr>
              <a:t>−1.0</a:t>
            </a:r>
            <a:endParaRPr lang="en-US" sz="1450"/>
          </a:p>
        </p:txBody>
      </p:sp>
      <p:sp>
        <p:nvSpPr>
          <p:cNvPr id="26" name="Text 23"/>
          <p:cNvSpPr/>
          <p:nvPr/>
        </p:nvSpPr>
        <p:spPr>
          <a:xfrm>
            <a:off x="5022850" y="4762500"/>
            <a:ext cx="812800" cy="246380"/>
          </a:xfrm>
          <a:prstGeom prst="rect">
            <a:avLst/>
          </a:prstGeom>
          <a:noFill/>
          <a:ln/>
        </p:spPr>
        <p:txBody>
          <a:bodyPr wrap="square" lIns="0" tIns="0" rIns="0" bIns="0" rtlCol="0" anchor="t">
            <a:normAutofit/>
          </a:bodyPr>
          <a:lstStyle/>
          <a:p>
            <a:pPr marL="0" indent="0" algn="ctr">
              <a:lnSpc>
                <a:spcPts val="1740"/>
              </a:lnSpc>
              <a:buNone/>
            </a:pPr>
            <a:r>
              <a:rPr lang="en-US" sz="1450">
                <a:solidFill>
                  <a:srgbClr val="000000"/>
                </a:solidFill>
                <a:latin typeface="Albert Sans" pitchFamily="34" charset="0"/>
                <a:ea typeface="Albert Sans" pitchFamily="34" charset="-122"/>
                <a:cs typeface="Albert Sans" pitchFamily="34" charset="-120"/>
              </a:rPr>
              <a:t>0</a:t>
            </a:r>
            <a:endParaRPr lang="en-US" sz="1450"/>
          </a:p>
        </p:txBody>
      </p:sp>
      <p:sp>
        <p:nvSpPr>
          <p:cNvPr id="27" name="Text 24"/>
          <p:cNvSpPr/>
          <p:nvPr/>
        </p:nvSpPr>
        <p:spPr>
          <a:xfrm>
            <a:off x="6400800" y="4762500"/>
            <a:ext cx="812800" cy="246380"/>
          </a:xfrm>
          <a:prstGeom prst="rect">
            <a:avLst/>
          </a:prstGeom>
          <a:noFill/>
          <a:ln/>
        </p:spPr>
        <p:txBody>
          <a:bodyPr wrap="square" lIns="0" tIns="0" rIns="0" bIns="0" rtlCol="0" anchor="t">
            <a:normAutofit/>
          </a:bodyPr>
          <a:lstStyle/>
          <a:p>
            <a:pPr marL="0" indent="0" algn="r">
              <a:lnSpc>
                <a:spcPts val="1740"/>
              </a:lnSpc>
              <a:buNone/>
            </a:pPr>
            <a:r>
              <a:rPr lang="en-US" sz="1450">
                <a:solidFill>
                  <a:srgbClr val="000000"/>
                </a:solidFill>
                <a:latin typeface="Albert Sans" pitchFamily="34" charset="0"/>
                <a:ea typeface="Albert Sans" pitchFamily="34" charset="-122"/>
                <a:cs typeface="Albert Sans" pitchFamily="34" charset="-120"/>
              </a:rPr>
              <a:t>+1.0</a:t>
            </a:r>
            <a:endParaRPr lang="en-US" sz="1450"/>
          </a:p>
        </p:txBody>
      </p:sp>
      <p:sp>
        <p:nvSpPr>
          <p:cNvPr id="28" name="Text 25"/>
          <p:cNvSpPr/>
          <p:nvPr/>
        </p:nvSpPr>
        <p:spPr>
          <a:xfrm>
            <a:off x="7162800" y="2108200"/>
            <a:ext cx="812800" cy="317976"/>
          </a:xfrm>
          <a:prstGeom prst="rect">
            <a:avLst/>
          </a:prstGeom>
          <a:noFill/>
          <a:ln/>
        </p:spPr>
        <p:txBody>
          <a:bodyPr wrap="none" lIns="0" tIns="0" rIns="0" bIns="0" rtlCol="0" anchor="t">
            <a:normAutofit/>
          </a:bodyPr>
          <a:lstStyle/>
          <a:p>
            <a:pPr marL="0" indent="0" algn="r">
              <a:lnSpc>
                <a:spcPts val="2304"/>
              </a:lnSpc>
              <a:buNone/>
            </a:pPr>
            <a:r>
              <a:rPr lang="en-US" sz="1600" b="1">
                <a:solidFill>
                  <a:srgbClr val="000000"/>
                </a:solidFill>
                <a:latin typeface="Anybody" pitchFamily="34" charset="0"/>
                <a:ea typeface="Anybody" pitchFamily="34" charset="-122"/>
                <a:cs typeface="Anybody" pitchFamily="34" charset="-120"/>
              </a:rPr>
              <a:t>0.896</a:t>
            </a:r>
            <a:endParaRPr lang="en-US" sz="1600"/>
          </a:p>
        </p:txBody>
      </p:sp>
      <p:sp>
        <p:nvSpPr>
          <p:cNvPr id="29" name="Text 26"/>
          <p:cNvSpPr/>
          <p:nvPr/>
        </p:nvSpPr>
        <p:spPr>
          <a:xfrm>
            <a:off x="7162800" y="2400777"/>
            <a:ext cx="812800" cy="317976"/>
          </a:xfrm>
          <a:prstGeom prst="rect">
            <a:avLst/>
          </a:prstGeom>
          <a:noFill/>
          <a:ln/>
        </p:spPr>
        <p:txBody>
          <a:bodyPr wrap="none" lIns="0" tIns="0" rIns="0" bIns="0" rtlCol="0" anchor="t">
            <a:normAutofit/>
          </a:bodyPr>
          <a:lstStyle/>
          <a:p>
            <a:pPr marL="0" indent="0" algn="r">
              <a:lnSpc>
                <a:spcPts val="2304"/>
              </a:lnSpc>
              <a:buNone/>
            </a:pPr>
            <a:r>
              <a:rPr lang="en-US" sz="1600" b="1">
                <a:solidFill>
                  <a:srgbClr val="000000"/>
                </a:solidFill>
                <a:latin typeface="Anybody" pitchFamily="34" charset="0"/>
                <a:ea typeface="Anybody" pitchFamily="34" charset="-122"/>
                <a:cs typeface="Anybody" pitchFamily="34" charset="-120"/>
              </a:rPr>
              <a:t>0.894</a:t>
            </a:r>
            <a:endParaRPr lang="en-US" sz="1600"/>
          </a:p>
        </p:txBody>
      </p:sp>
      <p:sp>
        <p:nvSpPr>
          <p:cNvPr id="30" name="Text 27"/>
          <p:cNvSpPr/>
          <p:nvPr/>
        </p:nvSpPr>
        <p:spPr>
          <a:xfrm>
            <a:off x="7162800" y="2693355"/>
            <a:ext cx="812800" cy="317976"/>
          </a:xfrm>
          <a:prstGeom prst="rect">
            <a:avLst/>
          </a:prstGeom>
          <a:noFill/>
          <a:ln/>
        </p:spPr>
        <p:txBody>
          <a:bodyPr wrap="none" lIns="0" tIns="0" rIns="0" bIns="0" rtlCol="0" anchor="t">
            <a:normAutofit/>
          </a:bodyPr>
          <a:lstStyle/>
          <a:p>
            <a:pPr marL="0" indent="0" algn="r">
              <a:lnSpc>
                <a:spcPts val="2304"/>
              </a:lnSpc>
              <a:buNone/>
            </a:pPr>
            <a:r>
              <a:rPr lang="en-US" sz="1600" b="1">
                <a:solidFill>
                  <a:srgbClr val="000000"/>
                </a:solidFill>
                <a:latin typeface="Anybody" pitchFamily="34" charset="0"/>
                <a:ea typeface="Anybody" pitchFamily="34" charset="-122"/>
                <a:cs typeface="Anybody" pitchFamily="34" charset="-120"/>
              </a:rPr>
              <a:t>0.887</a:t>
            </a:r>
            <a:endParaRPr lang="en-US" sz="1600"/>
          </a:p>
        </p:txBody>
      </p:sp>
      <p:sp>
        <p:nvSpPr>
          <p:cNvPr id="31" name="Text 28"/>
          <p:cNvSpPr/>
          <p:nvPr/>
        </p:nvSpPr>
        <p:spPr>
          <a:xfrm>
            <a:off x="7162800" y="2985932"/>
            <a:ext cx="812800" cy="317976"/>
          </a:xfrm>
          <a:prstGeom prst="rect">
            <a:avLst/>
          </a:prstGeom>
          <a:noFill/>
          <a:ln/>
        </p:spPr>
        <p:txBody>
          <a:bodyPr wrap="none" lIns="0" tIns="0" rIns="0" bIns="0" rtlCol="0" anchor="t">
            <a:normAutofit/>
          </a:bodyPr>
          <a:lstStyle/>
          <a:p>
            <a:pPr marL="0" indent="0" algn="r">
              <a:lnSpc>
                <a:spcPts val="2304"/>
              </a:lnSpc>
              <a:buNone/>
            </a:pPr>
            <a:r>
              <a:rPr lang="en-US" sz="1600" b="1">
                <a:solidFill>
                  <a:srgbClr val="000000"/>
                </a:solidFill>
                <a:latin typeface="Anybody" pitchFamily="34" charset="0"/>
                <a:ea typeface="Anybody" pitchFamily="34" charset="-122"/>
                <a:cs typeface="Anybody" pitchFamily="34" charset="-120"/>
              </a:rPr>
              <a:t>0.861</a:t>
            </a:r>
            <a:endParaRPr lang="en-US" sz="1600"/>
          </a:p>
        </p:txBody>
      </p:sp>
      <p:sp>
        <p:nvSpPr>
          <p:cNvPr id="32" name="Text 29"/>
          <p:cNvSpPr/>
          <p:nvPr/>
        </p:nvSpPr>
        <p:spPr>
          <a:xfrm>
            <a:off x="7162800" y="3278504"/>
            <a:ext cx="812800" cy="317976"/>
          </a:xfrm>
          <a:prstGeom prst="rect">
            <a:avLst/>
          </a:prstGeom>
          <a:noFill/>
          <a:ln/>
        </p:spPr>
        <p:txBody>
          <a:bodyPr wrap="none" lIns="0" tIns="0" rIns="0" bIns="0" rtlCol="0" anchor="t">
            <a:normAutofit/>
          </a:bodyPr>
          <a:lstStyle/>
          <a:p>
            <a:pPr marL="0" indent="0" algn="r">
              <a:lnSpc>
                <a:spcPts val="2304"/>
              </a:lnSpc>
              <a:buNone/>
            </a:pPr>
            <a:r>
              <a:rPr lang="en-US" sz="1600" b="1">
                <a:solidFill>
                  <a:srgbClr val="000000"/>
                </a:solidFill>
                <a:latin typeface="Anybody" pitchFamily="34" charset="0"/>
                <a:ea typeface="Anybody" pitchFamily="34" charset="-122"/>
                <a:cs typeface="Anybody" pitchFamily="34" charset="-120"/>
              </a:rPr>
              <a:t>0.853</a:t>
            </a:r>
            <a:endParaRPr lang="en-US" sz="1600"/>
          </a:p>
        </p:txBody>
      </p:sp>
      <p:sp>
        <p:nvSpPr>
          <p:cNvPr id="33" name="Text 30"/>
          <p:cNvSpPr/>
          <p:nvPr/>
        </p:nvSpPr>
        <p:spPr>
          <a:xfrm>
            <a:off x="7162800" y="3571081"/>
            <a:ext cx="812800" cy="317976"/>
          </a:xfrm>
          <a:prstGeom prst="rect">
            <a:avLst/>
          </a:prstGeom>
          <a:noFill/>
          <a:ln/>
        </p:spPr>
        <p:txBody>
          <a:bodyPr wrap="none" lIns="0" tIns="0" rIns="0" bIns="0" rtlCol="0" anchor="t">
            <a:normAutofit/>
          </a:bodyPr>
          <a:lstStyle/>
          <a:p>
            <a:pPr marL="0" indent="0" algn="r">
              <a:lnSpc>
                <a:spcPts val="2304"/>
              </a:lnSpc>
              <a:buNone/>
            </a:pPr>
            <a:r>
              <a:rPr lang="en-US" sz="1600" b="1">
                <a:solidFill>
                  <a:srgbClr val="000000"/>
                </a:solidFill>
                <a:latin typeface="Anybody" pitchFamily="34" charset="0"/>
                <a:ea typeface="Anybody" pitchFamily="34" charset="-122"/>
                <a:cs typeface="Anybody" pitchFamily="34" charset="-120"/>
              </a:rPr>
              <a:t>0.847</a:t>
            </a:r>
            <a:endParaRPr lang="en-US" sz="1600"/>
          </a:p>
        </p:txBody>
      </p:sp>
      <p:sp>
        <p:nvSpPr>
          <p:cNvPr id="34" name="Text 31"/>
          <p:cNvSpPr/>
          <p:nvPr/>
        </p:nvSpPr>
        <p:spPr>
          <a:xfrm>
            <a:off x="7162800" y="3863659"/>
            <a:ext cx="812800" cy="317976"/>
          </a:xfrm>
          <a:prstGeom prst="rect">
            <a:avLst/>
          </a:prstGeom>
          <a:noFill/>
          <a:ln/>
        </p:spPr>
        <p:txBody>
          <a:bodyPr wrap="none" lIns="0" tIns="0" rIns="0" bIns="0" rtlCol="0" anchor="t">
            <a:normAutofit/>
          </a:bodyPr>
          <a:lstStyle/>
          <a:p>
            <a:pPr marL="0" indent="0" algn="r">
              <a:lnSpc>
                <a:spcPts val="2304"/>
              </a:lnSpc>
              <a:buNone/>
            </a:pPr>
            <a:r>
              <a:rPr lang="en-US" sz="1600" b="1">
                <a:solidFill>
                  <a:srgbClr val="000000"/>
                </a:solidFill>
                <a:latin typeface="Anybody" pitchFamily="34" charset="0"/>
                <a:ea typeface="Anybody" pitchFamily="34" charset="-122"/>
                <a:cs typeface="Anybody" pitchFamily="34" charset="-120"/>
              </a:rPr>
              <a:t>0.832</a:t>
            </a:r>
            <a:endParaRPr lang="en-US" sz="1600"/>
          </a:p>
        </p:txBody>
      </p:sp>
      <p:sp>
        <p:nvSpPr>
          <p:cNvPr id="35" name="Text 32"/>
          <p:cNvSpPr/>
          <p:nvPr/>
        </p:nvSpPr>
        <p:spPr>
          <a:xfrm>
            <a:off x="7162800" y="4156236"/>
            <a:ext cx="812800" cy="317976"/>
          </a:xfrm>
          <a:prstGeom prst="rect">
            <a:avLst/>
          </a:prstGeom>
          <a:noFill/>
          <a:ln/>
        </p:spPr>
        <p:txBody>
          <a:bodyPr wrap="none" lIns="0" tIns="0" rIns="0" bIns="0" rtlCol="0" anchor="t">
            <a:normAutofit/>
          </a:bodyPr>
          <a:lstStyle/>
          <a:p>
            <a:pPr marL="0" indent="0" algn="r">
              <a:lnSpc>
                <a:spcPts val="2304"/>
              </a:lnSpc>
              <a:buNone/>
            </a:pPr>
            <a:r>
              <a:rPr lang="en-US" sz="1600" b="1">
                <a:solidFill>
                  <a:srgbClr val="000000"/>
                </a:solidFill>
                <a:latin typeface="Anybody" pitchFamily="34" charset="0"/>
                <a:ea typeface="Anybody" pitchFamily="34" charset="-122"/>
                <a:cs typeface="Anybody" pitchFamily="34" charset="-120"/>
              </a:rPr>
              <a:t>−0.780</a:t>
            </a:r>
            <a:endParaRPr lang="en-US" sz="1600"/>
          </a:p>
        </p:txBody>
      </p:sp>
      <p:sp>
        <p:nvSpPr>
          <p:cNvPr id="36" name="Text 33"/>
          <p:cNvSpPr/>
          <p:nvPr/>
        </p:nvSpPr>
        <p:spPr>
          <a:xfrm>
            <a:off x="7162800" y="4448814"/>
            <a:ext cx="812800" cy="317976"/>
          </a:xfrm>
          <a:prstGeom prst="rect">
            <a:avLst/>
          </a:prstGeom>
          <a:noFill/>
          <a:ln/>
        </p:spPr>
        <p:txBody>
          <a:bodyPr wrap="none" lIns="0" tIns="0" rIns="0" bIns="0" rtlCol="0" anchor="t">
            <a:normAutofit/>
          </a:bodyPr>
          <a:lstStyle/>
          <a:p>
            <a:pPr marL="0" indent="0" algn="r">
              <a:lnSpc>
                <a:spcPts val="2304"/>
              </a:lnSpc>
              <a:buNone/>
            </a:pPr>
            <a:r>
              <a:rPr lang="en-US" sz="1600" b="1">
                <a:solidFill>
                  <a:srgbClr val="000000"/>
                </a:solidFill>
                <a:latin typeface="Anybody" pitchFamily="34" charset="0"/>
                <a:ea typeface="Anybody" pitchFamily="34" charset="-122"/>
                <a:cs typeface="Anybody" pitchFamily="34" charset="-120"/>
              </a:rPr>
              <a:t>−0.566</a:t>
            </a:r>
            <a:endParaRPr lang="en-US" sz="1600"/>
          </a:p>
        </p:txBody>
      </p:sp>
      <p:sp>
        <p:nvSpPr>
          <p:cNvPr id="37" name="Text 34"/>
          <p:cNvSpPr/>
          <p:nvPr/>
        </p:nvSpPr>
        <p:spPr>
          <a:xfrm>
            <a:off x="8356600" y="2110742"/>
            <a:ext cx="2524633"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Usefulness</a:t>
            </a:r>
            <a:endParaRPr lang="en-US" sz="2650"/>
          </a:p>
        </p:txBody>
      </p:sp>
      <p:sp>
        <p:nvSpPr>
          <p:cNvPr id="38" name="Text 35"/>
          <p:cNvSpPr/>
          <p:nvPr/>
        </p:nvSpPr>
        <p:spPr>
          <a:xfrm>
            <a:off x="8356600" y="2565400"/>
            <a:ext cx="2524633" cy="75692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Efficiency and revenue gains show the strongest links</a:t>
            </a:r>
            <a:endParaRPr lang="en-US" sz="1600"/>
          </a:p>
        </p:txBody>
      </p:sp>
      <p:sp>
        <p:nvSpPr>
          <p:cNvPr id="39" name="Shape 36"/>
          <p:cNvSpPr/>
          <p:nvPr/>
        </p:nvSpPr>
        <p:spPr>
          <a:xfrm>
            <a:off x="8356600" y="3449321"/>
            <a:ext cx="2451100" cy="12700"/>
          </a:xfrm>
          <a:prstGeom prst="rect">
            <a:avLst/>
          </a:prstGeom>
          <a:solidFill>
            <a:srgbClr val="000000"/>
          </a:solidFill>
          <a:ln/>
        </p:spPr>
        <p:txBody>
          <a:bodyPr/>
          <a:lstStyle/>
          <a:p>
            <a:endParaRPr lang="en-SG"/>
          </a:p>
        </p:txBody>
      </p:sp>
      <p:sp>
        <p:nvSpPr>
          <p:cNvPr id="40" name="Text 37"/>
          <p:cNvSpPr/>
          <p:nvPr/>
        </p:nvSpPr>
        <p:spPr>
          <a:xfrm>
            <a:off x="8356600" y="3614421"/>
            <a:ext cx="2524633"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Protection</a:t>
            </a:r>
            <a:endParaRPr lang="en-US" sz="2650"/>
          </a:p>
        </p:txBody>
      </p:sp>
      <p:sp>
        <p:nvSpPr>
          <p:cNvPr id="41" name="Text 38"/>
          <p:cNvSpPr/>
          <p:nvPr/>
        </p:nvSpPr>
        <p:spPr>
          <a:xfrm>
            <a:off x="8356600" y="4069079"/>
            <a:ext cx="2524633" cy="75692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Belief that safeguards are sufficient is nearly as strong</a:t>
            </a:r>
            <a:endParaRPr lang="en-US" sz="1600"/>
          </a:p>
        </p:txBody>
      </p:sp>
      <p:sp>
        <p:nvSpPr>
          <p:cNvPr id="42" name="Text 39"/>
          <p:cNvSpPr/>
          <p:nvPr/>
        </p:nvSpPr>
        <p:spPr>
          <a:xfrm>
            <a:off x="654050" y="5118100"/>
            <a:ext cx="10333990" cy="467360"/>
          </a:xfrm>
          <a:prstGeom prst="rect">
            <a:avLst/>
          </a:prstGeom>
          <a:noFill/>
          <a:ln/>
        </p:spPr>
        <p:txBody>
          <a:bodyPr wrap="square" lIns="0" tIns="0" rIns="0" bIns="0" rtlCol="0" anchor="t">
            <a:normAutofit/>
          </a:bodyPr>
          <a:lstStyle/>
          <a:p>
            <a:pPr marL="0" indent="0" algn="l">
              <a:lnSpc>
                <a:spcPts val="1740"/>
              </a:lnSpc>
              <a:buNone/>
            </a:pPr>
            <a:r>
              <a:rPr lang="en-US" sz="1450">
                <a:solidFill>
                  <a:srgbClr val="000000"/>
                </a:solidFill>
                <a:latin typeface="Albert Sans" pitchFamily="34" charset="0"/>
                <a:ea typeface="Albert Sans" pitchFamily="34" charset="-122"/>
                <a:cs typeface="Albert Sans" pitchFamily="34" charset="-120"/>
              </a:rPr>
              <a:t>Country-level associations across 47 countries, not causes; GDP per capita has a Spearman rank correlation of −0.514 with trust</a:t>
            </a:r>
            <a:endParaRPr lang="en-US" sz="1450"/>
          </a:p>
        </p:txBody>
      </p:sp>
      <p:sp>
        <p:nvSpPr>
          <p:cNvPr id="43" name="Text 40"/>
          <p:cNvSpPr/>
          <p:nvPr/>
        </p:nvSpPr>
        <p:spPr>
          <a:xfrm>
            <a:off x="6762750" y="6019800"/>
            <a:ext cx="3924300" cy="269240"/>
          </a:xfrm>
          <a:prstGeom prst="rect">
            <a:avLst/>
          </a:prstGeom>
          <a:noFill/>
          <a:ln/>
        </p:spPr>
        <p:txBody>
          <a:bodyPr wrap="square" lIns="0" tIns="0" rIns="0" bIns="0" rtlCol="0" anchor="t">
            <a:normAutofit/>
          </a:bodyPr>
          <a:lstStyle/>
          <a:p>
            <a:pPr algn="r">
              <a:lnSpc>
                <a:spcPts val="1920"/>
              </a:lnSpc>
            </a:pPr>
            <a:r>
              <a:rPr lang="en-US" sz="1600" b="1">
                <a:solidFill>
                  <a:srgbClr val="000000"/>
                </a:solidFill>
                <a:latin typeface="Anybody"/>
                <a:ea typeface="Anybody"/>
              </a:rPr>
              <a:t>[Yutong Guo]</a:t>
            </a:r>
            <a:endParaRPr lang="en-US" sz="1600">
              <a:latin typeface="Anybody"/>
              <a:ea typeface="Anybody"/>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Why we narrowed the inputs</a:t>
            </a:r>
            <a:endParaRPr lang="en-US" sz="4000"/>
          </a:p>
        </p:txBody>
      </p:sp>
      <p:sp>
        <p:nvSpPr>
          <p:cNvPr id="106" name="Card 36"/>
          <p:cNvSpPr/>
          <p:nvPr/>
        </p:nvSpPr>
        <p:spPr>
          <a:xfrm>
            <a:off x="654050" y="1650000"/>
            <a:ext cx="2365375" cy="1580000"/>
          </a:xfrm>
          <a:prstGeom prst="rect">
            <a:avLst/>
          </a:prstGeom>
          <a:solidFill>
            <a:srgbClr val="FFFFFF"/>
          </a:solidFill>
          <a:ln w="12700">
            <a:solidFill>
              <a:srgbClr val="000000"/>
            </a:solidFill>
            <a:prstDash val="solid"/>
          </a:ln>
        </p:spPr>
        <p:txBody>
          <a:bodyPr wrap="square" lIns="228600" tIns="182880" rIns="228600" bIns="137160" rtlCol="0" anchor="t">
            <a:normAutofit/>
          </a:bodyPr>
          <a:lstStyle/>
          <a:p>
            <a:pPr marL="0" indent="0" algn="l">
              <a:spcAft>
                <a:spcPts val="600"/>
              </a:spcAft>
              <a:buNone/>
            </a:pPr>
            <a:r>
              <a:rPr lang="en-US" sz="3200" b="1">
                <a:solidFill>
                  <a:srgbClr val="000000"/>
                </a:solidFill>
                <a:latin typeface="Anybody" pitchFamily="34" charset="0"/>
                <a:ea typeface="Anybody" pitchFamily="34" charset="-122"/>
                <a:cs typeface="Anybody" pitchFamily="34" charset="-120"/>
              </a:rPr>
              <a:t>36</a:t>
            </a:r>
          </a:p>
          <a:p>
            <a:pPr marL="0" indent="0" algn="l">
              <a:lnSpc>
                <a:spcPts val="1680"/>
              </a:lnSpc>
              <a:buNone/>
            </a:pPr>
            <a:r>
              <a:rPr lang="en-US" sz="1400">
                <a:solidFill>
                  <a:srgbClr val="000000"/>
                </a:solidFill>
                <a:latin typeface="Albert Sans" pitchFamily="34" charset="0"/>
                <a:ea typeface="Albert Sans" pitchFamily="34" charset="-122"/>
                <a:cs typeface="Albert Sans" pitchFamily="34" charset="-120"/>
              </a:rPr>
              <a:t>candidate inputs, after removing near-copies of trust</a:t>
            </a:r>
          </a:p>
        </p:txBody>
      </p:sp>
      <p:sp>
        <p:nvSpPr>
          <p:cNvPr id="107" name="Card 0.52"/>
          <p:cNvSpPr/>
          <p:nvPr/>
        </p:nvSpPr>
        <p:spPr>
          <a:xfrm>
            <a:off x="3248025" y="1650000"/>
            <a:ext cx="2365375" cy="1580000"/>
          </a:xfrm>
          <a:prstGeom prst="rect">
            <a:avLst/>
          </a:prstGeom>
          <a:solidFill>
            <a:srgbClr val="FFFFFF"/>
          </a:solidFill>
          <a:ln w="12700">
            <a:solidFill>
              <a:srgbClr val="000000"/>
            </a:solidFill>
            <a:prstDash val="solid"/>
          </a:ln>
        </p:spPr>
        <p:txBody>
          <a:bodyPr wrap="square" lIns="228600" tIns="182880" rIns="228600" bIns="137160" rtlCol="0" anchor="t">
            <a:normAutofit/>
          </a:bodyPr>
          <a:lstStyle/>
          <a:p>
            <a:pPr marL="0" indent="0" algn="l">
              <a:spcAft>
                <a:spcPts val="600"/>
              </a:spcAft>
              <a:buNone/>
            </a:pPr>
            <a:r>
              <a:rPr lang="en-US" sz="3200" b="1">
                <a:solidFill>
                  <a:srgbClr val="000000"/>
                </a:solidFill>
                <a:latin typeface="Anybody" pitchFamily="34" charset="0"/>
                <a:ea typeface="Anybody" pitchFamily="34" charset="-122"/>
                <a:cs typeface="Anybody" pitchFamily="34" charset="-120"/>
              </a:rPr>
              <a:t>0.52</a:t>
            </a:r>
          </a:p>
          <a:p>
            <a:pPr marL="0" indent="0" algn="l">
              <a:lnSpc>
                <a:spcPts val="1680"/>
              </a:lnSpc>
              <a:buNone/>
            </a:pPr>
            <a:r>
              <a:rPr lang="en-US" sz="1400">
                <a:solidFill>
                  <a:srgbClr val="000000"/>
                </a:solidFill>
                <a:latin typeface="Albert Sans" pitchFamily="34" charset="0"/>
                <a:ea typeface="Albert Sans" pitchFamily="34" charset="-122"/>
                <a:cs typeface="Albert Sans" pitchFamily="34" charset="-120"/>
              </a:rPr>
              <a:t>median absolute Spearman correlation between inputs</a:t>
            </a:r>
          </a:p>
        </p:txBody>
      </p:sp>
      <p:sp>
        <p:nvSpPr>
          <p:cNvPr id="108" name="Card 53%"/>
          <p:cNvSpPr/>
          <p:nvPr/>
        </p:nvSpPr>
        <p:spPr>
          <a:xfrm>
            <a:off x="5842000" y="1650000"/>
            <a:ext cx="2365375" cy="1580000"/>
          </a:xfrm>
          <a:prstGeom prst="rect">
            <a:avLst/>
          </a:prstGeom>
          <a:solidFill>
            <a:srgbClr val="FFFFFF"/>
          </a:solidFill>
          <a:ln w="12700">
            <a:solidFill>
              <a:srgbClr val="000000"/>
            </a:solidFill>
            <a:prstDash val="solid"/>
          </a:ln>
        </p:spPr>
        <p:txBody>
          <a:bodyPr wrap="square" lIns="228600" tIns="182880" rIns="228600" bIns="137160" rtlCol="0" anchor="t">
            <a:normAutofit/>
          </a:bodyPr>
          <a:lstStyle/>
          <a:p>
            <a:pPr marL="0" indent="0" algn="l">
              <a:spcAft>
                <a:spcPts val="600"/>
              </a:spcAft>
              <a:buNone/>
            </a:pPr>
            <a:r>
              <a:rPr lang="en-US" sz="3200" b="1">
                <a:solidFill>
                  <a:srgbClr val="000000"/>
                </a:solidFill>
                <a:latin typeface="Anybody" pitchFamily="34" charset="0"/>
                <a:ea typeface="Anybody" pitchFamily="34" charset="-122"/>
                <a:cs typeface="Anybody" pitchFamily="34" charset="-120"/>
              </a:rPr>
              <a:t>53%</a:t>
            </a:r>
          </a:p>
          <a:p>
            <a:pPr marL="0" indent="0" algn="l">
              <a:lnSpc>
                <a:spcPts val="1680"/>
              </a:lnSpc>
              <a:buNone/>
            </a:pPr>
            <a:r>
              <a:rPr lang="en-US" sz="1400">
                <a:solidFill>
                  <a:srgbClr val="000000"/>
                </a:solidFill>
                <a:latin typeface="Albert Sans" pitchFamily="34" charset="0"/>
                <a:ea typeface="Albert Sans" pitchFamily="34" charset="-122"/>
                <a:cs typeface="Albert Sans" pitchFamily="34" charset="-120"/>
              </a:rPr>
              <a:t>of input pairs correlate at 0.5 or more</a:t>
            </a:r>
          </a:p>
        </p:txBody>
      </p:sp>
      <p:sp>
        <p:nvSpPr>
          <p:cNvPr id="109" name="Card 167"/>
          <p:cNvSpPr/>
          <p:nvPr/>
        </p:nvSpPr>
        <p:spPr>
          <a:xfrm>
            <a:off x="8435975" y="1650000"/>
            <a:ext cx="2365375" cy="1580000"/>
          </a:xfrm>
          <a:prstGeom prst="rect">
            <a:avLst/>
          </a:prstGeom>
          <a:solidFill>
            <a:srgbClr val="FFFFFF"/>
          </a:solidFill>
          <a:ln w="12700">
            <a:solidFill>
              <a:srgbClr val="000000"/>
            </a:solidFill>
            <a:prstDash val="solid"/>
          </a:ln>
        </p:spPr>
        <p:txBody>
          <a:bodyPr wrap="square" lIns="228600" tIns="182880" rIns="228600" bIns="137160" rtlCol="0" anchor="t">
            <a:normAutofit/>
          </a:bodyPr>
          <a:lstStyle/>
          <a:p>
            <a:pPr marL="0" indent="0" algn="l">
              <a:spcAft>
                <a:spcPts val="600"/>
              </a:spcAft>
              <a:buNone/>
            </a:pPr>
            <a:r>
              <a:rPr lang="en-US" sz="3200" b="1">
                <a:solidFill>
                  <a:srgbClr val="000000"/>
                </a:solidFill>
                <a:latin typeface="Anybody" pitchFamily="34" charset="0"/>
                <a:ea typeface="Anybody" pitchFamily="34" charset="-122"/>
                <a:cs typeface="Anybody" pitchFamily="34" charset="-120"/>
              </a:rPr>
              <a:t>167</a:t>
            </a:r>
          </a:p>
          <a:p>
            <a:pPr marL="0" indent="0" algn="l">
              <a:lnSpc>
                <a:spcPts val="1680"/>
              </a:lnSpc>
              <a:buNone/>
            </a:pPr>
            <a:r>
              <a:rPr lang="en-US" sz="1400">
                <a:solidFill>
                  <a:srgbClr val="000000"/>
                </a:solidFill>
                <a:latin typeface="Albert Sans" pitchFamily="34" charset="0"/>
                <a:ea typeface="Albert Sans" pitchFamily="34" charset="-122"/>
                <a:cs typeface="Albert Sans" pitchFamily="34" charset="-120"/>
              </a:rPr>
              <a:t>highest VIF among the candidates (above 10 is severe)</a:t>
            </a:r>
          </a:p>
        </p:txBody>
      </p:sp>
      <p:sp>
        <p:nvSpPr>
          <p:cNvPr id="110" name="Narrowing steps"/>
          <p:cNvSpPr/>
          <p:nvPr/>
        </p:nvSpPr>
        <p:spPr>
          <a:xfrm>
            <a:off x="654050" y="3458600"/>
            <a:ext cx="4350000" cy="2200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w="12700">
            <a:solidFill>
              <a:srgbClr val="000000"/>
            </a:solidFill>
            <a:prstDash val="solid"/>
          </a:ln>
        </p:spPr>
        <p:txBody>
          <a:bodyPr wrap="square" lIns="228600" tIns="182880" rIns="228600" bIns="137160" rtlCol="0" anchor="t">
            <a:normAutofit/>
          </a:bodyPr>
          <a:lstStyle/>
          <a:p>
            <a:pPr marL="0" indent="0" algn="l">
              <a:lnSpc>
                <a:spcPts val="1920"/>
              </a:lnSpc>
              <a:spcAft>
                <a:spcPts val="600"/>
              </a:spcAft>
              <a:buNone/>
            </a:pPr>
            <a:r>
              <a:rPr lang="en-US" sz="1600" b="1">
                <a:solidFill>
                  <a:srgbClr val="000000"/>
                </a:solidFill>
                <a:latin typeface="Anybody" pitchFamily="34" charset="0"/>
                <a:ea typeface="Anybody" pitchFamily="34" charset="-122"/>
                <a:cs typeface="Anybody" pitchFamily="34" charset="-120"/>
              </a:rPr>
              <a:t>One component explains about 60% of the variance</a:t>
            </a:r>
          </a:p>
          <a:p>
            <a:pPr marL="0" indent="0" algn="l">
              <a:lnSpc>
                <a:spcPts val="1700"/>
              </a:lnSpc>
              <a:spcAft>
                <a:spcPts val="500"/>
              </a:spcAft>
              <a:buNone/>
            </a:pPr>
            <a:r>
              <a:rPr lang="en-US" sz="1600" b="1">
                <a:solidFill>
                  <a:srgbClr val="000000"/>
                </a:solidFill>
                <a:latin typeface="Anybody" pitchFamily="34" charset="0"/>
                <a:ea typeface="Anybody" pitchFamily="34" charset="-122"/>
                <a:cs typeface="Anybody" pitchFamily="34" charset="-120"/>
              </a:rPr>
              <a:t>15 </a:t>
            </a:r>
            <a:r>
              <a:rPr lang="en-US" sz="1400">
                <a:solidFill>
                  <a:srgbClr val="000000"/>
                </a:solidFill>
                <a:latin typeface="Albert Sans" pitchFamily="34" charset="0"/>
                <a:ea typeface="Albert Sans" pitchFamily="34" charset="-122"/>
                <a:cs typeface="Albert Sans" pitchFamily="34" charset="-120"/>
              </a:rPr>
              <a:t>clusters of similar inputs</a:t>
            </a:r>
          </a:p>
          <a:p>
            <a:pPr marL="0" indent="0" algn="l">
              <a:lnSpc>
                <a:spcPts val="1700"/>
              </a:lnSpc>
              <a:spcAft>
                <a:spcPts val="500"/>
              </a:spcAft>
              <a:buNone/>
            </a:pPr>
            <a:r>
              <a:rPr lang="en-US" sz="1600" b="1">
                <a:solidFill>
                  <a:srgbClr val="000000"/>
                </a:solidFill>
                <a:latin typeface="Anybody" pitchFamily="34" charset="0"/>
                <a:ea typeface="Anybody" pitchFamily="34" charset="-122"/>
                <a:cs typeface="Anybody" pitchFamily="34" charset="-120"/>
              </a:rPr>
              <a:t>4 </a:t>
            </a:r>
            <a:r>
              <a:rPr lang="en-US" sz="1400">
                <a:solidFill>
                  <a:srgbClr val="000000"/>
                </a:solidFill>
                <a:latin typeface="Albert Sans" pitchFamily="34" charset="0"/>
                <a:ea typeface="Albert Sans" pitchFamily="34" charset="-122"/>
                <a:cs typeface="Albert Sans" pitchFamily="34" charset="-120"/>
              </a:rPr>
              <a:t>tests: correlation, mutual information, Lasso, random forest</a:t>
            </a:r>
          </a:p>
          <a:p>
            <a:pPr>
              <a:lnSpc>
                <a:spcPts val="1700"/>
              </a:lnSpc>
            </a:pPr>
            <a:r>
              <a:rPr lang="en-US" sz="1600" b="1">
                <a:solidFill>
                  <a:srgbClr val="000000"/>
                </a:solidFill>
                <a:latin typeface="Anybody"/>
                <a:ea typeface="Anybody"/>
                <a:cs typeface="Albert Sans" pitchFamily="34" charset="-120"/>
              </a:rPr>
              <a:t>4 </a:t>
            </a:r>
            <a:r>
              <a:rPr lang="en-US" sz="1400">
                <a:solidFill>
                  <a:srgbClr val="000000"/>
                </a:solidFill>
                <a:latin typeface="Albert Sans"/>
                <a:ea typeface="Albert Sans"/>
                <a:cs typeface="Albert Sans" pitchFamily="34" charset="-120"/>
              </a:rPr>
              <a:t>inputs pass at least 3 of 4 tests, plus log GDP</a:t>
            </a:r>
          </a:p>
        </p:txBody>
      </p:sp>
      <p:sp>
        <p:nvSpPr>
          <p:cNvPr id="111" name="Cell"/>
          <p:cNvSpPr txBox="1"/>
          <p:nvPr/>
        </p:nvSpPr>
        <p:spPr>
          <a:xfrm>
            <a:off x="5400290" y="3458600"/>
            <a:ext cx="3094210" cy="360000"/>
          </a:xfrm>
          <a:prstGeom prst="rect">
            <a:avLst/>
          </a:prstGeom>
          <a:noFill/>
          <a:ln/>
        </p:spPr>
        <p:txBody>
          <a:bodyPr wrap="square" lIns="0" tIns="0" rIns="0" bIns="0" rtlCol="0" anchor="ctr">
            <a:normAutofit/>
          </a:bodyPr>
          <a:lstStyle/>
          <a:p>
            <a:pPr marL="0" indent="0" algn="l">
              <a:buNone/>
            </a:pPr>
            <a:r>
              <a:rPr lang="en-US" sz="1500" b="1">
                <a:solidFill>
                  <a:srgbClr val="000000"/>
                </a:solidFill>
                <a:latin typeface="Anybody" pitchFamily="34" charset="0"/>
                <a:ea typeface="Anybody" pitchFamily="34" charset="-122"/>
                <a:cs typeface="Anybody" pitchFamily="34" charset="-120"/>
              </a:rPr>
              <a:t>Selected input</a:t>
            </a:r>
          </a:p>
        </p:txBody>
      </p:sp>
      <p:sp>
        <p:nvSpPr>
          <p:cNvPr id="112" name="Cell"/>
          <p:cNvSpPr txBox="1"/>
          <p:nvPr/>
        </p:nvSpPr>
        <p:spPr>
          <a:xfrm>
            <a:off x="8494500" y="3458600"/>
            <a:ext cx="1153425" cy="360000"/>
          </a:xfrm>
          <a:prstGeom prst="rect">
            <a:avLst/>
          </a:prstGeom>
          <a:noFill/>
          <a:ln/>
        </p:spPr>
        <p:txBody>
          <a:bodyPr wrap="square" lIns="0" tIns="0" rIns="0" bIns="0" rtlCol="0" anchor="ctr">
            <a:normAutofit/>
          </a:bodyPr>
          <a:lstStyle/>
          <a:p>
            <a:pPr marL="0" indent="0" algn="ctr">
              <a:buNone/>
            </a:pPr>
            <a:r>
              <a:rPr lang="en-US" sz="1500" b="1">
                <a:solidFill>
                  <a:srgbClr val="000000"/>
                </a:solidFill>
                <a:latin typeface="Anybody" pitchFamily="34" charset="0"/>
                <a:ea typeface="Anybody" pitchFamily="34" charset="-122"/>
                <a:cs typeface="Anybody" pitchFamily="34" charset="-120"/>
              </a:rPr>
              <a:t>Spearman</a:t>
            </a:r>
          </a:p>
        </p:txBody>
      </p:sp>
      <p:sp>
        <p:nvSpPr>
          <p:cNvPr id="113" name="Cell"/>
          <p:cNvSpPr txBox="1"/>
          <p:nvPr/>
        </p:nvSpPr>
        <p:spPr>
          <a:xfrm>
            <a:off x="9647925" y="3458600"/>
            <a:ext cx="1153425" cy="360000"/>
          </a:xfrm>
          <a:prstGeom prst="rect">
            <a:avLst/>
          </a:prstGeom>
          <a:noFill/>
          <a:ln/>
        </p:spPr>
        <p:txBody>
          <a:bodyPr wrap="square" lIns="0" tIns="0" rIns="0" bIns="0" rtlCol="0" anchor="ctr">
            <a:normAutofit/>
          </a:bodyPr>
          <a:lstStyle/>
          <a:p>
            <a:pPr marL="0" indent="0" algn="ctr">
              <a:buNone/>
            </a:pPr>
            <a:r>
              <a:rPr lang="en-US" sz="1500" b="1">
                <a:solidFill>
                  <a:srgbClr val="000000"/>
                </a:solidFill>
                <a:latin typeface="Anybody" pitchFamily="34" charset="0"/>
                <a:ea typeface="Anybody" pitchFamily="34" charset="-122"/>
                <a:cs typeface="Anybody" pitchFamily="34" charset="-120"/>
              </a:rPr>
              <a:t>VIF</a:t>
            </a:r>
          </a:p>
        </p:txBody>
      </p:sp>
      <p:sp>
        <p:nvSpPr>
          <p:cNvPr id="114" name="Rule"/>
          <p:cNvSpPr/>
          <p:nvPr/>
        </p:nvSpPr>
        <p:spPr>
          <a:xfrm>
            <a:off x="5308850" y="3818600"/>
            <a:ext cx="5492500" cy="12700"/>
          </a:xfrm>
          <a:prstGeom prst="rect">
            <a:avLst/>
          </a:prstGeom>
          <a:solidFill>
            <a:srgbClr val="000000"/>
          </a:solidFill>
          <a:ln/>
        </p:spPr>
        <p:txBody>
          <a:bodyPr wrap="square" lIns="0" tIns="0" rIns="0" bIns="0" rtlCol="0" anchor="t">
            <a:normAutofit fontScale="25000" lnSpcReduction="20000"/>
          </a:bodyPr>
          <a:lstStyle/>
          <a:p>
            <a:endParaRPr lang="en-SG"/>
          </a:p>
        </p:txBody>
      </p:sp>
      <p:sp>
        <p:nvSpPr>
          <p:cNvPr id="115" name="Cell"/>
          <p:cNvSpPr txBox="1"/>
          <p:nvPr/>
        </p:nvSpPr>
        <p:spPr>
          <a:xfrm>
            <a:off x="5400290" y="3818600"/>
            <a:ext cx="3094210" cy="360000"/>
          </a:xfrm>
          <a:prstGeom prst="rect">
            <a:avLst/>
          </a:prstGeom>
          <a:noFill/>
          <a:ln/>
        </p:spPr>
        <p:txBody>
          <a:bodyPr wrap="square" lIns="0" tIns="0" rIns="0" bIns="0" rtlCol="0" anchor="ctr">
            <a:normAutofit/>
          </a:bodyPr>
          <a:lstStyle/>
          <a:p>
            <a:pPr marL="0" indent="0" algn="l">
              <a:buNone/>
            </a:pPr>
            <a:r>
              <a:rPr lang="en-US" sz="1500" b="1">
                <a:solidFill>
                  <a:srgbClr val="000000"/>
                </a:solidFill>
                <a:latin typeface="Anybody" pitchFamily="34" charset="0"/>
                <a:ea typeface="Anybody" pitchFamily="34" charset="-122"/>
                <a:cs typeface="Anybody" pitchFamily="34" charset="-120"/>
              </a:rPr>
              <a:t>Safeguards are sufficient</a:t>
            </a:r>
          </a:p>
        </p:txBody>
      </p:sp>
      <p:sp>
        <p:nvSpPr>
          <p:cNvPr id="116" name="Cell"/>
          <p:cNvSpPr txBox="1"/>
          <p:nvPr/>
        </p:nvSpPr>
        <p:spPr>
          <a:xfrm>
            <a:off x="8494500" y="3818600"/>
            <a:ext cx="1153425" cy="360000"/>
          </a:xfrm>
          <a:prstGeom prst="rect">
            <a:avLst/>
          </a:prstGeom>
          <a:noFill/>
          <a:ln/>
        </p:spPr>
        <p:txBody>
          <a:bodyPr wrap="square" lIns="0" tIns="0" rIns="0" bIns="0" rtlCol="0" anchor="ctr">
            <a:normAutofit/>
          </a:bodyPr>
          <a:lstStyle/>
          <a:p>
            <a:pPr marL="0" indent="0" algn="ctr">
              <a:buNone/>
            </a:pPr>
            <a:r>
              <a:rPr lang="en-US" sz="1500">
                <a:solidFill>
                  <a:srgbClr val="000000"/>
                </a:solidFill>
                <a:latin typeface="Albert Sans" pitchFamily="34" charset="0"/>
                <a:ea typeface="Albert Sans" pitchFamily="34" charset="-122"/>
                <a:cs typeface="Albert Sans" pitchFamily="34" charset="-120"/>
              </a:rPr>
              <a:t>0.83</a:t>
            </a:r>
          </a:p>
        </p:txBody>
      </p:sp>
      <p:sp>
        <p:nvSpPr>
          <p:cNvPr id="117" name="Cell"/>
          <p:cNvSpPr txBox="1"/>
          <p:nvPr/>
        </p:nvSpPr>
        <p:spPr>
          <a:xfrm>
            <a:off x="9647925" y="3818600"/>
            <a:ext cx="1153425" cy="360000"/>
          </a:xfrm>
          <a:prstGeom prst="rect">
            <a:avLst/>
          </a:prstGeom>
          <a:noFill/>
          <a:ln/>
        </p:spPr>
        <p:txBody>
          <a:bodyPr wrap="square" lIns="0" tIns="0" rIns="0" bIns="0" rtlCol="0" anchor="ctr">
            <a:normAutofit/>
          </a:bodyPr>
          <a:lstStyle/>
          <a:p>
            <a:pPr marL="0" indent="0" algn="ctr">
              <a:buNone/>
            </a:pPr>
            <a:r>
              <a:rPr lang="en-US" sz="1500">
                <a:solidFill>
                  <a:srgbClr val="000000"/>
                </a:solidFill>
                <a:latin typeface="Albert Sans" pitchFamily="34" charset="0"/>
                <a:ea typeface="Albert Sans" pitchFamily="34" charset="-122"/>
                <a:cs typeface="Albert Sans" pitchFamily="34" charset="-120"/>
              </a:rPr>
              <a:t>3.71</a:t>
            </a:r>
          </a:p>
        </p:txBody>
      </p:sp>
      <p:sp>
        <p:nvSpPr>
          <p:cNvPr id="118" name="Rule"/>
          <p:cNvSpPr/>
          <p:nvPr/>
        </p:nvSpPr>
        <p:spPr>
          <a:xfrm>
            <a:off x="5308850" y="4178600"/>
            <a:ext cx="5492500" cy="12700"/>
          </a:xfrm>
          <a:prstGeom prst="rect">
            <a:avLst/>
          </a:prstGeom>
          <a:solidFill>
            <a:srgbClr val="000000"/>
          </a:solidFill>
          <a:ln/>
        </p:spPr>
        <p:txBody>
          <a:bodyPr wrap="square" lIns="0" tIns="0" rIns="0" bIns="0" rtlCol="0" anchor="t">
            <a:normAutofit fontScale="25000" lnSpcReduction="20000"/>
          </a:bodyPr>
          <a:lstStyle/>
          <a:p>
            <a:endParaRPr lang="en-SG"/>
          </a:p>
        </p:txBody>
      </p:sp>
      <p:sp>
        <p:nvSpPr>
          <p:cNvPr id="119" name="Cell"/>
          <p:cNvSpPr txBox="1"/>
          <p:nvPr/>
        </p:nvSpPr>
        <p:spPr>
          <a:xfrm>
            <a:off x="5400290" y="4178600"/>
            <a:ext cx="3094210" cy="360000"/>
          </a:xfrm>
          <a:prstGeom prst="rect">
            <a:avLst/>
          </a:prstGeom>
          <a:noFill/>
          <a:ln/>
        </p:spPr>
        <p:txBody>
          <a:bodyPr wrap="square" lIns="0" tIns="0" rIns="0" bIns="0" rtlCol="0" anchor="ctr">
            <a:normAutofit/>
          </a:bodyPr>
          <a:lstStyle/>
          <a:p>
            <a:pPr marL="0" indent="0" algn="l">
              <a:buNone/>
            </a:pPr>
            <a:r>
              <a:rPr lang="en-US" sz="1500" b="1">
                <a:solidFill>
                  <a:srgbClr val="000000"/>
                </a:solidFill>
                <a:latin typeface="Anybody" pitchFamily="34" charset="0"/>
                <a:ea typeface="Anybody" pitchFamily="34" charset="-122"/>
                <a:cs typeface="Anybody" pitchFamily="34" charset="-120"/>
              </a:rPr>
              <a:t>AI increased efficiency</a:t>
            </a:r>
          </a:p>
        </p:txBody>
      </p:sp>
      <p:sp>
        <p:nvSpPr>
          <p:cNvPr id="120" name="Cell"/>
          <p:cNvSpPr txBox="1"/>
          <p:nvPr/>
        </p:nvSpPr>
        <p:spPr>
          <a:xfrm>
            <a:off x="8494500" y="4178600"/>
            <a:ext cx="1153425" cy="360000"/>
          </a:xfrm>
          <a:prstGeom prst="rect">
            <a:avLst/>
          </a:prstGeom>
          <a:noFill/>
          <a:ln/>
        </p:spPr>
        <p:txBody>
          <a:bodyPr wrap="square" lIns="0" tIns="0" rIns="0" bIns="0" rtlCol="0" anchor="ctr">
            <a:normAutofit/>
          </a:bodyPr>
          <a:lstStyle/>
          <a:p>
            <a:pPr marL="0" indent="0" algn="ctr">
              <a:buNone/>
            </a:pPr>
            <a:r>
              <a:rPr lang="en-US" sz="1500">
                <a:solidFill>
                  <a:srgbClr val="000000"/>
                </a:solidFill>
                <a:latin typeface="Albert Sans" pitchFamily="34" charset="0"/>
                <a:ea typeface="Albert Sans" pitchFamily="34" charset="-122"/>
                <a:cs typeface="Albert Sans" pitchFamily="34" charset="-120"/>
              </a:rPr>
              <a:t>0.82</a:t>
            </a:r>
          </a:p>
        </p:txBody>
      </p:sp>
      <p:sp>
        <p:nvSpPr>
          <p:cNvPr id="121" name="Cell"/>
          <p:cNvSpPr txBox="1"/>
          <p:nvPr/>
        </p:nvSpPr>
        <p:spPr>
          <a:xfrm>
            <a:off x="9647925" y="4178600"/>
            <a:ext cx="1153425" cy="360000"/>
          </a:xfrm>
          <a:prstGeom prst="rect">
            <a:avLst/>
          </a:prstGeom>
          <a:noFill/>
          <a:ln/>
        </p:spPr>
        <p:txBody>
          <a:bodyPr wrap="square" lIns="0" tIns="0" rIns="0" bIns="0" rtlCol="0" anchor="ctr">
            <a:normAutofit/>
          </a:bodyPr>
          <a:lstStyle/>
          <a:p>
            <a:pPr marL="0" indent="0" algn="ctr">
              <a:buNone/>
            </a:pPr>
            <a:r>
              <a:rPr lang="en-US" sz="1500">
                <a:solidFill>
                  <a:srgbClr val="000000"/>
                </a:solidFill>
                <a:latin typeface="Albert Sans" pitchFamily="34" charset="0"/>
                <a:ea typeface="Albert Sans" pitchFamily="34" charset="-122"/>
                <a:cs typeface="Albert Sans" pitchFamily="34" charset="-120"/>
              </a:rPr>
              <a:t>5.13</a:t>
            </a:r>
          </a:p>
        </p:txBody>
      </p:sp>
      <p:sp>
        <p:nvSpPr>
          <p:cNvPr id="122" name="Rule"/>
          <p:cNvSpPr/>
          <p:nvPr/>
        </p:nvSpPr>
        <p:spPr>
          <a:xfrm>
            <a:off x="5308850" y="4538600"/>
            <a:ext cx="5492500" cy="12700"/>
          </a:xfrm>
          <a:prstGeom prst="rect">
            <a:avLst/>
          </a:prstGeom>
          <a:solidFill>
            <a:srgbClr val="000000"/>
          </a:solidFill>
          <a:ln/>
        </p:spPr>
        <p:txBody>
          <a:bodyPr wrap="square" lIns="0" tIns="0" rIns="0" bIns="0" rtlCol="0" anchor="t">
            <a:normAutofit fontScale="25000" lnSpcReduction="20000"/>
          </a:bodyPr>
          <a:lstStyle/>
          <a:p>
            <a:endParaRPr lang="en-SG"/>
          </a:p>
        </p:txBody>
      </p:sp>
      <p:sp>
        <p:nvSpPr>
          <p:cNvPr id="123" name="Cell"/>
          <p:cNvSpPr txBox="1"/>
          <p:nvPr/>
        </p:nvSpPr>
        <p:spPr>
          <a:xfrm>
            <a:off x="5400290" y="4538600"/>
            <a:ext cx="3094210" cy="360000"/>
          </a:xfrm>
          <a:prstGeom prst="rect">
            <a:avLst/>
          </a:prstGeom>
          <a:noFill/>
          <a:ln/>
        </p:spPr>
        <p:txBody>
          <a:bodyPr wrap="square" lIns="0" tIns="0" rIns="0" bIns="0" rtlCol="0" anchor="ctr">
            <a:normAutofit/>
          </a:bodyPr>
          <a:lstStyle/>
          <a:p>
            <a:pPr marL="0" indent="0" algn="l">
              <a:buNone/>
            </a:pPr>
            <a:r>
              <a:rPr lang="en-US" sz="1500" b="1">
                <a:solidFill>
                  <a:srgbClr val="000000"/>
                </a:solidFill>
                <a:latin typeface="Anybody" pitchFamily="34" charset="0"/>
                <a:ea typeface="Anybody" pitchFamily="34" charset="-122"/>
                <a:cs typeface="Anybody" pitchFamily="34" charset="-120"/>
              </a:rPr>
              <a:t>Could not work without AI</a:t>
            </a:r>
          </a:p>
        </p:txBody>
      </p:sp>
      <p:sp>
        <p:nvSpPr>
          <p:cNvPr id="124" name="Cell"/>
          <p:cNvSpPr txBox="1"/>
          <p:nvPr/>
        </p:nvSpPr>
        <p:spPr>
          <a:xfrm>
            <a:off x="8494500" y="4538600"/>
            <a:ext cx="1153425" cy="360000"/>
          </a:xfrm>
          <a:prstGeom prst="rect">
            <a:avLst/>
          </a:prstGeom>
          <a:noFill/>
          <a:ln/>
        </p:spPr>
        <p:txBody>
          <a:bodyPr wrap="square" lIns="0" tIns="0" rIns="0" bIns="0" rtlCol="0" anchor="ctr">
            <a:normAutofit/>
          </a:bodyPr>
          <a:lstStyle/>
          <a:p>
            <a:pPr marL="0" indent="0" algn="ctr">
              <a:buNone/>
            </a:pPr>
            <a:r>
              <a:rPr lang="en-US" sz="1500">
                <a:solidFill>
                  <a:srgbClr val="000000"/>
                </a:solidFill>
                <a:latin typeface="Albert Sans" pitchFamily="34" charset="0"/>
                <a:ea typeface="Albert Sans" pitchFamily="34" charset="-122"/>
                <a:cs typeface="Albert Sans" pitchFamily="34" charset="-120"/>
              </a:rPr>
              <a:t>0.72</a:t>
            </a:r>
          </a:p>
        </p:txBody>
      </p:sp>
      <p:sp>
        <p:nvSpPr>
          <p:cNvPr id="125" name="Cell"/>
          <p:cNvSpPr txBox="1"/>
          <p:nvPr/>
        </p:nvSpPr>
        <p:spPr>
          <a:xfrm>
            <a:off x="9647925" y="4538600"/>
            <a:ext cx="1153425" cy="360000"/>
          </a:xfrm>
          <a:prstGeom prst="rect">
            <a:avLst/>
          </a:prstGeom>
          <a:noFill/>
          <a:ln/>
        </p:spPr>
        <p:txBody>
          <a:bodyPr wrap="square" lIns="0" tIns="0" rIns="0" bIns="0" rtlCol="0" anchor="ctr">
            <a:normAutofit/>
          </a:bodyPr>
          <a:lstStyle/>
          <a:p>
            <a:pPr marL="0" indent="0" algn="ctr">
              <a:buNone/>
            </a:pPr>
            <a:r>
              <a:rPr lang="en-US" sz="1500">
                <a:solidFill>
                  <a:srgbClr val="000000"/>
                </a:solidFill>
                <a:latin typeface="Albert Sans" pitchFamily="34" charset="0"/>
                <a:ea typeface="Albert Sans" pitchFamily="34" charset="-122"/>
                <a:cs typeface="Albert Sans" pitchFamily="34" charset="-120"/>
              </a:rPr>
              <a:t>3.70</a:t>
            </a:r>
          </a:p>
        </p:txBody>
      </p:sp>
      <p:sp>
        <p:nvSpPr>
          <p:cNvPr id="126" name="Rule"/>
          <p:cNvSpPr/>
          <p:nvPr/>
        </p:nvSpPr>
        <p:spPr>
          <a:xfrm>
            <a:off x="5308850" y="4898600"/>
            <a:ext cx="5492500" cy="12700"/>
          </a:xfrm>
          <a:prstGeom prst="rect">
            <a:avLst/>
          </a:prstGeom>
          <a:solidFill>
            <a:srgbClr val="000000"/>
          </a:solidFill>
          <a:ln/>
        </p:spPr>
        <p:txBody>
          <a:bodyPr wrap="square" lIns="0" tIns="0" rIns="0" bIns="0" rtlCol="0" anchor="t">
            <a:normAutofit fontScale="25000" lnSpcReduction="20000"/>
          </a:bodyPr>
          <a:lstStyle/>
          <a:p>
            <a:endParaRPr lang="en-SG"/>
          </a:p>
        </p:txBody>
      </p:sp>
      <p:sp>
        <p:nvSpPr>
          <p:cNvPr id="127" name="Cell"/>
          <p:cNvSpPr txBox="1"/>
          <p:nvPr/>
        </p:nvSpPr>
        <p:spPr>
          <a:xfrm>
            <a:off x="5400290" y="4898600"/>
            <a:ext cx="3094210" cy="360000"/>
          </a:xfrm>
          <a:prstGeom prst="rect">
            <a:avLst/>
          </a:prstGeom>
          <a:noFill/>
          <a:ln/>
        </p:spPr>
        <p:txBody>
          <a:bodyPr wrap="square" lIns="0" tIns="0" rIns="0" bIns="0" rtlCol="0" anchor="ctr">
            <a:normAutofit/>
          </a:bodyPr>
          <a:lstStyle/>
          <a:p>
            <a:pPr marL="0" indent="0" algn="l">
              <a:buNone/>
            </a:pPr>
            <a:r>
              <a:rPr lang="en-US" sz="1500" b="1">
                <a:solidFill>
                  <a:srgbClr val="000000"/>
                </a:solidFill>
                <a:latin typeface="Anybody" pitchFamily="34" charset="0"/>
                <a:ea typeface="Anybody" pitchFamily="34" charset="-122"/>
                <a:cs typeface="Anybody" pitchFamily="34" charset="-120"/>
              </a:rPr>
              <a:t>Log GDP per capita (control)</a:t>
            </a:r>
          </a:p>
        </p:txBody>
      </p:sp>
      <p:sp>
        <p:nvSpPr>
          <p:cNvPr id="128" name="Cell"/>
          <p:cNvSpPr txBox="1"/>
          <p:nvPr/>
        </p:nvSpPr>
        <p:spPr>
          <a:xfrm>
            <a:off x="8494500" y="4898600"/>
            <a:ext cx="1153425" cy="360000"/>
          </a:xfrm>
          <a:prstGeom prst="rect">
            <a:avLst/>
          </a:prstGeom>
          <a:noFill/>
          <a:ln/>
        </p:spPr>
        <p:txBody>
          <a:bodyPr wrap="square" lIns="0" tIns="0" rIns="0" bIns="0" rtlCol="0" anchor="ctr">
            <a:normAutofit/>
          </a:bodyPr>
          <a:lstStyle/>
          <a:p>
            <a:pPr marL="0" indent="0" algn="ctr">
              <a:buNone/>
            </a:pPr>
            <a:r>
              <a:rPr lang="en-US" sz="1500">
                <a:solidFill>
                  <a:srgbClr val="000000"/>
                </a:solidFill>
                <a:latin typeface="Albert Sans" pitchFamily="34" charset="0"/>
                <a:ea typeface="Albert Sans" pitchFamily="34" charset="-122"/>
                <a:cs typeface="Albert Sans" pitchFamily="34" charset="-120"/>
              </a:rPr>
              <a:t>−0.51</a:t>
            </a:r>
          </a:p>
        </p:txBody>
      </p:sp>
      <p:sp>
        <p:nvSpPr>
          <p:cNvPr id="129" name="Cell"/>
          <p:cNvSpPr txBox="1"/>
          <p:nvPr/>
        </p:nvSpPr>
        <p:spPr>
          <a:xfrm>
            <a:off x="9647925" y="4898600"/>
            <a:ext cx="1153425" cy="360000"/>
          </a:xfrm>
          <a:prstGeom prst="rect">
            <a:avLst/>
          </a:prstGeom>
          <a:noFill/>
          <a:ln/>
        </p:spPr>
        <p:txBody>
          <a:bodyPr wrap="square" lIns="0" tIns="0" rIns="0" bIns="0" rtlCol="0" anchor="ctr">
            <a:normAutofit/>
          </a:bodyPr>
          <a:lstStyle/>
          <a:p>
            <a:pPr marL="0" indent="0" algn="ctr">
              <a:buNone/>
            </a:pPr>
            <a:r>
              <a:rPr lang="en-US" sz="1500">
                <a:solidFill>
                  <a:srgbClr val="000000"/>
                </a:solidFill>
                <a:latin typeface="Albert Sans" pitchFamily="34" charset="0"/>
                <a:ea typeface="Albert Sans" pitchFamily="34" charset="-122"/>
                <a:cs typeface="Albert Sans" pitchFamily="34" charset="-120"/>
              </a:rPr>
              <a:t>1.86</a:t>
            </a:r>
          </a:p>
        </p:txBody>
      </p:sp>
      <p:sp>
        <p:nvSpPr>
          <p:cNvPr id="130" name="Rule"/>
          <p:cNvSpPr/>
          <p:nvPr/>
        </p:nvSpPr>
        <p:spPr>
          <a:xfrm>
            <a:off x="5308850" y="5258600"/>
            <a:ext cx="5492500" cy="12700"/>
          </a:xfrm>
          <a:prstGeom prst="rect">
            <a:avLst/>
          </a:prstGeom>
          <a:solidFill>
            <a:srgbClr val="000000"/>
          </a:solidFill>
          <a:ln/>
        </p:spPr>
        <p:txBody>
          <a:bodyPr wrap="square" lIns="0" tIns="0" rIns="0" bIns="0" rtlCol="0" anchor="t">
            <a:normAutofit fontScale="25000" lnSpcReduction="20000"/>
          </a:bodyPr>
          <a:lstStyle/>
          <a:p>
            <a:endParaRPr lang="en-SG"/>
          </a:p>
        </p:txBody>
      </p:sp>
      <p:sp>
        <p:nvSpPr>
          <p:cNvPr id="131" name="Table note"/>
          <p:cNvSpPr txBox="1"/>
          <p:nvPr/>
        </p:nvSpPr>
        <p:spPr>
          <a:xfrm>
            <a:off x="5308850" y="5378600"/>
            <a:ext cx="5492500" cy="420000"/>
          </a:xfrm>
          <a:prstGeom prst="rect">
            <a:avLst/>
          </a:prstGeom>
          <a:noFill/>
          <a:ln/>
        </p:spPr>
        <p:txBody>
          <a:bodyPr wrap="square" lIns="0" tIns="0" rIns="0" bIns="0" rtlCol="0" anchor="t">
            <a:normAutofit/>
          </a:bodyPr>
          <a:lstStyle/>
          <a:p>
            <a:pPr marL="0" indent="0" algn="l">
              <a:lnSpc>
                <a:spcPts val="1700"/>
              </a:lnSpc>
              <a:buNone/>
            </a:pPr>
            <a:r>
              <a:rPr lang="en-US" sz="1400">
                <a:solidFill>
                  <a:srgbClr val="000000"/>
                </a:solidFill>
                <a:latin typeface="Albert Sans" pitchFamily="34" charset="0"/>
                <a:ea typeface="Albert Sans" pitchFamily="34" charset="-122"/>
                <a:cs typeface="Albert Sans" pitchFamily="34" charset="-120"/>
              </a:rPr>
              <a:t>All four p &lt; 0.001. Highest VIF falls from 167 to about 5.1.</a:t>
            </a:r>
          </a:p>
        </p:txBody>
      </p:sp>
      <p:sp>
        <p:nvSpPr>
          <p:cNvPr id="29" name="Text 26"/>
          <p:cNvSpPr/>
          <p:nvPr/>
        </p:nvSpPr>
        <p:spPr>
          <a:xfrm>
            <a:off x="6762750" y="6019800"/>
            <a:ext cx="3924300" cy="269180"/>
          </a:xfrm>
          <a:prstGeom prst="rect">
            <a:avLst/>
          </a:prstGeom>
          <a:noFill/>
          <a:ln/>
        </p:spPr>
        <p:txBody>
          <a:bodyPr wrap="square" lIns="0" tIns="0" rIns="0" bIns="0" rtlCol="0" anchor="t">
            <a:normAutofit/>
          </a:bodyPr>
          <a:lstStyle/>
          <a:p>
            <a:pPr algn="r">
              <a:lnSpc>
                <a:spcPts val="1920"/>
              </a:lnSpc>
            </a:pPr>
            <a:r>
              <a:rPr lang="en-US" sz="1600" b="1">
                <a:solidFill>
                  <a:srgbClr val="000000"/>
                </a:solidFill>
                <a:latin typeface="Anybody"/>
                <a:ea typeface="Anybody"/>
              </a:rPr>
              <a:t>[Yutong Guo]</a:t>
            </a:r>
            <a:endParaRPr lang="en-US" sz="1600">
              <a:latin typeface="Anybody"/>
              <a:ea typeface="Anybody"/>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Choosing inputs</a:t>
            </a:r>
            <a:endParaRPr lang="en-US" sz="4000"/>
          </a:p>
        </p:txBody>
      </p:sp>
      <p:sp>
        <p:nvSpPr>
          <p:cNvPr id="5" name="Text 2"/>
          <p:cNvSpPr/>
          <p:nvPr/>
        </p:nvSpPr>
        <p:spPr>
          <a:xfrm>
            <a:off x="499158" y="1714500"/>
            <a:ext cx="2351310" cy="474980"/>
          </a:xfrm>
          <a:prstGeom prst="rect">
            <a:avLst/>
          </a:prstGeom>
          <a:noFill/>
          <a:ln/>
        </p:spPr>
        <p:txBody>
          <a:bodyPr wrap="square" lIns="0" tIns="0" rIns="0" bIns="0" rtlCol="0" anchor="t">
            <a:normAutofit/>
          </a:bodyPr>
          <a:lstStyle/>
          <a:p>
            <a:pPr marL="0" indent="0" algn="ctr">
              <a:lnSpc>
                <a:spcPts val="3540"/>
              </a:lnSpc>
              <a:buNone/>
            </a:pPr>
            <a:r>
              <a:rPr lang="en-US" sz="2950" b="1">
                <a:solidFill>
                  <a:srgbClr val="000000"/>
                </a:solidFill>
                <a:latin typeface="Anybody" pitchFamily="34" charset="0"/>
                <a:ea typeface="Anybody" pitchFamily="34" charset="-122"/>
                <a:cs typeface="Anybody" pitchFamily="34" charset="-120"/>
              </a:rPr>
              <a:t>01</a:t>
            </a:r>
            <a:endParaRPr lang="en-US" sz="2950"/>
          </a:p>
        </p:txBody>
      </p:sp>
      <p:sp>
        <p:nvSpPr>
          <p:cNvPr id="6" name="Text 3"/>
          <p:cNvSpPr/>
          <p:nvPr/>
        </p:nvSpPr>
        <p:spPr>
          <a:xfrm>
            <a:off x="3162983" y="1714500"/>
            <a:ext cx="2351310" cy="474980"/>
          </a:xfrm>
          <a:prstGeom prst="rect">
            <a:avLst/>
          </a:prstGeom>
          <a:noFill/>
          <a:ln/>
        </p:spPr>
        <p:txBody>
          <a:bodyPr wrap="square" lIns="0" tIns="0" rIns="0" bIns="0" rtlCol="0" anchor="t">
            <a:normAutofit/>
          </a:bodyPr>
          <a:lstStyle/>
          <a:p>
            <a:pPr marL="0" indent="0" algn="ctr">
              <a:lnSpc>
                <a:spcPts val="3540"/>
              </a:lnSpc>
              <a:buNone/>
            </a:pPr>
            <a:r>
              <a:rPr lang="en-US" sz="2950" b="1">
                <a:solidFill>
                  <a:srgbClr val="000000"/>
                </a:solidFill>
                <a:latin typeface="Anybody" pitchFamily="34" charset="0"/>
                <a:ea typeface="Anybody" pitchFamily="34" charset="-122"/>
                <a:cs typeface="Anybody" pitchFamily="34" charset="-120"/>
              </a:rPr>
              <a:t>02</a:t>
            </a:r>
            <a:endParaRPr lang="en-US" sz="2950"/>
          </a:p>
        </p:txBody>
      </p:sp>
      <p:sp>
        <p:nvSpPr>
          <p:cNvPr id="7" name="Text 4"/>
          <p:cNvSpPr/>
          <p:nvPr/>
        </p:nvSpPr>
        <p:spPr>
          <a:xfrm>
            <a:off x="5826808" y="1714500"/>
            <a:ext cx="2351310" cy="474980"/>
          </a:xfrm>
          <a:prstGeom prst="rect">
            <a:avLst/>
          </a:prstGeom>
          <a:noFill/>
          <a:ln/>
        </p:spPr>
        <p:txBody>
          <a:bodyPr wrap="square" lIns="0" tIns="0" rIns="0" bIns="0" rtlCol="0" anchor="t">
            <a:normAutofit/>
          </a:bodyPr>
          <a:lstStyle/>
          <a:p>
            <a:pPr marL="0" indent="0" algn="ctr">
              <a:lnSpc>
                <a:spcPts val="3540"/>
              </a:lnSpc>
              <a:buNone/>
            </a:pPr>
            <a:r>
              <a:rPr lang="en-US" sz="2950" b="1">
                <a:solidFill>
                  <a:srgbClr val="000000"/>
                </a:solidFill>
                <a:latin typeface="Anybody" pitchFamily="34" charset="0"/>
                <a:ea typeface="Anybody" pitchFamily="34" charset="-122"/>
                <a:cs typeface="Anybody" pitchFamily="34" charset="-120"/>
              </a:rPr>
              <a:t>03</a:t>
            </a:r>
            <a:endParaRPr lang="en-US" sz="2950"/>
          </a:p>
        </p:txBody>
      </p:sp>
      <p:sp>
        <p:nvSpPr>
          <p:cNvPr id="8" name="Text 5"/>
          <p:cNvSpPr/>
          <p:nvPr/>
        </p:nvSpPr>
        <p:spPr>
          <a:xfrm>
            <a:off x="8490633" y="1714500"/>
            <a:ext cx="2351310" cy="474980"/>
          </a:xfrm>
          <a:prstGeom prst="rect">
            <a:avLst/>
          </a:prstGeom>
          <a:noFill/>
          <a:ln/>
        </p:spPr>
        <p:txBody>
          <a:bodyPr wrap="square" lIns="0" tIns="0" rIns="0" bIns="0" rtlCol="0" anchor="t">
            <a:normAutofit/>
          </a:bodyPr>
          <a:lstStyle/>
          <a:p>
            <a:pPr marL="0" indent="0" algn="ctr">
              <a:lnSpc>
                <a:spcPts val="3540"/>
              </a:lnSpc>
              <a:buNone/>
            </a:pPr>
            <a:r>
              <a:rPr lang="en-US" sz="2950" b="1">
                <a:solidFill>
                  <a:srgbClr val="000000"/>
                </a:solidFill>
                <a:latin typeface="Anybody" pitchFamily="34" charset="0"/>
                <a:ea typeface="Anybody" pitchFamily="34" charset="-122"/>
                <a:cs typeface="Anybody" pitchFamily="34" charset="-120"/>
              </a:rPr>
              <a:t>04</a:t>
            </a:r>
            <a:endParaRPr lang="en-US" sz="2950"/>
          </a:p>
        </p:txBody>
      </p:sp>
      <p:sp>
        <p:nvSpPr>
          <p:cNvPr id="9" name="Text 6"/>
          <p:cNvSpPr/>
          <p:nvPr/>
        </p:nvSpPr>
        <p:spPr>
          <a:xfrm>
            <a:off x="539750" y="2259329"/>
            <a:ext cx="2270125" cy="916940"/>
          </a:xfrm>
          <a:prstGeom prst="rect">
            <a:avLst/>
          </a:prstGeom>
          <a:solidFill>
            <a:srgbClr val="FFFFFF"/>
          </a:solidFill>
          <a:ln w="12700">
            <a:solidFill>
              <a:srgbClr val="000000"/>
            </a:solidFill>
            <a:prstDash val="solid"/>
          </a:ln>
        </p:spPr>
        <p:txBody>
          <a:bodyPr wrap="square" lIns="317262" tIns="130810" rIns="317341" bIns="105410" rtlCol="0" anchor="t">
            <a:normAutofit/>
          </a:bodyPr>
          <a:lstStyle/>
          <a:p>
            <a:pPr marL="0" indent="0" algn="ctr">
              <a:lnSpc>
                <a:spcPts val="2580"/>
              </a:lnSpc>
              <a:buNone/>
            </a:pPr>
            <a:r>
              <a:rPr lang="en-US" sz="2000" b="1">
                <a:solidFill>
                  <a:srgbClr val="000000"/>
                </a:solidFill>
                <a:latin typeface="Anybody" pitchFamily="34" charset="0"/>
                <a:ea typeface="Anybody" pitchFamily="34" charset="-122"/>
                <a:cs typeface="Anybody" pitchFamily="34" charset="-120"/>
              </a:rPr>
              <a:t>36</a:t>
            </a:r>
            <a:endParaRPr lang="en-US" sz="2000"/>
          </a:p>
          <a:p>
            <a:pPr marL="0" indent="0" algn="ctr">
              <a:lnSpc>
                <a:spcPts val="2580"/>
              </a:lnSpc>
              <a:buNone/>
            </a:pPr>
            <a:r>
              <a:rPr lang="en-US" sz="2000" b="1">
                <a:solidFill>
                  <a:srgbClr val="000000"/>
                </a:solidFill>
                <a:latin typeface="Anybody" pitchFamily="34" charset="0"/>
                <a:ea typeface="Anybody" pitchFamily="34" charset="-122"/>
                <a:cs typeface="Anybody" pitchFamily="34" charset="-120"/>
              </a:rPr>
              <a:t>candidates</a:t>
            </a:r>
            <a:endParaRPr lang="en-US" sz="2000"/>
          </a:p>
        </p:txBody>
      </p:sp>
      <p:sp>
        <p:nvSpPr>
          <p:cNvPr id="10" name="Shape 7"/>
          <p:cNvSpPr/>
          <p:nvPr/>
        </p:nvSpPr>
        <p:spPr>
          <a:xfrm>
            <a:off x="2816225" y="2711450"/>
            <a:ext cx="381000" cy="12700"/>
          </a:xfrm>
          <a:prstGeom prst="rect">
            <a:avLst/>
          </a:prstGeom>
          <a:solidFill>
            <a:srgbClr val="000000"/>
          </a:solidFill>
          <a:ln/>
        </p:spPr>
        <p:txBody>
          <a:bodyPr/>
          <a:lstStyle/>
          <a:p>
            <a:endParaRPr lang="en-SG"/>
          </a:p>
        </p:txBody>
      </p:sp>
      <p:sp>
        <p:nvSpPr>
          <p:cNvPr id="11" name="Text 8"/>
          <p:cNvSpPr/>
          <p:nvPr/>
        </p:nvSpPr>
        <p:spPr>
          <a:xfrm>
            <a:off x="3203575" y="2259329"/>
            <a:ext cx="2270125" cy="916940"/>
          </a:xfrm>
          <a:prstGeom prst="rect">
            <a:avLst/>
          </a:prstGeom>
          <a:solidFill>
            <a:srgbClr val="FFFFFF"/>
          </a:solidFill>
          <a:ln w="12700">
            <a:solidFill>
              <a:srgbClr val="000000"/>
            </a:solidFill>
            <a:prstDash val="solid"/>
          </a:ln>
        </p:spPr>
        <p:txBody>
          <a:bodyPr wrap="square" lIns="496650" tIns="130810" rIns="496729" bIns="105410" rtlCol="0" anchor="t">
            <a:noAutofit/>
          </a:bodyPr>
          <a:lstStyle/>
          <a:p>
            <a:pPr marL="0" indent="0" algn="ctr">
              <a:lnSpc>
                <a:spcPts val="2580"/>
              </a:lnSpc>
              <a:buNone/>
            </a:pPr>
            <a:r>
              <a:rPr lang="en-US" sz="2000" b="1">
                <a:solidFill>
                  <a:srgbClr val="000000"/>
                </a:solidFill>
                <a:latin typeface="Anybody" pitchFamily="34" charset="0"/>
                <a:ea typeface="Anybody" pitchFamily="34" charset="-122"/>
                <a:cs typeface="Anybody" pitchFamily="34" charset="-120"/>
              </a:rPr>
              <a:t>15</a:t>
            </a:r>
            <a:endParaRPr lang="en-US" sz="2000"/>
          </a:p>
          <a:p>
            <a:pPr marL="0" indent="0" algn="ctr">
              <a:lnSpc>
                <a:spcPts val="2580"/>
              </a:lnSpc>
              <a:buNone/>
            </a:pPr>
            <a:r>
              <a:rPr lang="en-US" sz="2000" b="1">
                <a:solidFill>
                  <a:srgbClr val="000000"/>
                </a:solidFill>
                <a:latin typeface="Anybody" pitchFamily="34" charset="0"/>
                <a:ea typeface="Anybody" pitchFamily="34" charset="-122"/>
                <a:cs typeface="Anybody" pitchFamily="34" charset="-120"/>
              </a:rPr>
              <a:t>clusters</a:t>
            </a:r>
            <a:endParaRPr lang="en-US" sz="2000"/>
          </a:p>
        </p:txBody>
      </p:sp>
      <p:sp>
        <p:nvSpPr>
          <p:cNvPr id="12" name="Shape 9"/>
          <p:cNvSpPr/>
          <p:nvPr/>
        </p:nvSpPr>
        <p:spPr>
          <a:xfrm>
            <a:off x="5480050" y="2711450"/>
            <a:ext cx="381000" cy="12700"/>
          </a:xfrm>
          <a:prstGeom prst="rect">
            <a:avLst/>
          </a:prstGeom>
          <a:solidFill>
            <a:srgbClr val="000000"/>
          </a:solidFill>
          <a:ln/>
        </p:spPr>
        <p:txBody>
          <a:bodyPr/>
          <a:lstStyle/>
          <a:p>
            <a:endParaRPr lang="en-SG"/>
          </a:p>
        </p:txBody>
      </p:sp>
      <p:sp>
        <p:nvSpPr>
          <p:cNvPr id="13" name="Text 10"/>
          <p:cNvSpPr/>
          <p:nvPr/>
        </p:nvSpPr>
        <p:spPr>
          <a:xfrm>
            <a:off x="5867400" y="2259329"/>
            <a:ext cx="2270125" cy="916940"/>
          </a:xfrm>
          <a:prstGeom prst="rect">
            <a:avLst/>
          </a:prstGeom>
          <a:solidFill>
            <a:srgbClr val="FFFFFF"/>
          </a:solidFill>
          <a:ln w="12700">
            <a:solidFill>
              <a:srgbClr val="000000"/>
            </a:solidFill>
            <a:prstDash val="solid"/>
          </a:ln>
        </p:spPr>
        <p:txBody>
          <a:bodyPr wrap="square" lIns="715487" tIns="130810" rIns="715565" bIns="105410" rtlCol="0" anchor="t">
            <a:normAutofit/>
          </a:bodyPr>
          <a:lstStyle/>
          <a:p>
            <a:pPr marL="0" indent="0" algn="ctr">
              <a:lnSpc>
                <a:spcPts val="2580"/>
              </a:lnSpc>
              <a:buNone/>
            </a:pPr>
            <a:r>
              <a:rPr lang="en-US" sz="2000" b="1">
                <a:solidFill>
                  <a:srgbClr val="000000"/>
                </a:solidFill>
                <a:latin typeface="Anybody" pitchFamily="34" charset="0"/>
                <a:ea typeface="Anybody" pitchFamily="34" charset="-122"/>
                <a:cs typeface="Anybody" pitchFamily="34" charset="-120"/>
              </a:rPr>
              <a:t>Four</a:t>
            </a:r>
            <a:endParaRPr lang="en-US" sz="2000"/>
          </a:p>
          <a:p>
            <a:pPr marL="0" indent="0" algn="ctr">
              <a:lnSpc>
                <a:spcPts val="2580"/>
              </a:lnSpc>
              <a:buNone/>
            </a:pPr>
            <a:r>
              <a:rPr lang="en-US" sz="2000" b="1">
                <a:solidFill>
                  <a:srgbClr val="000000"/>
                </a:solidFill>
                <a:latin typeface="Anybody" pitchFamily="34" charset="0"/>
                <a:ea typeface="Anybody" pitchFamily="34" charset="-122"/>
                <a:cs typeface="Anybody" pitchFamily="34" charset="-120"/>
              </a:rPr>
              <a:t>tests</a:t>
            </a:r>
            <a:endParaRPr lang="en-US" sz="2000"/>
          </a:p>
        </p:txBody>
      </p:sp>
      <p:sp>
        <p:nvSpPr>
          <p:cNvPr id="14" name="Shape 11"/>
          <p:cNvSpPr/>
          <p:nvPr/>
        </p:nvSpPr>
        <p:spPr>
          <a:xfrm>
            <a:off x="8143875" y="2711450"/>
            <a:ext cx="381000" cy="12700"/>
          </a:xfrm>
          <a:prstGeom prst="rect">
            <a:avLst/>
          </a:prstGeom>
          <a:solidFill>
            <a:srgbClr val="000000"/>
          </a:solidFill>
          <a:ln/>
        </p:spPr>
        <p:txBody>
          <a:bodyPr/>
          <a:lstStyle/>
          <a:p>
            <a:endParaRPr lang="en-SG"/>
          </a:p>
        </p:txBody>
      </p:sp>
      <p:sp>
        <p:nvSpPr>
          <p:cNvPr id="15" name="Text 12"/>
          <p:cNvSpPr/>
          <p:nvPr/>
        </p:nvSpPr>
        <p:spPr>
          <a:xfrm>
            <a:off x="8531225" y="2259329"/>
            <a:ext cx="2270125" cy="91694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w="12700">
            <a:solidFill>
              <a:srgbClr val="000000"/>
            </a:solidFill>
            <a:prstDash val="solid"/>
          </a:ln>
        </p:spPr>
        <p:txBody>
          <a:bodyPr wrap="square" lIns="660718" tIns="130810" rIns="660797" bIns="105410" rtlCol="0" anchor="t">
            <a:normAutofit/>
          </a:bodyPr>
          <a:lstStyle/>
          <a:p>
            <a:pPr marL="0" indent="0" algn="ctr">
              <a:lnSpc>
                <a:spcPts val="2580"/>
              </a:lnSpc>
              <a:buNone/>
            </a:pPr>
            <a:r>
              <a:rPr lang="en-US" sz="2000" b="1">
                <a:solidFill>
                  <a:srgbClr val="000000"/>
                </a:solidFill>
                <a:latin typeface="Anybody" pitchFamily="34" charset="0"/>
                <a:ea typeface="Anybody" pitchFamily="34" charset="-122"/>
                <a:cs typeface="Anybody" pitchFamily="34" charset="-120"/>
              </a:rPr>
              <a:t>Four</a:t>
            </a:r>
            <a:endParaRPr lang="en-US" sz="2000"/>
          </a:p>
          <a:p>
            <a:pPr marL="0" indent="0" algn="ctr">
              <a:lnSpc>
                <a:spcPts val="2580"/>
              </a:lnSpc>
              <a:buNone/>
            </a:pPr>
            <a:r>
              <a:rPr lang="en-US" sz="2000" b="1">
                <a:solidFill>
                  <a:srgbClr val="000000"/>
                </a:solidFill>
                <a:latin typeface="Anybody" pitchFamily="34" charset="0"/>
                <a:ea typeface="Anybody" pitchFamily="34" charset="-122"/>
                <a:cs typeface="Anybody" pitchFamily="34" charset="-120"/>
              </a:rPr>
              <a:t>inputs</a:t>
            </a:r>
            <a:endParaRPr lang="en-US" sz="2000"/>
          </a:p>
        </p:txBody>
      </p:sp>
      <p:sp>
        <p:nvSpPr>
          <p:cNvPr id="16" name="Text 13"/>
          <p:cNvSpPr/>
          <p:nvPr/>
        </p:nvSpPr>
        <p:spPr>
          <a:xfrm>
            <a:off x="564563" y="3296921"/>
            <a:ext cx="2220500" cy="75692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Identifiers and trust look-alikes removed first</a:t>
            </a:r>
            <a:endParaRPr lang="en-US" sz="1600"/>
          </a:p>
        </p:txBody>
      </p:sp>
      <p:sp>
        <p:nvSpPr>
          <p:cNvPr id="17" name="Text 14"/>
          <p:cNvSpPr/>
          <p:nvPr/>
        </p:nvSpPr>
        <p:spPr>
          <a:xfrm>
            <a:off x="3228388" y="3296921"/>
            <a:ext cx="2220500" cy="75692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Groups of inputs that repeat the same information</a:t>
            </a:r>
            <a:endParaRPr lang="en-US" sz="1600"/>
          </a:p>
        </p:txBody>
      </p:sp>
      <p:sp>
        <p:nvSpPr>
          <p:cNvPr id="18" name="Text 15"/>
          <p:cNvSpPr/>
          <p:nvPr/>
        </p:nvSpPr>
        <p:spPr>
          <a:xfrm>
            <a:off x="5892213" y="3296921"/>
            <a:ext cx="2220500" cy="75692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Correlation, mutual information, Lasso, random forest</a:t>
            </a:r>
            <a:endParaRPr lang="en-US" sz="1600"/>
          </a:p>
        </p:txBody>
      </p:sp>
      <p:sp>
        <p:nvSpPr>
          <p:cNvPr id="19" name="Text 16"/>
          <p:cNvSpPr/>
          <p:nvPr/>
        </p:nvSpPr>
        <p:spPr>
          <a:xfrm>
            <a:off x="8556038" y="3296921"/>
            <a:ext cx="2220500" cy="75692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Three survey indicators plus log GDP as a control</a:t>
            </a:r>
            <a:endParaRPr lang="en-US" sz="1600"/>
          </a:p>
        </p:txBody>
      </p:sp>
      <p:sp>
        <p:nvSpPr>
          <p:cNvPr id="20" name="Shape 17"/>
          <p:cNvSpPr/>
          <p:nvPr/>
        </p:nvSpPr>
        <p:spPr>
          <a:xfrm>
            <a:off x="533400" y="4244342"/>
            <a:ext cx="10274300" cy="12700"/>
          </a:xfrm>
          <a:prstGeom prst="rect">
            <a:avLst/>
          </a:prstGeom>
          <a:solidFill>
            <a:srgbClr val="000000"/>
          </a:solidFill>
          <a:ln/>
        </p:spPr>
        <p:txBody>
          <a:bodyPr/>
          <a:lstStyle/>
          <a:p>
            <a:endParaRPr lang="en-SG"/>
          </a:p>
        </p:txBody>
      </p:sp>
      <p:sp>
        <p:nvSpPr>
          <p:cNvPr id="21" name="Text 18"/>
          <p:cNvSpPr/>
          <p:nvPr/>
        </p:nvSpPr>
        <p:spPr>
          <a:xfrm>
            <a:off x="596900" y="4434842"/>
            <a:ext cx="2220500" cy="58928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Safeguards are</a:t>
            </a:r>
            <a:endParaRPr lang="en-US" sz="1850"/>
          </a:p>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sufficient</a:t>
            </a:r>
            <a:endParaRPr lang="en-US" sz="1850"/>
          </a:p>
        </p:txBody>
      </p:sp>
      <p:sp>
        <p:nvSpPr>
          <p:cNvPr id="22" name="Text 19"/>
          <p:cNvSpPr/>
          <p:nvPr/>
        </p:nvSpPr>
        <p:spPr>
          <a:xfrm>
            <a:off x="596900" y="5049521"/>
            <a:ext cx="222050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Spearman 0.83</a:t>
            </a:r>
            <a:endParaRPr lang="en-US" sz="1600"/>
          </a:p>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VIF 3.71</a:t>
            </a:r>
            <a:endParaRPr lang="en-US" sz="1600"/>
          </a:p>
        </p:txBody>
      </p:sp>
      <p:sp>
        <p:nvSpPr>
          <p:cNvPr id="23" name="Text 20"/>
          <p:cNvSpPr/>
          <p:nvPr/>
        </p:nvSpPr>
        <p:spPr>
          <a:xfrm>
            <a:off x="3260725" y="4434842"/>
            <a:ext cx="2220500" cy="58928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AI increased</a:t>
            </a:r>
            <a:endParaRPr lang="en-US" sz="1850"/>
          </a:p>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efficiency</a:t>
            </a:r>
            <a:endParaRPr lang="en-US" sz="1850"/>
          </a:p>
        </p:txBody>
      </p:sp>
      <p:sp>
        <p:nvSpPr>
          <p:cNvPr id="24" name="Text 21"/>
          <p:cNvSpPr/>
          <p:nvPr/>
        </p:nvSpPr>
        <p:spPr>
          <a:xfrm>
            <a:off x="3260725" y="5049521"/>
            <a:ext cx="222050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Spearman 0.82</a:t>
            </a:r>
            <a:endParaRPr lang="en-US" sz="1600"/>
          </a:p>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VIF 5.13</a:t>
            </a:r>
            <a:endParaRPr lang="en-US" sz="1600"/>
          </a:p>
        </p:txBody>
      </p:sp>
      <p:sp>
        <p:nvSpPr>
          <p:cNvPr id="25" name="Text 22"/>
          <p:cNvSpPr/>
          <p:nvPr/>
        </p:nvSpPr>
        <p:spPr>
          <a:xfrm>
            <a:off x="5924550" y="4434842"/>
            <a:ext cx="2220500" cy="58928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Could not work</a:t>
            </a:r>
            <a:endParaRPr lang="en-US" sz="1850"/>
          </a:p>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without AI</a:t>
            </a:r>
            <a:endParaRPr lang="en-US" sz="1850"/>
          </a:p>
        </p:txBody>
      </p:sp>
      <p:sp>
        <p:nvSpPr>
          <p:cNvPr id="26" name="Text 23"/>
          <p:cNvSpPr/>
          <p:nvPr/>
        </p:nvSpPr>
        <p:spPr>
          <a:xfrm>
            <a:off x="5924550" y="5049521"/>
            <a:ext cx="222050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Spearman 0.72</a:t>
            </a:r>
            <a:endParaRPr lang="en-US" sz="1600"/>
          </a:p>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VIF 3.70</a:t>
            </a:r>
            <a:endParaRPr lang="en-US" sz="1600"/>
          </a:p>
        </p:txBody>
      </p:sp>
      <p:sp>
        <p:nvSpPr>
          <p:cNvPr id="27" name="Text 24"/>
          <p:cNvSpPr/>
          <p:nvPr/>
        </p:nvSpPr>
        <p:spPr>
          <a:xfrm>
            <a:off x="8588375" y="4434842"/>
            <a:ext cx="2220500" cy="58928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Log GDP</a:t>
            </a:r>
            <a:endParaRPr lang="en-US" sz="1850"/>
          </a:p>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per capita</a:t>
            </a:r>
            <a:endParaRPr lang="en-US" sz="1850"/>
          </a:p>
        </p:txBody>
      </p:sp>
      <p:sp>
        <p:nvSpPr>
          <p:cNvPr id="28" name="Text 25"/>
          <p:cNvSpPr/>
          <p:nvPr/>
        </p:nvSpPr>
        <p:spPr>
          <a:xfrm>
            <a:off x="8588375" y="5049521"/>
            <a:ext cx="222050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Spearman −0.51</a:t>
            </a:r>
            <a:endParaRPr lang="en-US" sz="1600"/>
          </a:p>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VIF 1.86</a:t>
            </a:r>
            <a:endParaRPr lang="en-US" sz="1600"/>
          </a:p>
        </p:txBody>
      </p:sp>
      <p:sp>
        <p:nvSpPr>
          <p:cNvPr id="29" name="Text 26"/>
          <p:cNvSpPr/>
          <p:nvPr/>
        </p:nvSpPr>
        <p:spPr>
          <a:xfrm>
            <a:off x="6762750" y="6019800"/>
            <a:ext cx="3924300" cy="269240"/>
          </a:xfrm>
          <a:prstGeom prst="rect">
            <a:avLst/>
          </a:prstGeom>
          <a:noFill/>
          <a:ln/>
        </p:spPr>
        <p:txBody>
          <a:bodyPr wrap="square" lIns="0" tIns="0" rIns="0" bIns="0" rtlCol="0" anchor="t">
            <a:normAutofit/>
          </a:bodyPr>
          <a:lstStyle/>
          <a:p>
            <a:pPr algn="r">
              <a:lnSpc>
                <a:spcPts val="1920"/>
              </a:lnSpc>
            </a:pPr>
            <a:r>
              <a:rPr lang="en-US" sz="1600" b="1">
                <a:solidFill>
                  <a:srgbClr val="000000"/>
                </a:solidFill>
                <a:latin typeface="Anybody"/>
                <a:ea typeface="Anybody"/>
                <a:cs typeface="Anybody" pitchFamily="34" charset="-120"/>
              </a:rPr>
              <a:t>[Yutong </a:t>
            </a:r>
            <a:r>
              <a:rPr lang="en-US" sz="1600" b="1">
                <a:solidFill>
                  <a:srgbClr val="000000"/>
                </a:solidFill>
                <a:latin typeface="Anybody" pitchFamily="34" charset="0"/>
                <a:ea typeface="Anybody"/>
                <a:cs typeface="Anybody" pitchFamily="34" charset="-120"/>
              </a:rPr>
              <a:t>Guo</a:t>
            </a:r>
            <a:r>
              <a:rPr lang="en-US" sz="1600" b="1">
                <a:solidFill>
                  <a:srgbClr val="000000"/>
                </a:solidFill>
                <a:latin typeface="Anybody"/>
                <a:ea typeface="Anybody" pitchFamily="34" charset="-122"/>
                <a:cs typeface="Anybody" pitchFamily="34" charset="-120"/>
              </a:rPr>
              <a:t>]</a:t>
            </a:r>
            <a:endParaRPr lang="en-US" sz="1600">
              <a:latin typeface="Anybody"/>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189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1527176" cy="635000"/>
          </a:xfrm>
          <a:prstGeom prst="rect">
            <a:avLst/>
          </a:prstGeom>
          <a:noFill/>
          <a:ln/>
        </p:spPr>
        <p:txBody>
          <a:bodyPr wrap="square" lIns="0" tIns="0" rIns="0" bIns="0" rtlCol="0" anchor="t">
            <a:normAutofit/>
          </a:bodyPr>
          <a:lstStyle/>
          <a:p>
            <a:pPr>
              <a:lnSpc>
                <a:spcPts val="4800"/>
              </a:lnSpc>
            </a:pPr>
            <a:r>
              <a:rPr lang="en-US" b="1">
                <a:latin typeface="Anybody"/>
                <a:ea typeface="Anybody"/>
              </a:rPr>
              <a:t>Can these factors predict trust in AI?</a:t>
            </a:r>
          </a:p>
          <a:p>
            <a:pPr>
              <a:lnSpc>
                <a:spcPts val="4800"/>
              </a:lnSpc>
            </a:pPr>
            <a:endParaRPr lang="en-US" sz="4000" b="1"/>
          </a:p>
        </p:txBody>
      </p:sp>
      <p:sp>
        <p:nvSpPr>
          <p:cNvPr id="5" name="Text 2"/>
          <p:cNvSpPr/>
          <p:nvPr/>
        </p:nvSpPr>
        <p:spPr>
          <a:xfrm>
            <a:off x="654050" y="1748792"/>
            <a:ext cx="3152521" cy="35306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Model</a:t>
            </a:r>
            <a:endParaRPr lang="en-US" sz="2150"/>
          </a:p>
        </p:txBody>
      </p:sp>
      <p:sp>
        <p:nvSpPr>
          <p:cNvPr id="6" name="Shape 3"/>
          <p:cNvSpPr/>
          <p:nvPr/>
        </p:nvSpPr>
        <p:spPr>
          <a:xfrm>
            <a:off x="3841750" y="1634492"/>
            <a:ext cx="0" cy="556260"/>
          </a:xfrm>
          <a:prstGeom prst="line">
            <a:avLst/>
          </a:prstGeom>
          <a:noFill/>
          <a:ln w="12700">
            <a:solidFill>
              <a:srgbClr val="000000"/>
            </a:solidFill>
            <a:prstDash val="solid"/>
          </a:ln>
        </p:spPr>
        <p:txBody>
          <a:bodyPr/>
          <a:lstStyle/>
          <a:p>
            <a:endParaRPr lang="en-SG"/>
          </a:p>
        </p:txBody>
      </p:sp>
      <p:sp>
        <p:nvSpPr>
          <p:cNvPr id="7" name="Text 4"/>
          <p:cNvSpPr/>
          <p:nvPr/>
        </p:nvSpPr>
        <p:spPr>
          <a:xfrm>
            <a:off x="3940810" y="1748792"/>
            <a:ext cx="1361440" cy="353060"/>
          </a:xfrm>
          <a:prstGeom prst="rect">
            <a:avLst/>
          </a:prstGeom>
          <a:noFill/>
          <a:ln/>
        </p:spPr>
        <p:txBody>
          <a:bodyPr wrap="square" lIns="0" tIns="0" rIns="0" bIns="0" rtlCol="0" anchor="t">
            <a:normAutofit/>
          </a:bodyPr>
          <a:lstStyle/>
          <a:p>
            <a:pPr marL="0" indent="0" algn="ctr">
              <a:lnSpc>
                <a:spcPts val="2580"/>
              </a:lnSpc>
              <a:buNone/>
            </a:pPr>
            <a:r>
              <a:rPr lang="en-US" sz="2150" b="1">
                <a:solidFill>
                  <a:srgbClr val="000000"/>
                </a:solidFill>
                <a:latin typeface="Anybody" pitchFamily="34" charset="0"/>
                <a:ea typeface="Anybody" pitchFamily="34" charset="-122"/>
                <a:cs typeface="Anybody" pitchFamily="34" charset="-120"/>
              </a:rPr>
              <a:t>MAE pp</a:t>
            </a:r>
            <a:endParaRPr lang="en-US" sz="2150"/>
          </a:p>
        </p:txBody>
      </p:sp>
      <p:sp>
        <p:nvSpPr>
          <p:cNvPr id="8" name="Shape 5"/>
          <p:cNvSpPr/>
          <p:nvPr/>
        </p:nvSpPr>
        <p:spPr>
          <a:xfrm>
            <a:off x="5403850" y="1634492"/>
            <a:ext cx="0" cy="556260"/>
          </a:xfrm>
          <a:prstGeom prst="line">
            <a:avLst/>
          </a:prstGeom>
          <a:noFill/>
          <a:ln w="12700">
            <a:solidFill>
              <a:srgbClr val="000000"/>
            </a:solidFill>
            <a:prstDash val="solid"/>
          </a:ln>
        </p:spPr>
        <p:txBody>
          <a:bodyPr/>
          <a:lstStyle/>
          <a:p>
            <a:endParaRPr lang="en-SG"/>
          </a:p>
        </p:txBody>
      </p:sp>
      <p:sp>
        <p:nvSpPr>
          <p:cNvPr id="9" name="Text 6"/>
          <p:cNvSpPr/>
          <p:nvPr/>
        </p:nvSpPr>
        <p:spPr>
          <a:xfrm>
            <a:off x="5502910" y="1748792"/>
            <a:ext cx="1361440" cy="353060"/>
          </a:xfrm>
          <a:prstGeom prst="rect">
            <a:avLst/>
          </a:prstGeom>
          <a:noFill/>
          <a:ln/>
        </p:spPr>
        <p:txBody>
          <a:bodyPr wrap="square" lIns="0" tIns="0" rIns="0" bIns="0" rtlCol="0" anchor="t">
            <a:normAutofit/>
          </a:bodyPr>
          <a:lstStyle/>
          <a:p>
            <a:pPr marL="0" indent="0" algn="ctr">
              <a:lnSpc>
                <a:spcPts val="2580"/>
              </a:lnSpc>
              <a:buNone/>
            </a:pPr>
            <a:r>
              <a:rPr lang="en-US" sz="2150" b="1">
                <a:solidFill>
                  <a:srgbClr val="000000"/>
                </a:solidFill>
                <a:latin typeface="Anybody" pitchFamily="34" charset="0"/>
                <a:ea typeface="Anybody" pitchFamily="34" charset="-122"/>
                <a:cs typeface="Anybody" pitchFamily="34" charset="-120"/>
              </a:rPr>
              <a:t>RMSE pp</a:t>
            </a:r>
            <a:endParaRPr lang="en-US" sz="2150"/>
          </a:p>
        </p:txBody>
      </p:sp>
      <p:sp>
        <p:nvSpPr>
          <p:cNvPr id="10" name="Shape 7"/>
          <p:cNvSpPr/>
          <p:nvPr/>
        </p:nvSpPr>
        <p:spPr>
          <a:xfrm>
            <a:off x="6965950" y="1634492"/>
            <a:ext cx="0" cy="556260"/>
          </a:xfrm>
          <a:prstGeom prst="line">
            <a:avLst/>
          </a:prstGeom>
          <a:noFill/>
          <a:ln w="12700">
            <a:solidFill>
              <a:srgbClr val="000000"/>
            </a:solidFill>
            <a:prstDash val="solid"/>
          </a:ln>
        </p:spPr>
        <p:txBody>
          <a:bodyPr/>
          <a:lstStyle/>
          <a:p>
            <a:endParaRPr lang="en-SG"/>
          </a:p>
        </p:txBody>
      </p:sp>
      <p:sp>
        <p:nvSpPr>
          <p:cNvPr id="11" name="Text 8"/>
          <p:cNvSpPr/>
          <p:nvPr/>
        </p:nvSpPr>
        <p:spPr>
          <a:xfrm>
            <a:off x="7065010" y="1748792"/>
            <a:ext cx="1361440" cy="353060"/>
          </a:xfrm>
          <a:prstGeom prst="rect">
            <a:avLst/>
          </a:prstGeom>
          <a:noFill/>
          <a:ln/>
        </p:spPr>
        <p:txBody>
          <a:bodyPr wrap="square" lIns="0" tIns="0" rIns="0" bIns="0" rtlCol="0" anchor="t">
            <a:normAutofit/>
          </a:bodyPr>
          <a:lstStyle/>
          <a:p>
            <a:pPr marL="0" indent="0" algn="ctr">
              <a:lnSpc>
                <a:spcPts val="2580"/>
              </a:lnSpc>
              <a:buNone/>
            </a:pPr>
            <a:r>
              <a:rPr lang="en-US" sz="2150" b="1">
                <a:solidFill>
                  <a:srgbClr val="000000"/>
                </a:solidFill>
                <a:latin typeface="Anybody" pitchFamily="34" charset="0"/>
                <a:ea typeface="Anybody" pitchFamily="34" charset="-122"/>
                <a:cs typeface="Anybody" pitchFamily="34" charset="-120"/>
              </a:rPr>
              <a:t>R²</a:t>
            </a:r>
            <a:endParaRPr lang="en-US" sz="2150"/>
          </a:p>
        </p:txBody>
      </p:sp>
      <p:sp>
        <p:nvSpPr>
          <p:cNvPr id="12" name="Shape 9"/>
          <p:cNvSpPr/>
          <p:nvPr/>
        </p:nvSpPr>
        <p:spPr>
          <a:xfrm>
            <a:off x="8528050" y="1634492"/>
            <a:ext cx="0" cy="556260"/>
          </a:xfrm>
          <a:prstGeom prst="line">
            <a:avLst/>
          </a:prstGeom>
          <a:noFill/>
          <a:ln w="12700">
            <a:solidFill>
              <a:srgbClr val="000000"/>
            </a:solidFill>
            <a:prstDash val="solid"/>
          </a:ln>
        </p:spPr>
        <p:txBody>
          <a:bodyPr/>
          <a:lstStyle/>
          <a:p>
            <a:endParaRPr lang="en-SG"/>
          </a:p>
        </p:txBody>
      </p:sp>
      <p:sp>
        <p:nvSpPr>
          <p:cNvPr id="13" name="Text 10"/>
          <p:cNvSpPr/>
          <p:nvPr/>
        </p:nvSpPr>
        <p:spPr>
          <a:xfrm>
            <a:off x="8621992" y="1748792"/>
            <a:ext cx="2095576" cy="353060"/>
          </a:xfrm>
          <a:prstGeom prst="rect">
            <a:avLst/>
          </a:prstGeom>
          <a:noFill/>
          <a:ln/>
        </p:spPr>
        <p:txBody>
          <a:bodyPr wrap="square" lIns="0" tIns="0" rIns="0" bIns="0" rtlCol="0" anchor="t">
            <a:normAutofit/>
          </a:bodyPr>
          <a:lstStyle/>
          <a:p>
            <a:pPr marL="0" indent="0" algn="ctr">
              <a:lnSpc>
                <a:spcPts val="2580"/>
              </a:lnSpc>
              <a:buNone/>
            </a:pPr>
            <a:r>
              <a:rPr lang="en-US" sz="2150" b="1">
                <a:solidFill>
                  <a:srgbClr val="000000"/>
                </a:solidFill>
                <a:latin typeface="Anybody" pitchFamily="34" charset="0"/>
                <a:ea typeface="Anybody" pitchFamily="34" charset="-122"/>
                <a:cs typeface="Anybody" pitchFamily="34" charset="-120"/>
              </a:rPr>
              <a:t>Within 5 pp</a:t>
            </a:r>
            <a:endParaRPr lang="en-US" sz="2150"/>
          </a:p>
        </p:txBody>
      </p:sp>
      <p:sp>
        <p:nvSpPr>
          <p:cNvPr id="14" name="Shape 11"/>
          <p:cNvSpPr/>
          <p:nvPr/>
        </p:nvSpPr>
        <p:spPr>
          <a:xfrm>
            <a:off x="533400" y="2197100"/>
            <a:ext cx="3302000" cy="0"/>
          </a:xfrm>
          <a:prstGeom prst="line">
            <a:avLst/>
          </a:prstGeom>
          <a:noFill/>
          <a:ln w="12700">
            <a:solidFill>
              <a:srgbClr val="000000"/>
            </a:solidFill>
            <a:prstDash val="solid"/>
          </a:ln>
        </p:spPr>
        <p:txBody>
          <a:bodyPr/>
          <a:lstStyle/>
          <a:p>
            <a:endParaRPr lang="en-SG"/>
          </a:p>
        </p:txBody>
      </p:sp>
      <p:sp>
        <p:nvSpPr>
          <p:cNvPr id="15" name="Text 12"/>
          <p:cNvSpPr/>
          <p:nvPr/>
        </p:nvSpPr>
        <p:spPr>
          <a:xfrm>
            <a:off x="654050" y="2315210"/>
            <a:ext cx="3152521" cy="35814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Average baseline</a:t>
            </a:r>
            <a:endParaRPr lang="en-US" sz="2150"/>
          </a:p>
        </p:txBody>
      </p:sp>
      <p:sp>
        <p:nvSpPr>
          <p:cNvPr id="16" name="Shape 13"/>
          <p:cNvSpPr/>
          <p:nvPr/>
        </p:nvSpPr>
        <p:spPr>
          <a:xfrm>
            <a:off x="3835400" y="2197100"/>
            <a:ext cx="1562100" cy="0"/>
          </a:xfrm>
          <a:prstGeom prst="line">
            <a:avLst/>
          </a:prstGeom>
          <a:noFill/>
          <a:ln w="12700">
            <a:solidFill>
              <a:srgbClr val="000000"/>
            </a:solidFill>
            <a:prstDash val="solid"/>
          </a:ln>
        </p:spPr>
        <p:txBody>
          <a:bodyPr/>
          <a:lstStyle/>
          <a:p>
            <a:endParaRPr lang="en-SG"/>
          </a:p>
        </p:txBody>
      </p:sp>
      <p:sp>
        <p:nvSpPr>
          <p:cNvPr id="17" name="Shape 14"/>
          <p:cNvSpPr/>
          <p:nvPr/>
        </p:nvSpPr>
        <p:spPr>
          <a:xfrm>
            <a:off x="3841750" y="2190750"/>
            <a:ext cx="0" cy="571500"/>
          </a:xfrm>
          <a:prstGeom prst="line">
            <a:avLst/>
          </a:prstGeom>
          <a:noFill/>
          <a:ln w="12700">
            <a:solidFill>
              <a:srgbClr val="000000"/>
            </a:solidFill>
            <a:prstDash val="solid"/>
          </a:ln>
        </p:spPr>
        <p:txBody>
          <a:bodyPr/>
          <a:lstStyle/>
          <a:p>
            <a:endParaRPr lang="en-SG"/>
          </a:p>
        </p:txBody>
      </p:sp>
      <p:sp>
        <p:nvSpPr>
          <p:cNvPr id="18" name="Text 15"/>
          <p:cNvSpPr/>
          <p:nvPr/>
        </p:nvSpPr>
        <p:spPr>
          <a:xfrm>
            <a:off x="3940810" y="23406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9.86</a:t>
            </a:r>
            <a:endParaRPr lang="en-US" sz="1850"/>
          </a:p>
        </p:txBody>
      </p:sp>
      <p:sp>
        <p:nvSpPr>
          <p:cNvPr id="19" name="Shape 16"/>
          <p:cNvSpPr/>
          <p:nvPr/>
        </p:nvSpPr>
        <p:spPr>
          <a:xfrm>
            <a:off x="5397500" y="2197100"/>
            <a:ext cx="1562100" cy="0"/>
          </a:xfrm>
          <a:prstGeom prst="line">
            <a:avLst/>
          </a:prstGeom>
          <a:noFill/>
          <a:ln w="12700">
            <a:solidFill>
              <a:srgbClr val="000000"/>
            </a:solidFill>
            <a:prstDash val="solid"/>
          </a:ln>
        </p:spPr>
        <p:txBody>
          <a:bodyPr/>
          <a:lstStyle/>
          <a:p>
            <a:endParaRPr lang="en-SG"/>
          </a:p>
        </p:txBody>
      </p:sp>
      <p:sp>
        <p:nvSpPr>
          <p:cNvPr id="20" name="Shape 17"/>
          <p:cNvSpPr/>
          <p:nvPr/>
        </p:nvSpPr>
        <p:spPr>
          <a:xfrm>
            <a:off x="5403850" y="2190750"/>
            <a:ext cx="0" cy="571500"/>
          </a:xfrm>
          <a:prstGeom prst="line">
            <a:avLst/>
          </a:prstGeom>
          <a:noFill/>
          <a:ln w="12700">
            <a:solidFill>
              <a:srgbClr val="000000"/>
            </a:solidFill>
            <a:prstDash val="solid"/>
          </a:ln>
        </p:spPr>
        <p:txBody>
          <a:bodyPr/>
          <a:lstStyle/>
          <a:p>
            <a:endParaRPr lang="en-SG"/>
          </a:p>
        </p:txBody>
      </p:sp>
      <p:sp>
        <p:nvSpPr>
          <p:cNvPr id="21" name="Text 18"/>
          <p:cNvSpPr/>
          <p:nvPr/>
        </p:nvSpPr>
        <p:spPr>
          <a:xfrm>
            <a:off x="5502910" y="23406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12.59</a:t>
            </a:r>
            <a:endParaRPr lang="en-US" sz="1850"/>
          </a:p>
        </p:txBody>
      </p:sp>
      <p:sp>
        <p:nvSpPr>
          <p:cNvPr id="22" name="Shape 19"/>
          <p:cNvSpPr/>
          <p:nvPr/>
        </p:nvSpPr>
        <p:spPr>
          <a:xfrm>
            <a:off x="6959600" y="2197100"/>
            <a:ext cx="1562100" cy="0"/>
          </a:xfrm>
          <a:prstGeom prst="line">
            <a:avLst/>
          </a:prstGeom>
          <a:noFill/>
          <a:ln w="12700">
            <a:solidFill>
              <a:srgbClr val="000000"/>
            </a:solidFill>
            <a:prstDash val="solid"/>
          </a:ln>
        </p:spPr>
        <p:txBody>
          <a:bodyPr/>
          <a:lstStyle/>
          <a:p>
            <a:endParaRPr lang="en-SG"/>
          </a:p>
        </p:txBody>
      </p:sp>
      <p:sp>
        <p:nvSpPr>
          <p:cNvPr id="23" name="Shape 20"/>
          <p:cNvSpPr/>
          <p:nvPr/>
        </p:nvSpPr>
        <p:spPr>
          <a:xfrm>
            <a:off x="6965950" y="2190750"/>
            <a:ext cx="0" cy="571500"/>
          </a:xfrm>
          <a:prstGeom prst="line">
            <a:avLst/>
          </a:prstGeom>
          <a:noFill/>
          <a:ln w="12700">
            <a:solidFill>
              <a:srgbClr val="000000"/>
            </a:solidFill>
            <a:prstDash val="solid"/>
          </a:ln>
        </p:spPr>
        <p:txBody>
          <a:bodyPr/>
          <a:lstStyle/>
          <a:p>
            <a:endParaRPr lang="en-SG"/>
          </a:p>
        </p:txBody>
      </p:sp>
      <p:sp>
        <p:nvSpPr>
          <p:cNvPr id="24" name="Text 21"/>
          <p:cNvSpPr/>
          <p:nvPr/>
        </p:nvSpPr>
        <p:spPr>
          <a:xfrm>
            <a:off x="7065010" y="23406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−0.04</a:t>
            </a:r>
            <a:endParaRPr lang="en-US" sz="1850"/>
          </a:p>
        </p:txBody>
      </p:sp>
      <p:sp>
        <p:nvSpPr>
          <p:cNvPr id="25" name="Shape 22"/>
          <p:cNvSpPr/>
          <p:nvPr/>
        </p:nvSpPr>
        <p:spPr>
          <a:xfrm>
            <a:off x="8521700" y="2197100"/>
            <a:ext cx="2286000" cy="0"/>
          </a:xfrm>
          <a:prstGeom prst="line">
            <a:avLst/>
          </a:prstGeom>
          <a:noFill/>
          <a:ln w="12700">
            <a:solidFill>
              <a:srgbClr val="000000"/>
            </a:solidFill>
            <a:prstDash val="solid"/>
          </a:ln>
        </p:spPr>
        <p:txBody>
          <a:bodyPr/>
          <a:lstStyle/>
          <a:p>
            <a:endParaRPr lang="en-SG"/>
          </a:p>
        </p:txBody>
      </p:sp>
      <p:sp>
        <p:nvSpPr>
          <p:cNvPr id="26" name="Shape 23"/>
          <p:cNvSpPr/>
          <p:nvPr/>
        </p:nvSpPr>
        <p:spPr>
          <a:xfrm>
            <a:off x="8528050" y="2190750"/>
            <a:ext cx="0" cy="571500"/>
          </a:xfrm>
          <a:prstGeom prst="line">
            <a:avLst/>
          </a:prstGeom>
          <a:noFill/>
          <a:ln w="12700">
            <a:solidFill>
              <a:srgbClr val="000000"/>
            </a:solidFill>
            <a:prstDash val="solid"/>
          </a:ln>
        </p:spPr>
        <p:txBody>
          <a:bodyPr/>
          <a:lstStyle/>
          <a:p>
            <a:endParaRPr lang="en-SG"/>
          </a:p>
        </p:txBody>
      </p:sp>
      <p:sp>
        <p:nvSpPr>
          <p:cNvPr id="27" name="Text 24"/>
          <p:cNvSpPr/>
          <p:nvPr/>
        </p:nvSpPr>
        <p:spPr>
          <a:xfrm>
            <a:off x="8621992" y="2340610"/>
            <a:ext cx="2095576"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29%</a:t>
            </a:r>
            <a:endParaRPr lang="en-US" sz="1850"/>
          </a:p>
        </p:txBody>
      </p:sp>
      <p:sp>
        <p:nvSpPr>
          <p:cNvPr id="28" name="Text 25"/>
          <p:cNvSpPr/>
          <p:nvPr/>
        </p:nvSpPr>
        <p:spPr>
          <a:xfrm>
            <a:off x="533400" y="2762250"/>
            <a:ext cx="3302000" cy="5715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wrap="square" lIns="74740" tIns="124460" rIns="74740" bIns="88900" rtlCol="0" anchor="t">
            <a:normAutofit/>
          </a:bodyPr>
          <a:lstStyle/>
          <a:p>
            <a:pPr marL="0" indent="0" algn="ctr">
              <a:lnSpc>
                <a:spcPts val="2580"/>
              </a:lnSpc>
              <a:buNone/>
            </a:pPr>
            <a:r>
              <a:rPr lang="en-US" sz="2150" b="1">
                <a:solidFill>
                  <a:srgbClr val="000000"/>
                </a:solidFill>
                <a:latin typeface="Anybody" pitchFamily="34" charset="0"/>
                <a:ea typeface="Anybody" pitchFamily="34" charset="-122"/>
                <a:cs typeface="Anybody" pitchFamily="34" charset="-120"/>
              </a:rPr>
              <a:t>Linear regression</a:t>
            </a:r>
            <a:endParaRPr lang="en-US" sz="2150"/>
          </a:p>
        </p:txBody>
      </p:sp>
      <p:sp>
        <p:nvSpPr>
          <p:cNvPr id="29" name="Shape 26"/>
          <p:cNvSpPr/>
          <p:nvPr/>
        </p:nvSpPr>
        <p:spPr>
          <a:xfrm>
            <a:off x="533400" y="2768600"/>
            <a:ext cx="3302000" cy="0"/>
          </a:xfrm>
          <a:prstGeom prst="line">
            <a:avLst/>
          </a:prstGeom>
          <a:noFill/>
          <a:ln w="12700">
            <a:solidFill>
              <a:srgbClr val="000000"/>
            </a:solidFill>
            <a:prstDash val="solid"/>
          </a:ln>
        </p:spPr>
        <p:txBody>
          <a:bodyPr/>
          <a:lstStyle/>
          <a:p>
            <a:endParaRPr lang="en-SG"/>
          </a:p>
        </p:txBody>
      </p:sp>
      <p:sp>
        <p:nvSpPr>
          <p:cNvPr id="30" name="Shape 27"/>
          <p:cNvSpPr/>
          <p:nvPr/>
        </p:nvSpPr>
        <p:spPr>
          <a:xfrm>
            <a:off x="3835400" y="2768600"/>
            <a:ext cx="1562100" cy="0"/>
          </a:xfrm>
          <a:prstGeom prst="line">
            <a:avLst/>
          </a:prstGeom>
          <a:noFill/>
          <a:ln w="12700">
            <a:solidFill>
              <a:srgbClr val="000000"/>
            </a:solidFill>
            <a:prstDash val="solid"/>
          </a:ln>
        </p:spPr>
        <p:txBody>
          <a:bodyPr/>
          <a:lstStyle/>
          <a:p>
            <a:endParaRPr lang="en-SG"/>
          </a:p>
        </p:txBody>
      </p:sp>
      <p:sp>
        <p:nvSpPr>
          <p:cNvPr id="31" name="Shape 28"/>
          <p:cNvSpPr/>
          <p:nvPr/>
        </p:nvSpPr>
        <p:spPr>
          <a:xfrm>
            <a:off x="3841750" y="2762250"/>
            <a:ext cx="0" cy="571500"/>
          </a:xfrm>
          <a:prstGeom prst="line">
            <a:avLst/>
          </a:prstGeom>
          <a:noFill/>
          <a:ln w="12700">
            <a:solidFill>
              <a:srgbClr val="000000"/>
            </a:solidFill>
            <a:prstDash val="solid"/>
          </a:ln>
        </p:spPr>
        <p:txBody>
          <a:bodyPr/>
          <a:lstStyle/>
          <a:p>
            <a:endParaRPr lang="en-SG"/>
          </a:p>
        </p:txBody>
      </p:sp>
      <p:sp>
        <p:nvSpPr>
          <p:cNvPr id="32" name="Text 29"/>
          <p:cNvSpPr/>
          <p:nvPr/>
        </p:nvSpPr>
        <p:spPr>
          <a:xfrm>
            <a:off x="3940810" y="29121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3.66</a:t>
            </a:r>
            <a:endParaRPr lang="en-US" sz="1850"/>
          </a:p>
        </p:txBody>
      </p:sp>
      <p:sp>
        <p:nvSpPr>
          <p:cNvPr id="33" name="Shape 30"/>
          <p:cNvSpPr/>
          <p:nvPr/>
        </p:nvSpPr>
        <p:spPr>
          <a:xfrm>
            <a:off x="5397500" y="2768600"/>
            <a:ext cx="1562100" cy="0"/>
          </a:xfrm>
          <a:prstGeom prst="line">
            <a:avLst/>
          </a:prstGeom>
          <a:noFill/>
          <a:ln w="12700">
            <a:solidFill>
              <a:srgbClr val="000000"/>
            </a:solidFill>
            <a:prstDash val="solid"/>
          </a:ln>
        </p:spPr>
        <p:txBody>
          <a:bodyPr/>
          <a:lstStyle/>
          <a:p>
            <a:endParaRPr lang="en-SG"/>
          </a:p>
        </p:txBody>
      </p:sp>
      <p:sp>
        <p:nvSpPr>
          <p:cNvPr id="34" name="Shape 31"/>
          <p:cNvSpPr/>
          <p:nvPr/>
        </p:nvSpPr>
        <p:spPr>
          <a:xfrm>
            <a:off x="5403850" y="2762250"/>
            <a:ext cx="0" cy="571500"/>
          </a:xfrm>
          <a:prstGeom prst="line">
            <a:avLst/>
          </a:prstGeom>
          <a:noFill/>
          <a:ln w="12700">
            <a:solidFill>
              <a:srgbClr val="000000"/>
            </a:solidFill>
            <a:prstDash val="solid"/>
          </a:ln>
        </p:spPr>
        <p:txBody>
          <a:bodyPr/>
          <a:lstStyle/>
          <a:p>
            <a:endParaRPr lang="en-SG"/>
          </a:p>
        </p:txBody>
      </p:sp>
      <p:sp>
        <p:nvSpPr>
          <p:cNvPr id="35" name="Text 32"/>
          <p:cNvSpPr/>
          <p:nvPr/>
        </p:nvSpPr>
        <p:spPr>
          <a:xfrm>
            <a:off x="5502910" y="29121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4.68</a:t>
            </a:r>
            <a:endParaRPr lang="en-US" sz="1850"/>
          </a:p>
        </p:txBody>
      </p:sp>
      <p:sp>
        <p:nvSpPr>
          <p:cNvPr id="36" name="Shape 33"/>
          <p:cNvSpPr/>
          <p:nvPr/>
        </p:nvSpPr>
        <p:spPr>
          <a:xfrm>
            <a:off x="6959600" y="2768600"/>
            <a:ext cx="1562100" cy="0"/>
          </a:xfrm>
          <a:prstGeom prst="line">
            <a:avLst/>
          </a:prstGeom>
          <a:noFill/>
          <a:ln w="12700">
            <a:solidFill>
              <a:srgbClr val="000000"/>
            </a:solidFill>
            <a:prstDash val="solid"/>
          </a:ln>
        </p:spPr>
        <p:txBody>
          <a:bodyPr/>
          <a:lstStyle/>
          <a:p>
            <a:endParaRPr lang="en-SG"/>
          </a:p>
        </p:txBody>
      </p:sp>
      <p:sp>
        <p:nvSpPr>
          <p:cNvPr id="37" name="Shape 34"/>
          <p:cNvSpPr/>
          <p:nvPr/>
        </p:nvSpPr>
        <p:spPr>
          <a:xfrm>
            <a:off x="6965950" y="2762250"/>
            <a:ext cx="0" cy="571500"/>
          </a:xfrm>
          <a:prstGeom prst="line">
            <a:avLst/>
          </a:prstGeom>
          <a:noFill/>
          <a:ln w="12700">
            <a:solidFill>
              <a:srgbClr val="000000"/>
            </a:solidFill>
            <a:prstDash val="solid"/>
          </a:ln>
        </p:spPr>
        <p:txBody>
          <a:bodyPr/>
          <a:lstStyle/>
          <a:p>
            <a:endParaRPr lang="en-SG"/>
          </a:p>
        </p:txBody>
      </p:sp>
      <p:sp>
        <p:nvSpPr>
          <p:cNvPr id="38" name="Text 35"/>
          <p:cNvSpPr/>
          <p:nvPr/>
        </p:nvSpPr>
        <p:spPr>
          <a:xfrm>
            <a:off x="7065010" y="29121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0.86</a:t>
            </a:r>
            <a:endParaRPr lang="en-US" sz="1850"/>
          </a:p>
        </p:txBody>
      </p:sp>
      <p:sp>
        <p:nvSpPr>
          <p:cNvPr id="39" name="Shape 36"/>
          <p:cNvSpPr/>
          <p:nvPr/>
        </p:nvSpPr>
        <p:spPr>
          <a:xfrm>
            <a:off x="8521700" y="2768600"/>
            <a:ext cx="2286000" cy="0"/>
          </a:xfrm>
          <a:prstGeom prst="line">
            <a:avLst/>
          </a:prstGeom>
          <a:noFill/>
          <a:ln w="12700">
            <a:solidFill>
              <a:srgbClr val="000000"/>
            </a:solidFill>
            <a:prstDash val="solid"/>
          </a:ln>
        </p:spPr>
        <p:txBody>
          <a:bodyPr/>
          <a:lstStyle/>
          <a:p>
            <a:endParaRPr lang="en-SG"/>
          </a:p>
        </p:txBody>
      </p:sp>
      <p:sp>
        <p:nvSpPr>
          <p:cNvPr id="40" name="Shape 37"/>
          <p:cNvSpPr/>
          <p:nvPr/>
        </p:nvSpPr>
        <p:spPr>
          <a:xfrm>
            <a:off x="8528050" y="2762250"/>
            <a:ext cx="0" cy="571500"/>
          </a:xfrm>
          <a:prstGeom prst="line">
            <a:avLst/>
          </a:prstGeom>
          <a:noFill/>
          <a:ln w="12700">
            <a:solidFill>
              <a:srgbClr val="000000"/>
            </a:solidFill>
            <a:prstDash val="solid"/>
          </a:ln>
        </p:spPr>
        <p:txBody>
          <a:bodyPr/>
          <a:lstStyle/>
          <a:p>
            <a:endParaRPr lang="en-SG"/>
          </a:p>
        </p:txBody>
      </p:sp>
      <p:sp>
        <p:nvSpPr>
          <p:cNvPr id="41" name="Text 38"/>
          <p:cNvSpPr/>
          <p:nvPr/>
        </p:nvSpPr>
        <p:spPr>
          <a:xfrm>
            <a:off x="8621992" y="2912110"/>
            <a:ext cx="2095576"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73%</a:t>
            </a:r>
            <a:endParaRPr lang="en-US" sz="1850"/>
          </a:p>
        </p:txBody>
      </p:sp>
      <p:sp>
        <p:nvSpPr>
          <p:cNvPr id="42" name="Shape 39"/>
          <p:cNvSpPr/>
          <p:nvPr/>
        </p:nvSpPr>
        <p:spPr>
          <a:xfrm>
            <a:off x="533400" y="3340100"/>
            <a:ext cx="3302000" cy="0"/>
          </a:xfrm>
          <a:prstGeom prst="line">
            <a:avLst/>
          </a:prstGeom>
          <a:noFill/>
          <a:ln w="12700">
            <a:solidFill>
              <a:srgbClr val="000000"/>
            </a:solidFill>
            <a:prstDash val="solid"/>
          </a:ln>
        </p:spPr>
        <p:txBody>
          <a:bodyPr/>
          <a:lstStyle/>
          <a:p>
            <a:endParaRPr lang="en-SG"/>
          </a:p>
        </p:txBody>
      </p:sp>
      <p:sp>
        <p:nvSpPr>
          <p:cNvPr id="43" name="Text 40"/>
          <p:cNvSpPr/>
          <p:nvPr/>
        </p:nvSpPr>
        <p:spPr>
          <a:xfrm>
            <a:off x="654050" y="3458210"/>
            <a:ext cx="3152521" cy="35814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Ridge regression</a:t>
            </a:r>
            <a:endParaRPr lang="en-US" sz="2150"/>
          </a:p>
        </p:txBody>
      </p:sp>
      <p:sp>
        <p:nvSpPr>
          <p:cNvPr id="44" name="Shape 41"/>
          <p:cNvSpPr/>
          <p:nvPr/>
        </p:nvSpPr>
        <p:spPr>
          <a:xfrm>
            <a:off x="3835400" y="3340100"/>
            <a:ext cx="1562100" cy="0"/>
          </a:xfrm>
          <a:prstGeom prst="line">
            <a:avLst/>
          </a:prstGeom>
          <a:noFill/>
          <a:ln w="12700">
            <a:solidFill>
              <a:srgbClr val="000000"/>
            </a:solidFill>
            <a:prstDash val="solid"/>
          </a:ln>
        </p:spPr>
        <p:txBody>
          <a:bodyPr/>
          <a:lstStyle/>
          <a:p>
            <a:endParaRPr lang="en-SG"/>
          </a:p>
        </p:txBody>
      </p:sp>
      <p:sp>
        <p:nvSpPr>
          <p:cNvPr id="45" name="Shape 42"/>
          <p:cNvSpPr/>
          <p:nvPr/>
        </p:nvSpPr>
        <p:spPr>
          <a:xfrm>
            <a:off x="3841750" y="3333750"/>
            <a:ext cx="0" cy="571500"/>
          </a:xfrm>
          <a:prstGeom prst="line">
            <a:avLst/>
          </a:prstGeom>
          <a:noFill/>
          <a:ln w="12700">
            <a:solidFill>
              <a:srgbClr val="000000"/>
            </a:solidFill>
            <a:prstDash val="solid"/>
          </a:ln>
        </p:spPr>
        <p:txBody>
          <a:bodyPr/>
          <a:lstStyle/>
          <a:p>
            <a:endParaRPr lang="en-SG"/>
          </a:p>
        </p:txBody>
      </p:sp>
      <p:sp>
        <p:nvSpPr>
          <p:cNvPr id="46" name="Text 43"/>
          <p:cNvSpPr/>
          <p:nvPr/>
        </p:nvSpPr>
        <p:spPr>
          <a:xfrm>
            <a:off x="3940810" y="34836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3.67</a:t>
            </a:r>
            <a:endParaRPr lang="en-US" sz="1850"/>
          </a:p>
        </p:txBody>
      </p:sp>
      <p:sp>
        <p:nvSpPr>
          <p:cNvPr id="47" name="Shape 44"/>
          <p:cNvSpPr/>
          <p:nvPr/>
        </p:nvSpPr>
        <p:spPr>
          <a:xfrm>
            <a:off x="5397500" y="3340100"/>
            <a:ext cx="1562100" cy="0"/>
          </a:xfrm>
          <a:prstGeom prst="line">
            <a:avLst/>
          </a:prstGeom>
          <a:noFill/>
          <a:ln w="12700">
            <a:solidFill>
              <a:srgbClr val="000000"/>
            </a:solidFill>
            <a:prstDash val="solid"/>
          </a:ln>
        </p:spPr>
        <p:txBody>
          <a:bodyPr/>
          <a:lstStyle/>
          <a:p>
            <a:endParaRPr lang="en-SG"/>
          </a:p>
        </p:txBody>
      </p:sp>
      <p:sp>
        <p:nvSpPr>
          <p:cNvPr id="48" name="Shape 45"/>
          <p:cNvSpPr/>
          <p:nvPr/>
        </p:nvSpPr>
        <p:spPr>
          <a:xfrm>
            <a:off x="5403850" y="3333750"/>
            <a:ext cx="0" cy="571500"/>
          </a:xfrm>
          <a:prstGeom prst="line">
            <a:avLst/>
          </a:prstGeom>
          <a:noFill/>
          <a:ln w="12700">
            <a:solidFill>
              <a:srgbClr val="000000"/>
            </a:solidFill>
            <a:prstDash val="solid"/>
          </a:ln>
        </p:spPr>
        <p:txBody>
          <a:bodyPr/>
          <a:lstStyle/>
          <a:p>
            <a:endParaRPr lang="en-SG"/>
          </a:p>
        </p:txBody>
      </p:sp>
      <p:sp>
        <p:nvSpPr>
          <p:cNvPr id="49" name="Text 46"/>
          <p:cNvSpPr/>
          <p:nvPr/>
        </p:nvSpPr>
        <p:spPr>
          <a:xfrm>
            <a:off x="5502910" y="34836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4.64</a:t>
            </a:r>
            <a:endParaRPr lang="en-US" sz="1850"/>
          </a:p>
        </p:txBody>
      </p:sp>
      <p:sp>
        <p:nvSpPr>
          <p:cNvPr id="50" name="Shape 47"/>
          <p:cNvSpPr/>
          <p:nvPr/>
        </p:nvSpPr>
        <p:spPr>
          <a:xfrm>
            <a:off x="6959600" y="3340100"/>
            <a:ext cx="1562100" cy="0"/>
          </a:xfrm>
          <a:prstGeom prst="line">
            <a:avLst/>
          </a:prstGeom>
          <a:noFill/>
          <a:ln w="12700">
            <a:solidFill>
              <a:srgbClr val="000000"/>
            </a:solidFill>
            <a:prstDash val="solid"/>
          </a:ln>
        </p:spPr>
        <p:txBody>
          <a:bodyPr/>
          <a:lstStyle/>
          <a:p>
            <a:endParaRPr lang="en-SG"/>
          </a:p>
        </p:txBody>
      </p:sp>
      <p:sp>
        <p:nvSpPr>
          <p:cNvPr id="51" name="Shape 48"/>
          <p:cNvSpPr/>
          <p:nvPr/>
        </p:nvSpPr>
        <p:spPr>
          <a:xfrm>
            <a:off x="6965950" y="3333750"/>
            <a:ext cx="0" cy="571500"/>
          </a:xfrm>
          <a:prstGeom prst="line">
            <a:avLst/>
          </a:prstGeom>
          <a:noFill/>
          <a:ln w="12700">
            <a:solidFill>
              <a:srgbClr val="000000"/>
            </a:solidFill>
            <a:prstDash val="solid"/>
          </a:ln>
        </p:spPr>
        <p:txBody>
          <a:bodyPr/>
          <a:lstStyle/>
          <a:p>
            <a:endParaRPr lang="en-SG"/>
          </a:p>
        </p:txBody>
      </p:sp>
      <p:sp>
        <p:nvSpPr>
          <p:cNvPr id="52" name="Text 49"/>
          <p:cNvSpPr/>
          <p:nvPr/>
        </p:nvSpPr>
        <p:spPr>
          <a:xfrm>
            <a:off x="7065010" y="34836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0.86</a:t>
            </a:r>
            <a:endParaRPr lang="en-US" sz="1850"/>
          </a:p>
        </p:txBody>
      </p:sp>
      <p:sp>
        <p:nvSpPr>
          <p:cNvPr id="53" name="Shape 50"/>
          <p:cNvSpPr/>
          <p:nvPr/>
        </p:nvSpPr>
        <p:spPr>
          <a:xfrm>
            <a:off x="8521700" y="3340100"/>
            <a:ext cx="2286000" cy="0"/>
          </a:xfrm>
          <a:prstGeom prst="line">
            <a:avLst/>
          </a:prstGeom>
          <a:noFill/>
          <a:ln w="12700">
            <a:solidFill>
              <a:srgbClr val="000000"/>
            </a:solidFill>
            <a:prstDash val="solid"/>
          </a:ln>
        </p:spPr>
        <p:txBody>
          <a:bodyPr/>
          <a:lstStyle/>
          <a:p>
            <a:endParaRPr lang="en-SG"/>
          </a:p>
        </p:txBody>
      </p:sp>
      <p:sp>
        <p:nvSpPr>
          <p:cNvPr id="54" name="Shape 51"/>
          <p:cNvSpPr/>
          <p:nvPr/>
        </p:nvSpPr>
        <p:spPr>
          <a:xfrm>
            <a:off x="8528050" y="3333750"/>
            <a:ext cx="0" cy="571500"/>
          </a:xfrm>
          <a:prstGeom prst="line">
            <a:avLst/>
          </a:prstGeom>
          <a:noFill/>
          <a:ln w="12700">
            <a:solidFill>
              <a:srgbClr val="000000"/>
            </a:solidFill>
            <a:prstDash val="solid"/>
          </a:ln>
        </p:spPr>
        <p:txBody>
          <a:bodyPr/>
          <a:lstStyle/>
          <a:p>
            <a:endParaRPr lang="en-SG"/>
          </a:p>
        </p:txBody>
      </p:sp>
      <p:sp>
        <p:nvSpPr>
          <p:cNvPr id="55" name="Text 52"/>
          <p:cNvSpPr/>
          <p:nvPr/>
        </p:nvSpPr>
        <p:spPr>
          <a:xfrm>
            <a:off x="8621992" y="3483610"/>
            <a:ext cx="2095576"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71%</a:t>
            </a:r>
            <a:endParaRPr lang="en-US" sz="1850"/>
          </a:p>
        </p:txBody>
      </p:sp>
      <p:sp>
        <p:nvSpPr>
          <p:cNvPr id="56" name="Shape 53"/>
          <p:cNvSpPr/>
          <p:nvPr/>
        </p:nvSpPr>
        <p:spPr>
          <a:xfrm>
            <a:off x="533400" y="3911600"/>
            <a:ext cx="3302000" cy="0"/>
          </a:xfrm>
          <a:prstGeom prst="line">
            <a:avLst/>
          </a:prstGeom>
          <a:noFill/>
          <a:ln w="12700">
            <a:solidFill>
              <a:srgbClr val="000000"/>
            </a:solidFill>
            <a:prstDash val="solid"/>
          </a:ln>
        </p:spPr>
        <p:txBody>
          <a:bodyPr/>
          <a:lstStyle/>
          <a:p>
            <a:endParaRPr lang="en-SG"/>
          </a:p>
        </p:txBody>
      </p:sp>
      <p:sp>
        <p:nvSpPr>
          <p:cNvPr id="57" name="Text 54"/>
          <p:cNvSpPr/>
          <p:nvPr/>
        </p:nvSpPr>
        <p:spPr>
          <a:xfrm>
            <a:off x="654050" y="4029710"/>
            <a:ext cx="3152521" cy="35814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Decision tree</a:t>
            </a:r>
            <a:endParaRPr lang="en-US" sz="2150"/>
          </a:p>
        </p:txBody>
      </p:sp>
      <p:sp>
        <p:nvSpPr>
          <p:cNvPr id="58" name="Shape 55"/>
          <p:cNvSpPr/>
          <p:nvPr/>
        </p:nvSpPr>
        <p:spPr>
          <a:xfrm>
            <a:off x="3835400" y="3911600"/>
            <a:ext cx="1562100" cy="0"/>
          </a:xfrm>
          <a:prstGeom prst="line">
            <a:avLst/>
          </a:prstGeom>
          <a:noFill/>
          <a:ln w="12700">
            <a:solidFill>
              <a:srgbClr val="000000"/>
            </a:solidFill>
            <a:prstDash val="solid"/>
          </a:ln>
        </p:spPr>
        <p:txBody>
          <a:bodyPr/>
          <a:lstStyle/>
          <a:p>
            <a:endParaRPr lang="en-SG"/>
          </a:p>
        </p:txBody>
      </p:sp>
      <p:sp>
        <p:nvSpPr>
          <p:cNvPr id="59" name="Shape 56"/>
          <p:cNvSpPr/>
          <p:nvPr/>
        </p:nvSpPr>
        <p:spPr>
          <a:xfrm>
            <a:off x="3841750" y="3905250"/>
            <a:ext cx="0" cy="571500"/>
          </a:xfrm>
          <a:prstGeom prst="line">
            <a:avLst/>
          </a:prstGeom>
          <a:noFill/>
          <a:ln w="12700">
            <a:solidFill>
              <a:srgbClr val="000000"/>
            </a:solidFill>
            <a:prstDash val="solid"/>
          </a:ln>
        </p:spPr>
        <p:txBody>
          <a:bodyPr/>
          <a:lstStyle/>
          <a:p>
            <a:endParaRPr lang="en-SG"/>
          </a:p>
        </p:txBody>
      </p:sp>
      <p:sp>
        <p:nvSpPr>
          <p:cNvPr id="60" name="Text 57"/>
          <p:cNvSpPr/>
          <p:nvPr/>
        </p:nvSpPr>
        <p:spPr>
          <a:xfrm>
            <a:off x="3940810" y="40551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5.91</a:t>
            </a:r>
            <a:endParaRPr lang="en-US" sz="1850"/>
          </a:p>
        </p:txBody>
      </p:sp>
      <p:sp>
        <p:nvSpPr>
          <p:cNvPr id="61" name="Shape 58"/>
          <p:cNvSpPr/>
          <p:nvPr/>
        </p:nvSpPr>
        <p:spPr>
          <a:xfrm>
            <a:off x="5397500" y="3911600"/>
            <a:ext cx="1562100" cy="0"/>
          </a:xfrm>
          <a:prstGeom prst="line">
            <a:avLst/>
          </a:prstGeom>
          <a:noFill/>
          <a:ln w="12700">
            <a:solidFill>
              <a:srgbClr val="000000"/>
            </a:solidFill>
            <a:prstDash val="solid"/>
          </a:ln>
        </p:spPr>
        <p:txBody>
          <a:bodyPr/>
          <a:lstStyle/>
          <a:p>
            <a:endParaRPr lang="en-SG"/>
          </a:p>
        </p:txBody>
      </p:sp>
      <p:sp>
        <p:nvSpPr>
          <p:cNvPr id="62" name="Shape 59"/>
          <p:cNvSpPr/>
          <p:nvPr/>
        </p:nvSpPr>
        <p:spPr>
          <a:xfrm>
            <a:off x="5403850" y="3905250"/>
            <a:ext cx="0" cy="571500"/>
          </a:xfrm>
          <a:prstGeom prst="line">
            <a:avLst/>
          </a:prstGeom>
          <a:noFill/>
          <a:ln w="12700">
            <a:solidFill>
              <a:srgbClr val="000000"/>
            </a:solidFill>
            <a:prstDash val="solid"/>
          </a:ln>
        </p:spPr>
        <p:txBody>
          <a:bodyPr/>
          <a:lstStyle/>
          <a:p>
            <a:endParaRPr lang="en-SG"/>
          </a:p>
        </p:txBody>
      </p:sp>
      <p:sp>
        <p:nvSpPr>
          <p:cNvPr id="63" name="Text 60"/>
          <p:cNvSpPr/>
          <p:nvPr/>
        </p:nvSpPr>
        <p:spPr>
          <a:xfrm>
            <a:off x="5502910" y="40551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6.95</a:t>
            </a:r>
            <a:endParaRPr lang="en-US" sz="1850"/>
          </a:p>
        </p:txBody>
      </p:sp>
      <p:sp>
        <p:nvSpPr>
          <p:cNvPr id="64" name="Shape 61"/>
          <p:cNvSpPr/>
          <p:nvPr/>
        </p:nvSpPr>
        <p:spPr>
          <a:xfrm>
            <a:off x="6959600" y="3911600"/>
            <a:ext cx="1562100" cy="0"/>
          </a:xfrm>
          <a:prstGeom prst="line">
            <a:avLst/>
          </a:prstGeom>
          <a:noFill/>
          <a:ln w="12700">
            <a:solidFill>
              <a:srgbClr val="000000"/>
            </a:solidFill>
            <a:prstDash val="solid"/>
          </a:ln>
        </p:spPr>
        <p:txBody>
          <a:bodyPr/>
          <a:lstStyle/>
          <a:p>
            <a:endParaRPr lang="en-SG"/>
          </a:p>
        </p:txBody>
      </p:sp>
      <p:sp>
        <p:nvSpPr>
          <p:cNvPr id="65" name="Shape 62"/>
          <p:cNvSpPr/>
          <p:nvPr/>
        </p:nvSpPr>
        <p:spPr>
          <a:xfrm>
            <a:off x="6965950" y="3905250"/>
            <a:ext cx="0" cy="571500"/>
          </a:xfrm>
          <a:prstGeom prst="line">
            <a:avLst/>
          </a:prstGeom>
          <a:noFill/>
          <a:ln w="12700">
            <a:solidFill>
              <a:srgbClr val="000000"/>
            </a:solidFill>
            <a:prstDash val="solid"/>
          </a:ln>
        </p:spPr>
        <p:txBody>
          <a:bodyPr/>
          <a:lstStyle/>
          <a:p>
            <a:endParaRPr lang="en-SG"/>
          </a:p>
        </p:txBody>
      </p:sp>
      <p:sp>
        <p:nvSpPr>
          <p:cNvPr id="66" name="Text 63"/>
          <p:cNvSpPr/>
          <p:nvPr/>
        </p:nvSpPr>
        <p:spPr>
          <a:xfrm>
            <a:off x="7065010" y="40551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0.68</a:t>
            </a:r>
            <a:endParaRPr lang="en-US" sz="1850"/>
          </a:p>
        </p:txBody>
      </p:sp>
      <p:sp>
        <p:nvSpPr>
          <p:cNvPr id="67" name="Shape 64"/>
          <p:cNvSpPr/>
          <p:nvPr/>
        </p:nvSpPr>
        <p:spPr>
          <a:xfrm>
            <a:off x="8521700" y="3911600"/>
            <a:ext cx="2286000" cy="0"/>
          </a:xfrm>
          <a:prstGeom prst="line">
            <a:avLst/>
          </a:prstGeom>
          <a:noFill/>
          <a:ln w="12700">
            <a:solidFill>
              <a:srgbClr val="000000"/>
            </a:solidFill>
            <a:prstDash val="solid"/>
          </a:ln>
        </p:spPr>
        <p:txBody>
          <a:bodyPr/>
          <a:lstStyle/>
          <a:p>
            <a:endParaRPr lang="en-SG"/>
          </a:p>
        </p:txBody>
      </p:sp>
      <p:sp>
        <p:nvSpPr>
          <p:cNvPr id="68" name="Shape 65"/>
          <p:cNvSpPr/>
          <p:nvPr/>
        </p:nvSpPr>
        <p:spPr>
          <a:xfrm>
            <a:off x="8528050" y="3905250"/>
            <a:ext cx="0" cy="571500"/>
          </a:xfrm>
          <a:prstGeom prst="line">
            <a:avLst/>
          </a:prstGeom>
          <a:noFill/>
          <a:ln w="12700">
            <a:solidFill>
              <a:srgbClr val="000000"/>
            </a:solidFill>
            <a:prstDash val="solid"/>
          </a:ln>
        </p:spPr>
        <p:txBody>
          <a:bodyPr/>
          <a:lstStyle/>
          <a:p>
            <a:endParaRPr lang="en-SG"/>
          </a:p>
        </p:txBody>
      </p:sp>
      <p:sp>
        <p:nvSpPr>
          <p:cNvPr id="69" name="Text 66"/>
          <p:cNvSpPr/>
          <p:nvPr/>
        </p:nvSpPr>
        <p:spPr>
          <a:xfrm>
            <a:off x="8621992" y="4055110"/>
            <a:ext cx="2095576"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43%</a:t>
            </a:r>
            <a:endParaRPr lang="en-US" sz="1850"/>
          </a:p>
        </p:txBody>
      </p:sp>
      <p:sp>
        <p:nvSpPr>
          <p:cNvPr id="70" name="Shape 67"/>
          <p:cNvSpPr/>
          <p:nvPr/>
        </p:nvSpPr>
        <p:spPr>
          <a:xfrm>
            <a:off x="533400" y="4483100"/>
            <a:ext cx="3302000" cy="0"/>
          </a:xfrm>
          <a:prstGeom prst="line">
            <a:avLst/>
          </a:prstGeom>
          <a:noFill/>
          <a:ln w="12700">
            <a:solidFill>
              <a:srgbClr val="000000"/>
            </a:solidFill>
            <a:prstDash val="solid"/>
          </a:ln>
        </p:spPr>
        <p:txBody>
          <a:bodyPr/>
          <a:lstStyle/>
          <a:p>
            <a:endParaRPr lang="en-SG"/>
          </a:p>
        </p:txBody>
      </p:sp>
      <p:sp>
        <p:nvSpPr>
          <p:cNvPr id="71" name="Text 68"/>
          <p:cNvSpPr/>
          <p:nvPr/>
        </p:nvSpPr>
        <p:spPr>
          <a:xfrm>
            <a:off x="654050" y="4601210"/>
            <a:ext cx="3152521" cy="35814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Random forest</a:t>
            </a:r>
            <a:endParaRPr lang="en-US" sz="2150"/>
          </a:p>
        </p:txBody>
      </p:sp>
      <p:sp>
        <p:nvSpPr>
          <p:cNvPr id="72" name="Shape 69"/>
          <p:cNvSpPr/>
          <p:nvPr/>
        </p:nvSpPr>
        <p:spPr>
          <a:xfrm>
            <a:off x="3835400" y="4483100"/>
            <a:ext cx="1562100" cy="0"/>
          </a:xfrm>
          <a:prstGeom prst="line">
            <a:avLst/>
          </a:prstGeom>
          <a:noFill/>
          <a:ln w="12700">
            <a:solidFill>
              <a:srgbClr val="000000"/>
            </a:solidFill>
            <a:prstDash val="solid"/>
          </a:ln>
        </p:spPr>
        <p:txBody>
          <a:bodyPr/>
          <a:lstStyle/>
          <a:p>
            <a:endParaRPr lang="en-SG"/>
          </a:p>
        </p:txBody>
      </p:sp>
      <p:sp>
        <p:nvSpPr>
          <p:cNvPr id="73" name="Shape 70"/>
          <p:cNvSpPr/>
          <p:nvPr/>
        </p:nvSpPr>
        <p:spPr>
          <a:xfrm>
            <a:off x="3841750" y="4476750"/>
            <a:ext cx="0" cy="571500"/>
          </a:xfrm>
          <a:prstGeom prst="line">
            <a:avLst/>
          </a:prstGeom>
          <a:noFill/>
          <a:ln w="12700">
            <a:solidFill>
              <a:srgbClr val="000000"/>
            </a:solidFill>
            <a:prstDash val="solid"/>
          </a:ln>
        </p:spPr>
        <p:txBody>
          <a:bodyPr/>
          <a:lstStyle/>
          <a:p>
            <a:endParaRPr lang="en-SG"/>
          </a:p>
        </p:txBody>
      </p:sp>
      <p:sp>
        <p:nvSpPr>
          <p:cNvPr id="74" name="Text 71"/>
          <p:cNvSpPr/>
          <p:nvPr/>
        </p:nvSpPr>
        <p:spPr>
          <a:xfrm>
            <a:off x="3940810" y="46266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4.35</a:t>
            </a:r>
            <a:endParaRPr lang="en-US" sz="1850"/>
          </a:p>
        </p:txBody>
      </p:sp>
      <p:sp>
        <p:nvSpPr>
          <p:cNvPr id="75" name="Shape 72"/>
          <p:cNvSpPr/>
          <p:nvPr/>
        </p:nvSpPr>
        <p:spPr>
          <a:xfrm>
            <a:off x="5397500" y="4483100"/>
            <a:ext cx="1562100" cy="0"/>
          </a:xfrm>
          <a:prstGeom prst="line">
            <a:avLst/>
          </a:prstGeom>
          <a:noFill/>
          <a:ln w="12700">
            <a:solidFill>
              <a:srgbClr val="000000"/>
            </a:solidFill>
            <a:prstDash val="solid"/>
          </a:ln>
        </p:spPr>
        <p:txBody>
          <a:bodyPr/>
          <a:lstStyle/>
          <a:p>
            <a:endParaRPr lang="en-SG"/>
          </a:p>
        </p:txBody>
      </p:sp>
      <p:sp>
        <p:nvSpPr>
          <p:cNvPr id="76" name="Shape 73"/>
          <p:cNvSpPr/>
          <p:nvPr/>
        </p:nvSpPr>
        <p:spPr>
          <a:xfrm>
            <a:off x="5403850" y="4476750"/>
            <a:ext cx="0" cy="571500"/>
          </a:xfrm>
          <a:prstGeom prst="line">
            <a:avLst/>
          </a:prstGeom>
          <a:noFill/>
          <a:ln w="12700">
            <a:solidFill>
              <a:srgbClr val="000000"/>
            </a:solidFill>
            <a:prstDash val="solid"/>
          </a:ln>
        </p:spPr>
        <p:txBody>
          <a:bodyPr/>
          <a:lstStyle/>
          <a:p>
            <a:endParaRPr lang="en-SG"/>
          </a:p>
        </p:txBody>
      </p:sp>
      <p:sp>
        <p:nvSpPr>
          <p:cNvPr id="77" name="Text 74"/>
          <p:cNvSpPr/>
          <p:nvPr/>
        </p:nvSpPr>
        <p:spPr>
          <a:xfrm>
            <a:off x="5502910" y="46266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5.40</a:t>
            </a:r>
            <a:endParaRPr lang="en-US" sz="1850"/>
          </a:p>
        </p:txBody>
      </p:sp>
      <p:sp>
        <p:nvSpPr>
          <p:cNvPr id="78" name="Shape 75"/>
          <p:cNvSpPr/>
          <p:nvPr/>
        </p:nvSpPr>
        <p:spPr>
          <a:xfrm>
            <a:off x="6959600" y="4483100"/>
            <a:ext cx="1562100" cy="0"/>
          </a:xfrm>
          <a:prstGeom prst="line">
            <a:avLst/>
          </a:prstGeom>
          <a:noFill/>
          <a:ln w="12700">
            <a:solidFill>
              <a:srgbClr val="000000"/>
            </a:solidFill>
            <a:prstDash val="solid"/>
          </a:ln>
        </p:spPr>
        <p:txBody>
          <a:bodyPr/>
          <a:lstStyle/>
          <a:p>
            <a:endParaRPr lang="en-SG"/>
          </a:p>
        </p:txBody>
      </p:sp>
      <p:sp>
        <p:nvSpPr>
          <p:cNvPr id="79" name="Shape 76"/>
          <p:cNvSpPr/>
          <p:nvPr/>
        </p:nvSpPr>
        <p:spPr>
          <a:xfrm>
            <a:off x="6965950" y="4476750"/>
            <a:ext cx="0" cy="571500"/>
          </a:xfrm>
          <a:prstGeom prst="line">
            <a:avLst/>
          </a:prstGeom>
          <a:noFill/>
          <a:ln w="12700">
            <a:solidFill>
              <a:srgbClr val="000000"/>
            </a:solidFill>
            <a:prstDash val="solid"/>
          </a:ln>
        </p:spPr>
        <p:txBody>
          <a:bodyPr/>
          <a:lstStyle/>
          <a:p>
            <a:endParaRPr lang="en-SG"/>
          </a:p>
        </p:txBody>
      </p:sp>
      <p:sp>
        <p:nvSpPr>
          <p:cNvPr id="80" name="Text 77"/>
          <p:cNvSpPr/>
          <p:nvPr/>
        </p:nvSpPr>
        <p:spPr>
          <a:xfrm>
            <a:off x="7065010" y="4626610"/>
            <a:ext cx="13614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0.81</a:t>
            </a:r>
            <a:endParaRPr lang="en-US" sz="1850"/>
          </a:p>
        </p:txBody>
      </p:sp>
      <p:sp>
        <p:nvSpPr>
          <p:cNvPr id="81" name="Shape 78"/>
          <p:cNvSpPr/>
          <p:nvPr/>
        </p:nvSpPr>
        <p:spPr>
          <a:xfrm>
            <a:off x="8521700" y="4483100"/>
            <a:ext cx="2286000" cy="0"/>
          </a:xfrm>
          <a:prstGeom prst="line">
            <a:avLst/>
          </a:prstGeom>
          <a:noFill/>
          <a:ln w="12700">
            <a:solidFill>
              <a:srgbClr val="000000"/>
            </a:solidFill>
            <a:prstDash val="solid"/>
          </a:ln>
        </p:spPr>
        <p:txBody>
          <a:bodyPr/>
          <a:lstStyle/>
          <a:p>
            <a:endParaRPr lang="en-SG"/>
          </a:p>
        </p:txBody>
      </p:sp>
      <p:sp>
        <p:nvSpPr>
          <p:cNvPr id="82" name="Shape 79"/>
          <p:cNvSpPr/>
          <p:nvPr/>
        </p:nvSpPr>
        <p:spPr>
          <a:xfrm>
            <a:off x="8528050" y="4476750"/>
            <a:ext cx="0" cy="571500"/>
          </a:xfrm>
          <a:prstGeom prst="line">
            <a:avLst/>
          </a:prstGeom>
          <a:noFill/>
          <a:ln w="12700">
            <a:solidFill>
              <a:srgbClr val="000000"/>
            </a:solidFill>
            <a:prstDash val="solid"/>
          </a:ln>
        </p:spPr>
        <p:txBody>
          <a:bodyPr/>
          <a:lstStyle/>
          <a:p>
            <a:endParaRPr lang="en-SG"/>
          </a:p>
        </p:txBody>
      </p:sp>
      <p:sp>
        <p:nvSpPr>
          <p:cNvPr id="83" name="Text 80"/>
          <p:cNvSpPr/>
          <p:nvPr/>
        </p:nvSpPr>
        <p:spPr>
          <a:xfrm>
            <a:off x="8621992" y="4626610"/>
            <a:ext cx="2095576"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65%</a:t>
            </a:r>
            <a:endParaRPr lang="en-US" sz="1850"/>
          </a:p>
        </p:txBody>
      </p:sp>
      <p:sp>
        <p:nvSpPr>
          <p:cNvPr id="84" name="Text 81"/>
          <p:cNvSpPr/>
          <p:nvPr/>
        </p:nvSpPr>
        <p:spPr>
          <a:xfrm>
            <a:off x="654050" y="5111750"/>
            <a:ext cx="10333990" cy="467360"/>
          </a:xfrm>
          <a:prstGeom prst="rect">
            <a:avLst/>
          </a:prstGeom>
          <a:noFill/>
          <a:ln/>
        </p:spPr>
        <p:txBody>
          <a:bodyPr wrap="square" lIns="0" tIns="0" rIns="0" bIns="0" rtlCol="0" anchor="t">
            <a:noAutofit/>
          </a:bodyPr>
          <a:lstStyle/>
          <a:p>
            <a:r>
              <a:rPr lang="en-US" sz="1450">
                <a:solidFill>
                  <a:srgbClr val="000000"/>
                </a:solidFill>
                <a:ea typeface="+mn-lt"/>
                <a:cs typeface="+mn-lt"/>
              </a:rPr>
              <a:t>Four models tested against an average-only baseline (five-fold cross-validation, repeated three times). </a:t>
            </a:r>
          </a:p>
          <a:p>
            <a:r>
              <a:rPr lang="en-US" sz="1450">
                <a:solidFill>
                  <a:srgbClr val="000000"/>
                </a:solidFill>
                <a:ea typeface="+mn-lt"/>
                <a:cs typeface="+mn-lt"/>
              </a:rPr>
              <a:t>Linear Regression performed best: about 3.7 points from actual trust on average (MAE), and it captures most of the pattern in trust across countries (R² = 0.86). Ridge performed similarly, so Linear was chosen for simplicity.</a:t>
            </a:r>
            <a:endParaRPr lang="en-US" sz="1450">
              <a:ea typeface="Albert Sans"/>
            </a:endParaRPr>
          </a:p>
          <a:p>
            <a:pPr>
              <a:lnSpc>
                <a:spcPts val="1739"/>
              </a:lnSpc>
            </a:pPr>
            <a:endParaRPr lang="en-US" sz="1450">
              <a:ea typeface="Albert Sans"/>
            </a:endParaRPr>
          </a:p>
        </p:txBody>
      </p:sp>
      <p:sp>
        <p:nvSpPr>
          <p:cNvPr id="85" name="Text 82"/>
          <p:cNvSpPr/>
          <p:nvPr/>
        </p:nvSpPr>
        <p:spPr>
          <a:xfrm>
            <a:off x="6762750" y="6019800"/>
            <a:ext cx="3924300" cy="269240"/>
          </a:xfrm>
          <a:prstGeom prst="rect">
            <a:avLst/>
          </a:prstGeom>
          <a:noFill/>
          <a:ln/>
        </p:spPr>
        <p:txBody>
          <a:bodyPr wrap="square" lIns="0" tIns="0" rIns="0" bIns="0" rtlCol="0" anchor="t">
            <a:normAutofit/>
          </a:bodyPr>
          <a:lstStyle/>
          <a:p>
            <a:pPr algn="r"/>
            <a:r>
              <a:rPr lang="en-US" sz="1600" b="1">
                <a:solidFill>
                  <a:srgbClr val="000000"/>
                </a:solidFill>
                <a:ea typeface="+mn-lt"/>
                <a:cs typeface="+mn-lt"/>
              </a:rPr>
              <a:t>[</a:t>
            </a:r>
            <a:r>
              <a:rPr lang="en-US" sz="1600" b="1" err="1">
                <a:solidFill>
                  <a:srgbClr val="000000"/>
                </a:solidFill>
                <a:ea typeface="+mn-lt"/>
                <a:cs typeface="+mn-lt"/>
              </a:rPr>
              <a:t>Kaitwatcharachai</a:t>
            </a:r>
            <a:r>
              <a:rPr lang="en-US" sz="1600" b="1">
                <a:solidFill>
                  <a:srgbClr val="000000"/>
                </a:solidFill>
                <a:ea typeface="+mn-lt"/>
                <a:cs typeface="+mn-lt"/>
              </a:rPr>
              <a:t> </a:t>
            </a:r>
            <a:r>
              <a:rPr lang="en-US" sz="1600" b="1" err="1">
                <a:solidFill>
                  <a:srgbClr val="000000"/>
                </a:solidFill>
                <a:ea typeface="+mn-lt"/>
                <a:cs typeface="+mn-lt"/>
              </a:rPr>
              <a:t>Onnicha</a:t>
            </a:r>
            <a:r>
              <a:rPr lang="en-US" sz="1600" b="1">
                <a:solidFill>
                  <a:srgbClr val="000000"/>
                </a:solidFill>
                <a:ea typeface="+mn-lt"/>
                <a:cs typeface="+mn-lt"/>
              </a:rPr>
              <a:t>]</a:t>
            </a:r>
          </a:p>
          <a:p>
            <a:pPr marL="0" indent="0" algn="r">
              <a:lnSpc>
                <a:spcPts val="1920"/>
              </a:lnSpc>
              <a:buNone/>
            </a:pPr>
            <a:endParaRPr lang="en-US" sz="1600" b="1">
              <a:latin typeface="Anybody"/>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Prediction accuracy</a:t>
            </a:r>
            <a:endParaRPr lang="en-US" sz="4000"/>
          </a:p>
        </p:txBody>
      </p:sp>
      <p:sp>
        <p:nvSpPr>
          <p:cNvPr id="5" name="Text 2"/>
          <p:cNvSpPr/>
          <p:nvPr/>
        </p:nvSpPr>
        <p:spPr>
          <a:xfrm>
            <a:off x="654050" y="1765939"/>
            <a:ext cx="4584891" cy="1244600"/>
          </a:xfrm>
          <a:prstGeom prst="rect">
            <a:avLst/>
          </a:prstGeom>
          <a:noFill/>
          <a:ln/>
        </p:spPr>
        <p:txBody>
          <a:bodyPr wrap="none" lIns="0" tIns="0" rIns="0" bIns="0" rtlCol="0" anchor="t">
            <a:normAutofit/>
          </a:bodyPr>
          <a:lstStyle/>
          <a:p>
            <a:pPr marL="0" indent="0" algn="l">
              <a:lnSpc>
                <a:spcPts val="9600"/>
              </a:lnSpc>
              <a:buNone/>
            </a:pPr>
            <a:r>
              <a:rPr lang="en-US" sz="8000" b="1">
                <a:solidFill>
                  <a:srgbClr val="000000"/>
                </a:solidFill>
                <a:latin typeface="Anybody" pitchFamily="34" charset="0"/>
                <a:ea typeface="Anybody" pitchFamily="34" charset="-122"/>
                <a:cs typeface="Anybody" pitchFamily="34" charset="-120"/>
              </a:rPr>
              <a:t>35 of 47</a:t>
            </a:r>
            <a:endParaRPr lang="en-US" sz="8000"/>
          </a:p>
        </p:txBody>
      </p:sp>
      <p:sp>
        <p:nvSpPr>
          <p:cNvPr id="6" name="Text 3"/>
          <p:cNvSpPr/>
          <p:nvPr/>
        </p:nvSpPr>
        <p:spPr>
          <a:xfrm>
            <a:off x="664633" y="2999956"/>
            <a:ext cx="4690724" cy="523663"/>
          </a:xfrm>
          <a:prstGeom prst="rect">
            <a:avLst/>
          </a:prstGeom>
          <a:noFill/>
          <a:ln/>
        </p:spPr>
        <p:txBody>
          <a:bodyPr wrap="square" lIns="0" tIns="0" rIns="0" bIns="0" rtlCol="0" anchor="t">
            <a:normAutofit/>
          </a:bodyPr>
          <a:lstStyle/>
          <a:p>
            <a:pPr>
              <a:lnSpc>
                <a:spcPts val="1920"/>
              </a:lnSpc>
            </a:pPr>
            <a:r>
              <a:rPr lang="en-US" sz="1600">
                <a:solidFill>
                  <a:srgbClr val="000000"/>
                </a:solidFill>
                <a:latin typeface="Albert Sans"/>
                <a:ea typeface="Albert Sans"/>
                <a:cs typeface="Albert Sans" pitchFamily="34" charset="-120"/>
              </a:rPr>
              <a:t>countries predicted within five percentage points of actual trust vs </a:t>
            </a:r>
            <a:r>
              <a:rPr lang="en-US" sz="1600" b="1" i="1">
                <a:solidFill>
                  <a:srgbClr val="000000"/>
                </a:solidFill>
                <a:latin typeface="Albert Sans"/>
                <a:ea typeface="Albert Sans"/>
                <a:cs typeface="Albert Sans" pitchFamily="34" charset="-120"/>
              </a:rPr>
              <a:t>13 of 47</a:t>
            </a:r>
            <a:r>
              <a:rPr lang="en-US" sz="1600">
                <a:solidFill>
                  <a:srgbClr val="000000"/>
                </a:solidFill>
                <a:latin typeface="Albert Sans"/>
                <a:ea typeface="Albert Sans"/>
                <a:cs typeface="Albert Sans" pitchFamily="34" charset="-120"/>
              </a:rPr>
              <a:t> in average baseline </a:t>
            </a:r>
            <a:endParaRPr lang="en-US" sz="1600">
              <a:latin typeface="Albert Sans"/>
            </a:endParaRPr>
          </a:p>
        </p:txBody>
      </p:sp>
      <p:sp>
        <p:nvSpPr>
          <p:cNvPr id="7" name="Shape 4"/>
          <p:cNvSpPr/>
          <p:nvPr/>
        </p:nvSpPr>
        <p:spPr>
          <a:xfrm>
            <a:off x="660400" y="3695067"/>
            <a:ext cx="4432300" cy="311150"/>
          </a:xfrm>
          <a:prstGeom prst="rect">
            <a:avLst/>
          </a:prstGeom>
          <a:noFill/>
          <a:ln w="12700">
            <a:solidFill>
              <a:srgbClr val="000000"/>
            </a:solidFill>
            <a:prstDash val="solid"/>
          </a:ln>
        </p:spPr>
        <p:txBody>
          <a:bodyPr/>
          <a:lstStyle/>
          <a:p>
            <a:endParaRPr lang="en-SG"/>
          </a:p>
        </p:txBody>
      </p:sp>
      <p:sp>
        <p:nvSpPr>
          <p:cNvPr id="8" name="Shape 5"/>
          <p:cNvSpPr/>
          <p:nvPr/>
        </p:nvSpPr>
        <p:spPr>
          <a:xfrm>
            <a:off x="664210" y="3698875"/>
            <a:ext cx="3289300" cy="303530"/>
          </a:xfrm>
          <a:prstGeom prst="rect">
            <a:avLst/>
          </a:prstGeom>
          <a:solidFill>
            <a:srgbClr val="207368"/>
          </a:solidFill>
          <a:ln/>
        </p:spPr>
        <p:txBody>
          <a:bodyPr/>
          <a:lstStyle/>
          <a:p>
            <a:endParaRPr lang="en-SG"/>
          </a:p>
        </p:txBody>
      </p:sp>
      <p:sp>
        <p:nvSpPr>
          <p:cNvPr id="9" name="Shape 6"/>
          <p:cNvSpPr/>
          <p:nvPr/>
        </p:nvSpPr>
        <p:spPr>
          <a:xfrm>
            <a:off x="3953510" y="3698875"/>
            <a:ext cx="749300" cy="303530"/>
          </a:xfrm>
          <a:prstGeom prst="rect">
            <a:avLst/>
          </a:prstGeom>
          <a:solidFill>
            <a:srgbClr val="9EC0BE"/>
          </a:solidFill>
          <a:ln/>
        </p:spPr>
        <p:txBody>
          <a:bodyPr/>
          <a:lstStyle/>
          <a:p>
            <a:endParaRPr lang="en-SG"/>
          </a:p>
        </p:txBody>
      </p:sp>
      <p:sp>
        <p:nvSpPr>
          <p:cNvPr id="10" name="Shape 7"/>
          <p:cNvSpPr/>
          <p:nvPr/>
        </p:nvSpPr>
        <p:spPr>
          <a:xfrm>
            <a:off x="3959860" y="3698875"/>
            <a:ext cx="0" cy="303530"/>
          </a:xfrm>
          <a:prstGeom prst="line">
            <a:avLst/>
          </a:prstGeom>
          <a:noFill/>
          <a:ln w="12700">
            <a:solidFill>
              <a:srgbClr val="000000"/>
            </a:solidFill>
            <a:prstDash val="solid"/>
          </a:ln>
        </p:spPr>
        <p:txBody>
          <a:bodyPr/>
          <a:lstStyle/>
          <a:p>
            <a:endParaRPr lang="en-SG"/>
          </a:p>
        </p:txBody>
      </p:sp>
      <p:sp>
        <p:nvSpPr>
          <p:cNvPr id="11" name="Shape 8"/>
          <p:cNvSpPr/>
          <p:nvPr/>
        </p:nvSpPr>
        <p:spPr>
          <a:xfrm>
            <a:off x="4702810" y="3698875"/>
            <a:ext cx="386080" cy="303530"/>
          </a:xfrm>
          <a:prstGeom prst="rect">
            <a:avLst/>
          </a:prstGeom>
          <a:solidFill>
            <a:srgbClr val="B185B4"/>
          </a:solidFill>
          <a:ln/>
        </p:spPr>
        <p:txBody>
          <a:bodyPr/>
          <a:lstStyle/>
          <a:p>
            <a:endParaRPr lang="en-SG"/>
          </a:p>
        </p:txBody>
      </p:sp>
      <p:sp>
        <p:nvSpPr>
          <p:cNvPr id="12" name="Shape 9"/>
          <p:cNvSpPr/>
          <p:nvPr/>
        </p:nvSpPr>
        <p:spPr>
          <a:xfrm>
            <a:off x="4709160" y="3698875"/>
            <a:ext cx="0" cy="303530"/>
          </a:xfrm>
          <a:prstGeom prst="line">
            <a:avLst/>
          </a:prstGeom>
          <a:noFill/>
          <a:ln w="12700">
            <a:solidFill>
              <a:srgbClr val="000000"/>
            </a:solidFill>
            <a:prstDash val="solid"/>
          </a:ln>
        </p:spPr>
        <p:txBody>
          <a:bodyPr/>
          <a:lstStyle/>
          <a:p>
            <a:endParaRPr lang="en-SG"/>
          </a:p>
        </p:txBody>
      </p:sp>
      <p:sp>
        <p:nvSpPr>
          <p:cNvPr id="13" name="Shape 10"/>
          <p:cNvSpPr/>
          <p:nvPr/>
        </p:nvSpPr>
        <p:spPr>
          <a:xfrm>
            <a:off x="660400" y="4207514"/>
            <a:ext cx="196850" cy="196850"/>
          </a:xfrm>
          <a:prstGeom prst="rect">
            <a:avLst/>
          </a:prstGeom>
          <a:solidFill>
            <a:srgbClr val="207368"/>
          </a:solidFill>
          <a:ln w="12700">
            <a:solidFill>
              <a:srgbClr val="000000"/>
            </a:solidFill>
            <a:prstDash val="solid"/>
          </a:ln>
        </p:spPr>
        <p:txBody>
          <a:bodyPr/>
          <a:lstStyle/>
          <a:p>
            <a:endParaRPr lang="en-SG"/>
          </a:p>
        </p:txBody>
      </p:sp>
      <p:sp>
        <p:nvSpPr>
          <p:cNvPr id="14" name="Text 11"/>
          <p:cNvSpPr/>
          <p:nvPr/>
        </p:nvSpPr>
        <p:spPr>
          <a:xfrm>
            <a:off x="990600" y="4164967"/>
            <a:ext cx="2532602"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35 within 5 points</a:t>
            </a:r>
            <a:endParaRPr lang="en-US" sz="1850"/>
          </a:p>
        </p:txBody>
      </p:sp>
      <p:sp>
        <p:nvSpPr>
          <p:cNvPr id="15" name="Shape 12"/>
          <p:cNvSpPr/>
          <p:nvPr/>
        </p:nvSpPr>
        <p:spPr>
          <a:xfrm>
            <a:off x="660400" y="4552950"/>
            <a:ext cx="196850" cy="196850"/>
          </a:xfrm>
          <a:prstGeom prst="rect">
            <a:avLst/>
          </a:prstGeom>
          <a:solidFill>
            <a:srgbClr val="9EC0BE"/>
          </a:solidFill>
          <a:ln w="12700">
            <a:solidFill>
              <a:srgbClr val="000000"/>
            </a:solidFill>
            <a:prstDash val="solid"/>
          </a:ln>
        </p:spPr>
        <p:txBody>
          <a:bodyPr/>
          <a:lstStyle/>
          <a:p>
            <a:endParaRPr lang="en-SG"/>
          </a:p>
        </p:txBody>
      </p:sp>
      <p:sp>
        <p:nvSpPr>
          <p:cNvPr id="16" name="Text 13"/>
          <p:cNvSpPr/>
          <p:nvPr/>
        </p:nvSpPr>
        <p:spPr>
          <a:xfrm>
            <a:off x="990600" y="4510404"/>
            <a:ext cx="3592544"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8 between 5 and 8 points</a:t>
            </a:r>
            <a:endParaRPr lang="en-US" sz="1850"/>
          </a:p>
        </p:txBody>
      </p:sp>
      <p:sp>
        <p:nvSpPr>
          <p:cNvPr id="17" name="Shape 14"/>
          <p:cNvSpPr/>
          <p:nvPr/>
        </p:nvSpPr>
        <p:spPr>
          <a:xfrm>
            <a:off x="660400" y="4898392"/>
            <a:ext cx="196850" cy="196850"/>
          </a:xfrm>
          <a:prstGeom prst="rect">
            <a:avLst/>
          </a:prstGeom>
          <a:solidFill>
            <a:srgbClr val="B185B4"/>
          </a:solidFill>
          <a:ln w="12700">
            <a:solidFill>
              <a:srgbClr val="000000"/>
            </a:solidFill>
            <a:prstDash val="solid"/>
          </a:ln>
        </p:spPr>
        <p:txBody>
          <a:bodyPr/>
          <a:lstStyle/>
          <a:p>
            <a:endParaRPr lang="en-SG"/>
          </a:p>
        </p:txBody>
      </p:sp>
      <p:sp>
        <p:nvSpPr>
          <p:cNvPr id="18" name="Text 15"/>
          <p:cNvSpPr/>
          <p:nvPr/>
        </p:nvSpPr>
        <p:spPr>
          <a:xfrm>
            <a:off x="990600" y="4855846"/>
            <a:ext cx="2166366"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4 over 8 points</a:t>
            </a:r>
            <a:endParaRPr lang="en-US" sz="1850"/>
          </a:p>
        </p:txBody>
      </p:sp>
      <p:sp>
        <p:nvSpPr>
          <p:cNvPr id="19" name="Text 16"/>
          <p:cNvSpPr/>
          <p:nvPr/>
        </p:nvSpPr>
        <p:spPr>
          <a:xfrm>
            <a:off x="5734050" y="1765939"/>
            <a:ext cx="5101590"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Largest misses</a:t>
            </a:r>
            <a:endParaRPr lang="en-US" sz="2650"/>
          </a:p>
        </p:txBody>
      </p:sp>
      <p:sp>
        <p:nvSpPr>
          <p:cNvPr id="20" name="Text 17"/>
          <p:cNvSpPr/>
          <p:nvPr/>
        </p:nvSpPr>
        <p:spPr>
          <a:xfrm>
            <a:off x="5734050" y="2385696"/>
            <a:ext cx="1831340" cy="35306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Country</a:t>
            </a:r>
            <a:endParaRPr lang="en-US" sz="2150"/>
          </a:p>
        </p:txBody>
      </p:sp>
      <p:sp>
        <p:nvSpPr>
          <p:cNvPr id="21" name="Shape 18"/>
          <p:cNvSpPr/>
          <p:nvPr/>
        </p:nvSpPr>
        <p:spPr>
          <a:xfrm>
            <a:off x="7639050" y="2271396"/>
            <a:ext cx="0" cy="556260"/>
          </a:xfrm>
          <a:prstGeom prst="line">
            <a:avLst/>
          </a:prstGeom>
          <a:noFill/>
          <a:ln w="12700">
            <a:solidFill>
              <a:srgbClr val="000000"/>
            </a:solidFill>
            <a:prstDash val="solid"/>
          </a:ln>
        </p:spPr>
        <p:txBody>
          <a:bodyPr/>
          <a:lstStyle/>
          <a:p>
            <a:endParaRPr lang="en-SG"/>
          </a:p>
        </p:txBody>
      </p:sp>
      <p:sp>
        <p:nvSpPr>
          <p:cNvPr id="22" name="Text 19"/>
          <p:cNvSpPr/>
          <p:nvPr/>
        </p:nvSpPr>
        <p:spPr>
          <a:xfrm>
            <a:off x="7738110" y="2385696"/>
            <a:ext cx="1196340" cy="353060"/>
          </a:xfrm>
          <a:prstGeom prst="rect">
            <a:avLst/>
          </a:prstGeom>
          <a:noFill/>
          <a:ln/>
        </p:spPr>
        <p:txBody>
          <a:bodyPr wrap="square" lIns="0" tIns="0" rIns="0" bIns="0" rtlCol="0" anchor="t">
            <a:normAutofit/>
          </a:bodyPr>
          <a:lstStyle/>
          <a:p>
            <a:pPr marL="0" indent="0" algn="ctr">
              <a:lnSpc>
                <a:spcPts val="2580"/>
              </a:lnSpc>
              <a:buNone/>
            </a:pPr>
            <a:r>
              <a:rPr lang="en-US" sz="2150" b="1">
                <a:solidFill>
                  <a:srgbClr val="000000"/>
                </a:solidFill>
                <a:latin typeface="Anybody" pitchFamily="34" charset="0"/>
                <a:ea typeface="Anybody" pitchFamily="34" charset="-122"/>
                <a:cs typeface="Anybody" pitchFamily="34" charset="-120"/>
              </a:rPr>
              <a:t>Actual</a:t>
            </a:r>
            <a:endParaRPr lang="en-US" sz="2150"/>
          </a:p>
        </p:txBody>
      </p:sp>
      <p:sp>
        <p:nvSpPr>
          <p:cNvPr id="23" name="Shape 20"/>
          <p:cNvSpPr/>
          <p:nvPr/>
        </p:nvSpPr>
        <p:spPr>
          <a:xfrm>
            <a:off x="9036050" y="2271396"/>
            <a:ext cx="0" cy="556260"/>
          </a:xfrm>
          <a:prstGeom prst="line">
            <a:avLst/>
          </a:prstGeom>
          <a:noFill/>
          <a:ln w="12700">
            <a:solidFill>
              <a:srgbClr val="000000"/>
            </a:solidFill>
            <a:prstDash val="solid"/>
          </a:ln>
        </p:spPr>
        <p:txBody>
          <a:bodyPr/>
          <a:lstStyle/>
          <a:p>
            <a:endParaRPr lang="en-SG"/>
          </a:p>
        </p:txBody>
      </p:sp>
      <p:sp>
        <p:nvSpPr>
          <p:cNvPr id="24" name="Text 21"/>
          <p:cNvSpPr/>
          <p:nvPr/>
        </p:nvSpPr>
        <p:spPr>
          <a:xfrm>
            <a:off x="9135110" y="2385696"/>
            <a:ext cx="1577340" cy="353060"/>
          </a:xfrm>
          <a:prstGeom prst="rect">
            <a:avLst/>
          </a:prstGeom>
          <a:noFill/>
          <a:ln/>
        </p:spPr>
        <p:txBody>
          <a:bodyPr wrap="square" lIns="0" tIns="0" rIns="0" bIns="0" rtlCol="0" anchor="t">
            <a:normAutofit/>
          </a:bodyPr>
          <a:lstStyle/>
          <a:p>
            <a:pPr marL="0" indent="0" algn="ctr">
              <a:lnSpc>
                <a:spcPts val="2580"/>
              </a:lnSpc>
              <a:buNone/>
            </a:pPr>
            <a:r>
              <a:rPr lang="en-US" sz="2150" b="1">
                <a:solidFill>
                  <a:srgbClr val="000000"/>
                </a:solidFill>
                <a:latin typeface="Anybody" pitchFamily="34" charset="0"/>
                <a:ea typeface="Anybody" pitchFamily="34" charset="-122"/>
                <a:cs typeface="Anybody" pitchFamily="34" charset="-120"/>
              </a:rPr>
              <a:t>Predicted</a:t>
            </a:r>
            <a:endParaRPr lang="en-US" sz="2150"/>
          </a:p>
        </p:txBody>
      </p:sp>
      <p:sp>
        <p:nvSpPr>
          <p:cNvPr id="25" name="Shape 22"/>
          <p:cNvSpPr/>
          <p:nvPr/>
        </p:nvSpPr>
        <p:spPr>
          <a:xfrm>
            <a:off x="5613400" y="2834004"/>
            <a:ext cx="2019300" cy="0"/>
          </a:xfrm>
          <a:prstGeom prst="line">
            <a:avLst/>
          </a:prstGeom>
          <a:noFill/>
          <a:ln w="12700">
            <a:solidFill>
              <a:srgbClr val="000000"/>
            </a:solidFill>
            <a:prstDash val="solid"/>
          </a:ln>
        </p:spPr>
        <p:txBody>
          <a:bodyPr/>
          <a:lstStyle/>
          <a:p>
            <a:endParaRPr lang="en-SG"/>
          </a:p>
        </p:txBody>
      </p:sp>
      <p:sp>
        <p:nvSpPr>
          <p:cNvPr id="26" name="Text 23"/>
          <p:cNvSpPr/>
          <p:nvPr/>
        </p:nvSpPr>
        <p:spPr>
          <a:xfrm>
            <a:off x="5734050" y="2952114"/>
            <a:ext cx="1831340" cy="35814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Lithuania</a:t>
            </a:r>
            <a:endParaRPr lang="en-US" sz="2150"/>
          </a:p>
        </p:txBody>
      </p:sp>
      <p:sp>
        <p:nvSpPr>
          <p:cNvPr id="27" name="Shape 24"/>
          <p:cNvSpPr/>
          <p:nvPr/>
        </p:nvSpPr>
        <p:spPr>
          <a:xfrm>
            <a:off x="7632700" y="2834004"/>
            <a:ext cx="1397000" cy="0"/>
          </a:xfrm>
          <a:prstGeom prst="line">
            <a:avLst/>
          </a:prstGeom>
          <a:noFill/>
          <a:ln w="12700">
            <a:solidFill>
              <a:srgbClr val="000000"/>
            </a:solidFill>
            <a:prstDash val="solid"/>
          </a:ln>
        </p:spPr>
        <p:txBody>
          <a:bodyPr/>
          <a:lstStyle/>
          <a:p>
            <a:endParaRPr lang="en-SG"/>
          </a:p>
        </p:txBody>
      </p:sp>
      <p:sp>
        <p:nvSpPr>
          <p:cNvPr id="28" name="Shape 25"/>
          <p:cNvSpPr/>
          <p:nvPr/>
        </p:nvSpPr>
        <p:spPr>
          <a:xfrm>
            <a:off x="7639050" y="2827654"/>
            <a:ext cx="0" cy="571500"/>
          </a:xfrm>
          <a:prstGeom prst="line">
            <a:avLst/>
          </a:prstGeom>
          <a:noFill/>
          <a:ln w="12700">
            <a:solidFill>
              <a:srgbClr val="000000"/>
            </a:solidFill>
            <a:prstDash val="solid"/>
          </a:ln>
        </p:spPr>
        <p:txBody>
          <a:bodyPr/>
          <a:lstStyle/>
          <a:p>
            <a:endParaRPr lang="en-SG"/>
          </a:p>
        </p:txBody>
      </p:sp>
      <p:sp>
        <p:nvSpPr>
          <p:cNvPr id="29" name="Text 26"/>
          <p:cNvSpPr/>
          <p:nvPr/>
        </p:nvSpPr>
        <p:spPr>
          <a:xfrm>
            <a:off x="7738110" y="2977514"/>
            <a:ext cx="11963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34%</a:t>
            </a:r>
            <a:endParaRPr lang="en-US" sz="1850"/>
          </a:p>
        </p:txBody>
      </p:sp>
      <p:sp>
        <p:nvSpPr>
          <p:cNvPr id="30" name="Shape 27"/>
          <p:cNvSpPr/>
          <p:nvPr/>
        </p:nvSpPr>
        <p:spPr>
          <a:xfrm>
            <a:off x="9029700" y="2834004"/>
            <a:ext cx="1778000" cy="0"/>
          </a:xfrm>
          <a:prstGeom prst="line">
            <a:avLst/>
          </a:prstGeom>
          <a:noFill/>
          <a:ln w="12700">
            <a:solidFill>
              <a:srgbClr val="000000"/>
            </a:solidFill>
            <a:prstDash val="solid"/>
          </a:ln>
        </p:spPr>
        <p:txBody>
          <a:bodyPr/>
          <a:lstStyle/>
          <a:p>
            <a:endParaRPr lang="en-SG"/>
          </a:p>
        </p:txBody>
      </p:sp>
      <p:sp>
        <p:nvSpPr>
          <p:cNvPr id="31" name="Shape 28"/>
          <p:cNvSpPr/>
          <p:nvPr/>
        </p:nvSpPr>
        <p:spPr>
          <a:xfrm>
            <a:off x="9036050" y="2827654"/>
            <a:ext cx="0" cy="571500"/>
          </a:xfrm>
          <a:prstGeom prst="line">
            <a:avLst/>
          </a:prstGeom>
          <a:noFill/>
          <a:ln w="12700">
            <a:solidFill>
              <a:srgbClr val="000000"/>
            </a:solidFill>
            <a:prstDash val="solid"/>
          </a:ln>
        </p:spPr>
        <p:txBody>
          <a:bodyPr/>
          <a:lstStyle/>
          <a:p>
            <a:endParaRPr lang="en-SG"/>
          </a:p>
        </p:txBody>
      </p:sp>
      <p:sp>
        <p:nvSpPr>
          <p:cNvPr id="32" name="Text 29"/>
          <p:cNvSpPr/>
          <p:nvPr/>
        </p:nvSpPr>
        <p:spPr>
          <a:xfrm>
            <a:off x="9135110" y="2977514"/>
            <a:ext cx="15773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47.6%</a:t>
            </a:r>
            <a:endParaRPr lang="en-US" sz="1850"/>
          </a:p>
        </p:txBody>
      </p:sp>
      <p:sp>
        <p:nvSpPr>
          <p:cNvPr id="33" name="Shape 30"/>
          <p:cNvSpPr/>
          <p:nvPr/>
        </p:nvSpPr>
        <p:spPr>
          <a:xfrm>
            <a:off x="5613400" y="3405504"/>
            <a:ext cx="2019300" cy="0"/>
          </a:xfrm>
          <a:prstGeom prst="line">
            <a:avLst/>
          </a:prstGeom>
          <a:noFill/>
          <a:ln w="12700">
            <a:solidFill>
              <a:srgbClr val="000000"/>
            </a:solidFill>
            <a:prstDash val="solid"/>
          </a:ln>
        </p:spPr>
        <p:txBody>
          <a:bodyPr/>
          <a:lstStyle/>
          <a:p>
            <a:endParaRPr lang="en-SG"/>
          </a:p>
        </p:txBody>
      </p:sp>
      <p:sp>
        <p:nvSpPr>
          <p:cNvPr id="34" name="Text 31"/>
          <p:cNvSpPr/>
          <p:nvPr/>
        </p:nvSpPr>
        <p:spPr>
          <a:xfrm>
            <a:off x="5734050" y="3523614"/>
            <a:ext cx="1831340" cy="35814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Israel</a:t>
            </a:r>
            <a:endParaRPr lang="en-US" sz="2150"/>
          </a:p>
        </p:txBody>
      </p:sp>
      <p:sp>
        <p:nvSpPr>
          <p:cNvPr id="35" name="Shape 32"/>
          <p:cNvSpPr/>
          <p:nvPr/>
        </p:nvSpPr>
        <p:spPr>
          <a:xfrm>
            <a:off x="7632700" y="3405504"/>
            <a:ext cx="1397000" cy="0"/>
          </a:xfrm>
          <a:prstGeom prst="line">
            <a:avLst/>
          </a:prstGeom>
          <a:noFill/>
          <a:ln w="12700">
            <a:solidFill>
              <a:srgbClr val="000000"/>
            </a:solidFill>
            <a:prstDash val="solid"/>
          </a:ln>
        </p:spPr>
        <p:txBody>
          <a:bodyPr/>
          <a:lstStyle/>
          <a:p>
            <a:endParaRPr lang="en-SG"/>
          </a:p>
        </p:txBody>
      </p:sp>
      <p:sp>
        <p:nvSpPr>
          <p:cNvPr id="36" name="Shape 33"/>
          <p:cNvSpPr/>
          <p:nvPr/>
        </p:nvSpPr>
        <p:spPr>
          <a:xfrm>
            <a:off x="7639050" y="3399154"/>
            <a:ext cx="0" cy="571500"/>
          </a:xfrm>
          <a:prstGeom prst="line">
            <a:avLst/>
          </a:prstGeom>
          <a:noFill/>
          <a:ln w="12700">
            <a:solidFill>
              <a:srgbClr val="000000"/>
            </a:solidFill>
            <a:prstDash val="solid"/>
          </a:ln>
        </p:spPr>
        <p:txBody>
          <a:bodyPr/>
          <a:lstStyle/>
          <a:p>
            <a:endParaRPr lang="en-SG"/>
          </a:p>
        </p:txBody>
      </p:sp>
      <p:sp>
        <p:nvSpPr>
          <p:cNvPr id="37" name="Text 34"/>
          <p:cNvSpPr/>
          <p:nvPr/>
        </p:nvSpPr>
        <p:spPr>
          <a:xfrm>
            <a:off x="7738110" y="3549014"/>
            <a:ext cx="11963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51%</a:t>
            </a:r>
            <a:endParaRPr lang="en-US" sz="1850"/>
          </a:p>
        </p:txBody>
      </p:sp>
      <p:sp>
        <p:nvSpPr>
          <p:cNvPr id="38" name="Shape 35"/>
          <p:cNvSpPr/>
          <p:nvPr/>
        </p:nvSpPr>
        <p:spPr>
          <a:xfrm>
            <a:off x="9029700" y="3405504"/>
            <a:ext cx="1778000" cy="0"/>
          </a:xfrm>
          <a:prstGeom prst="line">
            <a:avLst/>
          </a:prstGeom>
          <a:noFill/>
          <a:ln w="12700">
            <a:solidFill>
              <a:srgbClr val="000000"/>
            </a:solidFill>
            <a:prstDash val="solid"/>
          </a:ln>
        </p:spPr>
        <p:txBody>
          <a:bodyPr/>
          <a:lstStyle/>
          <a:p>
            <a:endParaRPr lang="en-SG"/>
          </a:p>
        </p:txBody>
      </p:sp>
      <p:sp>
        <p:nvSpPr>
          <p:cNvPr id="39" name="Shape 36"/>
          <p:cNvSpPr/>
          <p:nvPr/>
        </p:nvSpPr>
        <p:spPr>
          <a:xfrm>
            <a:off x="9036050" y="3399154"/>
            <a:ext cx="0" cy="571500"/>
          </a:xfrm>
          <a:prstGeom prst="line">
            <a:avLst/>
          </a:prstGeom>
          <a:noFill/>
          <a:ln w="12700">
            <a:solidFill>
              <a:srgbClr val="000000"/>
            </a:solidFill>
            <a:prstDash val="solid"/>
          </a:ln>
        </p:spPr>
        <p:txBody>
          <a:bodyPr/>
          <a:lstStyle/>
          <a:p>
            <a:endParaRPr lang="en-SG"/>
          </a:p>
        </p:txBody>
      </p:sp>
      <p:sp>
        <p:nvSpPr>
          <p:cNvPr id="40" name="Text 37"/>
          <p:cNvSpPr/>
          <p:nvPr/>
        </p:nvSpPr>
        <p:spPr>
          <a:xfrm>
            <a:off x="9135110" y="3549014"/>
            <a:ext cx="15773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40.8%</a:t>
            </a:r>
            <a:endParaRPr lang="en-US" sz="1850"/>
          </a:p>
        </p:txBody>
      </p:sp>
      <p:sp>
        <p:nvSpPr>
          <p:cNvPr id="41" name="Shape 38"/>
          <p:cNvSpPr/>
          <p:nvPr/>
        </p:nvSpPr>
        <p:spPr>
          <a:xfrm>
            <a:off x="5613400" y="3977004"/>
            <a:ext cx="2019300" cy="0"/>
          </a:xfrm>
          <a:prstGeom prst="line">
            <a:avLst/>
          </a:prstGeom>
          <a:noFill/>
          <a:ln w="12700">
            <a:solidFill>
              <a:srgbClr val="000000"/>
            </a:solidFill>
            <a:prstDash val="solid"/>
          </a:ln>
        </p:spPr>
        <p:txBody>
          <a:bodyPr/>
          <a:lstStyle/>
          <a:p>
            <a:endParaRPr lang="en-SG"/>
          </a:p>
        </p:txBody>
      </p:sp>
      <p:sp>
        <p:nvSpPr>
          <p:cNvPr id="42" name="Text 39"/>
          <p:cNvSpPr/>
          <p:nvPr/>
        </p:nvSpPr>
        <p:spPr>
          <a:xfrm>
            <a:off x="5734050" y="4095114"/>
            <a:ext cx="1831340" cy="35814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Hungary</a:t>
            </a:r>
            <a:endParaRPr lang="en-US" sz="2150"/>
          </a:p>
        </p:txBody>
      </p:sp>
      <p:sp>
        <p:nvSpPr>
          <p:cNvPr id="43" name="Shape 40"/>
          <p:cNvSpPr/>
          <p:nvPr/>
        </p:nvSpPr>
        <p:spPr>
          <a:xfrm>
            <a:off x="7632700" y="3977004"/>
            <a:ext cx="1397000" cy="0"/>
          </a:xfrm>
          <a:prstGeom prst="line">
            <a:avLst/>
          </a:prstGeom>
          <a:noFill/>
          <a:ln w="12700">
            <a:solidFill>
              <a:srgbClr val="000000"/>
            </a:solidFill>
            <a:prstDash val="solid"/>
          </a:ln>
        </p:spPr>
        <p:txBody>
          <a:bodyPr/>
          <a:lstStyle/>
          <a:p>
            <a:endParaRPr lang="en-SG"/>
          </a:p>
        </p:txBody>
      </p:sp>
      <p:sp>
        <p:nvSpPr>
          <p:cNvPr id="44" name="Shape 41"/>
          <p:cNvSpPr/>
          <p:nvPr/>
        </p:nvSpPr>
        <p:spPr>
          <a:xfrm>
            <a:off x="7639050" y="3970654"/>
            <a:ext cx="0" cy="571500"/>
          </a:xfrm>
          <a:prstGeom prst="line">
            <a:avLst/>
          </a:prstGeom>
          <a:noFill/>
          <a:ln w="12700">
            <a:solidFill>
              <a:srgbClr val="000000"/>
            </a:solidFill>
            <a:prstDash val="solid"/>
          </a:ln>
        </p:spPr>
        <p:txBody>
          <a:bodyPr/>
          <a:lstStyle/>
          <a:p>
            <a:endParaRPr lang="en-SG"/>
          </a:p>
        </p:txBody>
      </p:sp>
      <p:sp>
        <p:nvSpPr>
          <p:cNvPr id="45" name="Text 42"/>
          <p:cNvSpPr/>
          <p:nvPr/>
        </p:nvSpPr>
        <p:spPr>
          <a:xfrm>
            <a:off x="7738110" y="4120514"/>
            <a:ext cx="11963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54%</a:t>
            </a:r>
            <a:endParaRPr lang="en-US" sz="1850"/>
          </a:p>
        </p:txBody>
      </p:sp>
      <p:sp>
        <p:nvSpPr>
          <p:cNvPr id="46" name="Shape 43"/>
          <p:cNvSpPr/>
          <p:nvPr/>
        </p:nvSpPr>
        <p:spPr>
          <a:xfrm>
            <a:off x="9029700" y="3977004"/>
            <a:ext cx="1778000" cy="0"/>
          </a:xfrm>
          <a:prstGeom prst="line">
            <a:avLst/>
          </a:prstGeom>
          <a:noFill/>
          <a:ln w="12700">
            <a:solidFill>
              <a:srgbClr val="000000"/>
            </a:solidFill>
            <a:prstDash val="solid"/>
          </a:ln>
        </p:spPr>
        <p:txBody>
          <a:bodyPr/>
          <a:lstStyle/>
          <a:p>
            <a:endParaRPr lang="en-SG"/>
          </a:p>
        </p:txBody>
      </p:sp>
      <p:sp>
        <p:nvSpPr>
          <p:cNvPr id="47" name="Shape 44"/>
          <p:cNvSpPr/>
          <p:nvPr/>
        </p:nvSpPr>
        <p:spPr>
          <a:xfrm>
            <a:off x="9036050" y="3970654"/>
            <a:ext cx="0" cy="571500"/>
          </a:xfrm>
          <a:prstGeom prst="line">
            <a:avLst/>
          </a:prstGeom>
          <a:noFill/>
          <a:ln w="12700">
            <a:solidFill>
              <a:srgbClr val="000000"/>
            </a:solidFill>
            <a:prstDash val="solid"/>
          </a:ln>
        </p:spPr>
        <p:txBody>
          <a:bodyPr/>
          <a:lstStyle/>
          <a:p>
            <a:endParaRPr lang="en-SG"/>
          </a:p>
        </p:txBody>
      </p:sp>
      <p:sp>
        <p:nvSpPr>
          <p:cNvPr id="48" name="Text 45"/>
          <p:cNvSpPr/>
          <p:nvPr/>
        </p:nvSpPr>
        <p:spPr>
          <a:xfrm>
            <a:off x="9135110" y="4120514"/>
            <a:ext cx="15773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43.9%</a:t>
            </a:r>
            <a:endParaRPr lang="en-US" sz="1850"/>
          </a:p>
        </p:txBody>
      </p:sp>
      <p:sp>
        <p:nvSpPr>
          <p:cNvPr id="49" name="Shape 46"/>
          <p:cNvSpPr/>
          <p:nvPr/>
        </p:nvSpPr>
        <p:spPr>
          <a:xfrm>
            <a:off x="5613400" y="4548504"/>
            <a:ext cx="2019300" cy="0"/>
          </a:xfrm>
          <a:prstGeom prst="line">
            <a:avLst/>
          </a:prstGeom>
          <a:noFill/>
          <a:ln w="12700">
            <a:solidFill>
              <a:srgbClr val="000000"/>
            </a:solidFill>
            <a:prstDash val="solid"/>
          </a:ln>
        </p:spPr>
        <p:txBody>
          <a:bodyPr/>
          <a:lstStyle/>
          <a:p>
            <a:endParaRPr lang="en-SG"/>
          </a:p>
        </p:txBody>
      </p:sp>
      <p:sp>
        <p:nvSpPr>
          <p:cNvPr id="50" name="Text 47"/>
          <p:cNvSpPr/>
          <p:nvPr/>
        </p:nvSpPr>
        <p:spPr>
          <a:xfrm>
            <a:off x="5734050" y="4666614"/>
            <a:ext cx="1831340" cy="35814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Spain</a:t>
            </a:r>
            <a:endParaRPr lang="en-US" sz="2150"/>
          </a:p>
        </p:txBody>
      </p:sp>
      <p:sp>
        <p:nvSpPr>
          <p:cNvPr id="51" name="Shape 48"/>
          <p:cNvSpPr/>
          <p:nvPr/>
        </p:nvSpPr>
        <p:spPr>
          <a:xfrm>
            <a:off x="7632700" y="4548504"/>
            <a:ext cx="1397000" cy="0"/>
          </a:xfrm>
          <a:prstGeom prst="line">
            <a:avLst/>
          </a:prstGeom>
          <a:noFill/>
          <a:ln w="12700">
            <a:solidFill>
              <a:srgbClr val="000000"/>
            </a:solidFill>
            <a:prstDash val="solid"/>
          </a:ln>
        </p:spPr>
        <p:txBody>
          <a:bodyPr/>
          <a:lstStyle/>
          <a:p>
            <a:endParaRPr lang="en-SG"/>
          </a:p>
        </p:txBody>
      </p:sp>
      <p:sp>
        <p:nvSpPr>
          <p:cNvPr id="52" name="Shape 49"/>
          <p:cNvSpPr/>
          <p:nvPr/>
        </p:nvSpPr>
        <p:spPr>
          <a:xfrm>
            <a:off x="7639050" y="4542154"/>
            <a:ext cx="0" cy="571500"/>
          </a:xfrm>
          <a:prstGeom prst="line">
            <a:avLst/>
          </a:prstGeom>
          <a:noFill/>
          <a:ln w="12700">
            <a:solidFill>
              <a:srgbClr val="000000"/>
            </a:solidFill>
            <a:prstDash val="solid"/>
          </a:ln>
        </p:spPr>
        <p:txBody>
          <a:bodyPr/>
          <a:lstStyle/>
          <a:p>
            <a:endParaRPr lang="en-SG"/>
          </a:p>
        </p:txBody>
      </p:sp>
      <p:sp>
        <p:nvSpPr>
          <p:cNvPr id="53" name="Text 50"/>
          <p:cNvSpPr/>
          <p:nvPr/>
        </p:nvSpPr>
        <p:spPr>
          <a:xfrm>
            <a:off x="7738110" y="4692014"/>
            <a:ext cx="11963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51%</a:t>
            </a:r>
            <a:endParaRPr lang="en-US" sz="1850"/>
          </a:p>
        </p:txBody>
      </p:sp>
      <p:sp>
        <p:nvSpPr>
          <p:cNvPr id="54" name="Shape 51"/>
          <p:cNvSpPr/>
          <p:nvPr/>
        </p:nvSpPr>
        <p:spPr>
          <a:xfrm>
            <a:off x="9029700" y="4548504"/>
            <a:ext cx="1778000" cy="0"/>
          </a:xfrm>
          <a:prstGeom prst="line">
            <a:avLst/>
          </a:prstGeom>
          <a:noFill/>
          <a:ln w="12700">
            <a:solidFill>
              <a:srgbClr val="000000"/>
            </a:solidFill>
            <a:prstDash val="solid"/>
          </a:ln>
        </p:spPr>
        <p:txBody>
          <a:bodyPr/>
          <a:lstStyle/>
          <a:p>
            <a:endParaRPr lang="en-SG"/>
          </a:p>
        </p:txBody>
      </p:sp>
      <p:sp>
        <p:nvSpPr>
          <p:cNvPr id="55" name="Shape 52"/>
          <p:cNvSpPr/>
          <p:nvPr/>
        </p:nvSpPr>
        <p:spPr>
          <a:xfrm>
            <a:off x="9036050" y="4542154"/>
            <a:ext cx="0" cy="571500"/>
          </a:xfrm>
          <a:prstGeom prst="line">
            <a:avLst/>
          </a:prstGeom>
          <a:noFill/>
          <a:ln w="12700">
            <a:solidFill>
              <a:srgbClr val="000000"/>
            </a:solidFill>
            <a:prstDash val="solid"/>
          </a:ln>
        </p:spPr>
        <p:txBody>
          <a:bodyPr/>
          <a:lstStyle/>
          <a:p>
            <a:endParaRPr lang="en-SG"/>
          </a:p>
        </p:txBody>
      </p:sp>
      <p:sp>
        <p:nvSpPr>
          <p:cNvPr id="56" name="Text 53"/>
          <p:cNvSpPr/>
          <p:nvPr/>
        </p:nvSpPr>
        <p:spPr>
          <a:xfrm>
            <a:off x="9135110" y="4692014"/>
            <a:ext cx="1577340" cy="307340"/>
          </a:xfrm>
          <a:prstGeom prst="rect">
            <a:avLst/>
          </a:prstGeom>
          <a:noFill/>
          <a:ln/>
        </p:spPr>
        <p:txBody>
          <a:bodyPr wrap="square" lIns="0" tIns="0" rIns="0" bIns="0" rtlCol="0" anchor="t">
            <a:normAutofit/>
          </a:bodyPr>
          <a:lstStyle/>
          <a:p>
            <a:pPr marL="0" indent="0" algn="ctr">
              <a:lnSpc>
                <a:spcPts val="2220"/>
              </a:lnSpc>
              <a:buNone/>
            </a:pPr>
            <a:r>
              <a:rPr lang="en-US" sz="1850">
                <a:solidFill>
                  <a:srgbClr val="000000"/>
                </a:solidFill>
                <a:latin typeface="Albert Sans" pitchFamily="34" charset="0"/>
                <a:ea typeface="Albert Sans" pitchFamily="34" charset="-122"/>
                <a:cs typeface="Albert Sans" pitchFamily="34" charset="-120"/>
              </a:rPr>
              <a:t>41.3%</a:t>
            </a:r>
            <a:endParaRPr lang="en-US" sz="1850"/>
          </a:p>
        </p:txBody>
      </p:sp>
      <p:sp>
        <p:nvSpPr>
          <p:cNvPr id="57" name="Text 54"/>
          <p:cNvSpPr/>
          <p:nvPr/>
        </p:nvSpPr>
        <p:spPr>
          <a:xfrm>
            <a:off x="664633" y="5211872"/>
            <a:ext cx="10676467" cy="849630"/>
          </a:xfrm>
          <a:prstGeom prst="rect">
            <a:avLst/>
          </a:prstGeom>
          <a:noFill/>
          <a:ln/>
        </p:spPr>
        <p:txBody>
          <a:bodyPr wrap="square" lIns="0" tIns="0" rIns="0" bIns="0" rtlCol="0" anchor="t">
            <a:normAutofit/>
          </a:bodyPr>
          <a:lstStyle/>
          <a:p>
            <a:pPr>
              <a:lnSpc>
                <a:spcPts val="1739"/>
              </a:lnSpc>
            </a:pPr>
            <a:r>
              <a:rPr lang="en-US" sz="1450">
                <a:solidFill>
                  <a:srgbClr val="000000"/>
                </a:solidFill>
                <a:ea typeface="+mn-lt"/>
                <a:cs typeface="+mn-lt"/>
              </a:rPr>
              <a:t>First, these four factors predict a country’s AI trust well. </a:t>
            </a:r>
            <a:endParaRPr lang="en-US">
              <a:solidFill>
                <a:srgbClr val="000000"/>
              </a:solidFill>
              <a:ea typeface="+mn-lt"/>
              <a:cs typeface="+mn-lt"/>
            </a:endParaRPr>
          </a:p>
          <a:p>
            <a:pPr>
              <a:lnSpc>
                <a:spcPts val="1739"/>
              </a:lnSpc>
            </a:pPr>
            <a:r>
              <a:rPr lang="en-US" sz="1450">
                <a:solidFill>
                  <a:srgbClr val="000000"/>
                </a:solidFill>
                <a:ea typeface="+mn-lt"/>
                <a:cs typeface="+mn-lt"/>
              </a:rPr>
              <a:t>Second, they don’t explain everything: some countries are shaped by factors outside our model, and since the inputs were chosen using all 47 countries, accuracy on new countries may be a little lower.</a:t>
            </a:r>
            <a:endParaRPr lang="en-US"/>
          </a:p>
        </p:txBody>
      </p:sp>
      <p:sp>
        <p:nvSpPr>
          <p:cNvPr id="58" name="Text 55"/>
          <p:cNvSpPr/>
          <p:nvPr/>
        </p:nvSpPr>
        <p:spPr>
          <a:xfrm>
            <a:off x="6762750" y="6019800"/>
            <a:ext cx="3924300" cy="269240"/>
          </a:xfrm>
          <a:prstGeom prst="rect">
            <a:avLst/>
          </a:prstGeom>
          <a:noFill/>
          <a:ln/>
        </p:spPr>
        <p:txBody>
          <a:bodyPr wrap="square" lIns="0" tIns="0" rIns="0" bIns="0" rtlCol="0" anchor="t">
            <a:normAutofit/>
          </a:bodyPr>
          <a:lstStyle/>
          <a:p>
            <a:pPr algn="r"/>
            <a:r>
              <a:rPr lang="en-US" sz="1600" b="1">
                <a:solidFill>
                  <a:srgbClr val="000000"/>
                </a:solidFill>
                <a:ea typeface="+mn-lt"/>
                <a:cs typeface="+mn-lt"/>
              </a:rPr>
              <a:t>[</a:t>
            </a:r>
            <a:r>
              <a:rPr lang="en-US" sz="1600" b="1" err="1">
                <a:solidFill>
                  <a:srgbClr val="000000"/>
                </a:solidFill>
                <a:ea typeface="+mn-lt"/>
                <a:cs typeface="+mn-lt"/>
              </a:rPr>
              <a:t>Kaitwatcharachai</a:t>
            </a:r>
            <a:r>
              <a:rPr lang="en-US" sz="1600" b="1">
                <a:solidFill>
                  <a:srgbClr val="000000"/>
                </a:solidFill>
                <a:ea typeface="+mn-lt"/>
                <a:cs typeface="+mn-lt"/>
              </a:rPr>
              <a:t> </a:t>
            </a:r>
            <a:r>
              <a:rPr lang="en-US" sz="1600" b="1" err="1">
                <a:solidFill>
                  <a:srgbClr val="000000"/>
                </a:solidFill>
                <a:ea typeface="+mn-lt"/>
                <a:cs typeface="+mn-lt"/>
              </a:rPr>
              <a:t>Onnicha</a:t>
            </a:r>
            <a:r>
              <a:rPr lang="en-US" sz="1600" b="1">
                <a:solidFill>
                  <a:srgbClr val="000000"/>
                </a:solidFill>
                <a:ea typeface="+mn-lt"/>
                <a:cs typeface="+mn-lt"/>
              </a:rPr>
              <a:t>]</a:t>
            </a:r>
          </a:p>
          <a:p>
            <a:pPr marL="0" indent="0" algn="r">
              <a:lnSpc>
                <a:spcPts val="1920"/>
              </a:lnSpc>
              <a:buNone/>
            </a:pPr>
            <a:endParaRPr lang="en-US" sz="1600" b="1">
              <a:ea typeface="Anybody"/>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189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fontScale="90000"/>
          </a:bodyPr>
          <a:lstStyle/>
          <a:p>
            <a:pPr>
              <a:lnSpc>
                <a:spcPts val="4800"/>
              </a:lnSpc>
            </a:pPr>
            <a:r>
              <a:rPr lang="en-US" sz="3900" b="1">
                <a:latin typeface="Anybody"/>
              </a:rPr>
              <a:t>Is perception of AI becoming more </a:t>
            </a:r>
            <a:r>
              <a:rPr lang="en-US" sz="3900" b="1">
                <a:latin typeface="Anybody"/>
                <a:ea typeface="Anybody"/>
              </a:rPr>
              <a:t>positive?</a:t>
            </a:r>
          </a:p>
        </p:txBody>
      </p:sp>
      <p:sp>
        <p:nvSpPr>
          <p:cNvPr id="5" name="Text 2"/>
          <p:cNvSpPr/>
          <p:nvPr/>
        </p:nvSpPr>
        <p:spPr>
          <a:xfrm>
            <a:off x="654050" y="1655446"/>
            <a:ext cx="3930840" cy="1244600"/>
          </a:xfrm>
          <a:prstGeom prst="rect">
            <a:avLst/>
          </a:prstGeom>
          <a:noFill/>
          <a:ln/>
        </p:spPr>
        <p:txBody>
          <a:bodyPr wrap="none" lIns="0" tIns="0" rIns="0" bIns="0" rtlCol="0" anchor="t">
            <a:normAutofit/>
          </a:bodyPr>
          <a:lstStyle/>
          <a:p>
            <a:pPr marL="0" indent="0" algn="l">
              <a:lnSpc>
                <a:spcPts val="9600"/>
              </a:lnSpc>
              <a:buNone/>
            </a:pPr>
            <a:r>
              <a:rPr lang="en-US" sz="8000" b="1">
                <a:solidFill>
                  <a:srgbClr val="000000"/>
                </a:solidFill>
                <a:latin typeface="Anybody" pitchFamily="34" charset="0"/>
                <a:ea typeface="Anybody" pitchFamily="34" charset="-122"/>
                <a:cs typeface="Anybody" pitchFamily="34" charset="-120"/>
              </a:rPr>
              <a:t>+0.47</a:t>
            </a:r>
            <a:endParaRPr lang="en-US" sz="8000"/>
          </a:p>
        </p:txBody>
      </p:sp>
      <p:sp>
        <p:nvSpPr>
          <p:cNvPr id="6" name="Text 3"/>
          <p:cNvSpPr/>
          <p:nvPr/>
        </p:nvSpPr>
        <p:spPr>
          <a:xfrm>
            <a:off x="654050" y="2900046"/>
            <a:ext cx="3930840"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points mean change: benefit perception rose from 54.1% to 54.6%</a:t>
            </a:r>
            <a:endParaRPr lang="en-US" sz="1600"/>
          </a:p>
        </p:txBody>
      </p:sp>
      <p:sp>
        <p:nvSpPr>
          <p:cNvPr id="7" name="Shape 4"/>
          <p:cNvSpPr/>
          <p:nvPr/>
        </p:nvSpPr>
        <p:spPr>
          <a:xfrm>
            <a:off x="660400" y="3584575"/>
            <a:ext cx="3797300" cy="311150"/>
          </a:xfrm>
          <a:prstGeom prst="rect">
            <a:avLst/>
          </a:prstGeom>
          <a:noFill/>
          <a:ln w="12700">
            <a:solidFill>
              <a:srgbClr val="000000"/>
            </a:solidFill>
            <a:prstDash val="solid"/>
          </a:ln>
        </p:spPr>
        <p:txBody>
          <a:bodyPr/>
          <a:lstStyle/>
          <a:p>
            <a:endParaRPr lang="en-SG"/>
          </a:p>
        </p:txBody>
      </p:sp>
      <p:sp>
        <p:nvSpPr>
          <p:cNvPr id="8" name="Shape 5"/>
          <p:cNvSpPr/>
          <p:nvPr/>
        </p:nvSpPr>
        <p:spPr>
          <a:xfrm>
            <a:off x="664210" y="3588389"/>
            <a:ext cx="2146300" cy="303530"/>
          </a:xfrm>
          <a:prstGeom prst="rect">
            <a:avLst/>
          </a:prstGeom>
          <a:solidFill>
            <a:srgbClr val="207368"/>
          </a:solidFill>
          <a:ln/>
        </p:spPr>
        <p:txBody>
          <a:bodyPr/>
          <a:lstStyle/>
          <a:p>
            <a:endParaRPr lang="en-SG"/>
          </a:p>
        </p:txBody>
      </p:sp>
      <p:sp>
        <p:nvSpPr>
          <p:cNvPr id="9" name="Shape 6"/>
          <p:cNvSpPr/>
          <p:nvPr/>
        </p:nvSpPr>
        <p:spPr>
          <a:xfrm>
            <a:off x="2810510" y="3588389"/>
            <a:ext cx="501650" cy="303530"/>
          </a:xfrm>
          <a:prstGeom prst="rect">
            <a:avLst/>
          </a:prstGeom>
          <a:solidFill>
            <a:srgbClr val="E3E8E8"/>
          </a:solidFill>
          <a:ln/>
        </p:spPr>
        <p:txBody>
          <a:bodyPr/>
          <a:lstStyle/>
          <a:p>
            <a:endParaRPr lang="en-SG"/>
          </a:p>
        </p:txBody>
      </p:sp>
      <p:sp>
        <p:nvSpPr>
          <p:cNvPr id="10" name="Shape 7"/>
          <p:cNvSpPr/>
          <p:nvPr/>
        </p:nvSpPr>
        <p:spPr>
          <a:xfrm>
            <a:off x="2816860" y="3588389"/>
            <a:ext cx="0" cy="303530"/>
          </a:xfrm>
          <a:prstGeom prst="line">
            <a:avLst/>
          </a:prstGeom>
          <a:noFill/>
          <a:ln w="12700">
            <a:solidFill>
              <a:srgbClr val="000000"/>
            </a:solidFill>
            <a:prstDash val="solid"/>
          </a:ln>
        </p:spPr>
        <p:txBody>
          <a:bodyPr/>
          <a:lstStyle/>
          <a:p>
            <a:endParaRPr lang="en-SG"/>
          </a:p>
        </p:txBody>
      </p:sp>
      <p:sp>
        <p:nvSpPr>
          <p:cNvPr id="11" name="Shape 8"/>
          <p:cNvSpPr/>
          <p:nvPr/>
        </p:nvSpPr>
        <p:spPr>
          <a:xfrm>
            <a:off x="3312160" y="3588389"/>
            <a:ext cx="1141730" cy="303530"/>
          </a:xfrm>
          <a:prstGeom prst="rect">
            <a:avLst/>
          </a:prstGeom>
          <a:solidFill>
            <a:srgbClr val="B185B4"/>
          </a:solidFill>
          <a:ln/>
        </p:spPr>
        <p:txBody>
          <a:bodyPr/>
          <a:lstStyle/>
          <a:p>
            <a:endParaRPr lang="en-SG"/>
          </a:p>
        </p:txBody>
      </p:sp>
      <p:sp>
        <p:nvSpPr>
          <p:cNvPr id="12" name="Shape 9"/>
          <p:cNvSpPr/>
          <p:nvPr/>
        </p:nvSpPr>
        <p:spPr>
          <a:xfrm>
            <a:off x="3318510" y="3588389"/>
            <a:ext cx="0" cy="303530"/>
          </a:xfrm>
          <a:prstGeom prst="line">
            <a:avLst/>
          </a:prstGeom>
          <a:noFill/>
          <a:ln w="12700">
            <a:solidFill>
              <a:srgbClr val="000000"/>
            </a:solidFill>
            <a:prstDash val="solid"/>
          </a:ln>
        </p:spPr>
        <p:txBody>
          <a:bodyPr/>
          <a:lstStyle/>
          <a:p>
            <a:endParaRPr lang="en-SG"/>
          </a:p>
        </p:txBody>
      </p:sp>
      <p:sp>
        <p:nvSpPr>
          <p:cNvPr id="13" name="Shape 10"/>
          <p:cNvSpPr/>
          <p:nvPr/>
        </p:nvSpPr>
        <p:spPr>
          <a:xfrm>
            <a:off x="660400" y="4097021"/>
            <a:ext cx="196850" cy="196850"/>
          </a:xfrm>
          <a:prstGeom prst="rect">
            <a:avLst/>
          </a:prstGeom>
          <a:solidFill>
            <a:srgbClr val="207368"/>
          </a:solidFill>
          <a:ln w="12700">
            <a:solidFill>
              <a:srgbClr val="000000"/>
            </a:solidFill>
            <a:prstDash val="solid"/>
          </a:ln>
        </p:spPr>
        <p:txBody>
          <a:bodyPr/>
          <a:lstStyle/>
          <a:p>
            <a:endParaRPr lang="en-SG"/>
          </a:p>
        </p:txBody>
      </p:sp>
      <p:sp>
        <p:nvSpPr>
          <p:cNvPr id="14" name="Text 11"/>
          <p:cNvSpPr/>
          <p:nvPr/>
        </p:nvSpPr>
        <p:spPr>
          <a:xfrm>
            <a:off x="990600" y="4054475"/>
            <a:ext cx="3106293"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17 countries improve</a:t>
            </a:r>
            <a:endParaRPr lang="en-US" sz="1850"/>
          </a:p>
        </p:txBody>
      </p:sp>
      <p:sp>
        <p:nvSpPr>
          <p:cNvPr id="15" name="Shape 12"/>
          <p:cNvSpPr/>
          <p:nvPr/>
        </p:nvSpPr>
        <p:spPr>
          <a:xfrm>
            <a:off x="660400" y="4442464"/>
            <a:ext cx="196850" cy="196850"/>
          </a:xfrm>
          <a:prstGeom prst="rect">
            <a:avLst/>
          </a:prstGeom>
          <a:solidFill>
            <a:srgbClr val="E3E8E8"/>
          </a:solidFill>
          <a:ln w="12700">
            <a:solidFill>
              <a:srgbClr val="000000"/>
            </a:solidFill>
            <a:prstDash val="solid"/>
          </a:ln>
        </p:spPr>
        <p:txBody>
          <a:bodyPr/>
          <a:lstStyle/>
          <a:p>
            <a:endParaRPr lang="en-SG"/>
          </a:p>
        </p:txBody>
      </p:sp>
      <p:sp>
        <p:nvSpPr>
          <p:cNvPr id="16" name="Text 13"/>
          <p:cNvSpPr/>
          <p:nvPr/>
        </p:nvSpPr>
        <p:spPr>
          <a:xfrm>
            <a:off x="990600" y="4399917"/>
            <a:ext cx="2943987"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4 remain unchanged</a:t>
            </a:r>
            <a:endParaRPr lang="en-US" sz="1850"/>
          </a:p>
        </p:txBody>
      </p:sp>
      <p:sp>
        <p:nvSpPr>
          <p:cNvPr id="17" name="Shape 14"/>
          <p:cNvSpPr/>
          <p:nvPr/>
        </p:nvSpPr>
        <p:spPr>
          <a:xfrm>
            <a:off x="660400" y="4787900"/>
            <a:ext cx="196850" cy="196850"/>
          </a:xfrm>
          <a:prstGeom prst="rect">
            <a:avLst/>
          </a:prstGeom>
          <a:solidFill>
            <a:srgbClr val="B185B4"/>
          </a:solidFill>
          <a:ln w="12700">
            <a:solidFill>
              <a:srgbClr val="000000"/>
            </a:solidFill>
            <a:prstDash val="solid"/>
          </a:ln>
        </p:spPr>
        <p:txBody>
          <a:bodyPr/>
          <a:lstStyle/>
          <a:p>
            <a:endParaRPr lang="en-SG"/>
          </a:p>
        </p:txBody>
      </p:sp>
      <p:sp>
        <p:nvSpPr>
          <p:cNvPr id="18" name="Text 15"/>
          <p:cNvSpPr/>
          <p:nvPr/>
        </p:nvSpPr>
        <p:spPr>
          <a:xfrm>
            <a:off x="990600" y="4745354"/>
            <a:ext cx="2794825"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9 countries decline</a:t>
            </a:r>
            <a:endParaRPr lang="en-US" sz="1850"/>
          </a:p>
        </p:txBody>
      </p:sp>
      <p:sp>
        <p:nvSpPr>
          <p:cNvPr id="19" name="Text 16"/>
          <p:cNvSpPr/>
          <p:nvPr/>
        </p:nvSpPr>
        <p:spPr>
          <a:xfrm>
            <a:off x="4978400" y="1570779"/>
            <a:ext cx="6004179" cy="226060"/>
          </a:xfrm>
          <a:prstGeom prst="rect">
            <a:avLst/>
          </a:prstGeom>
          <a:noFill/>
          <a:ln/>
        </p:spPr>
        <p:txBody>
          <a:bodyPr wrap="square" lIns="0" tIns="0" rIns="0" bIns="0" rtlCol="0" anchor="t">
            <a:noAutofit/>
          </a:bodyPr>
          <a:lstStyle/>
          <a:p>
            <a:pPr>
              <a:lnSpc>
                <a:spcPts val="4800"/>
              </a:lnSpc>
              <a:spcBef>
                <a:spcPct val="0"/>
              </a:spcBef>
            </a:pPr>
            <a:r>
              <a:rPr lang="en-GB" sz="1600" b="1">
                <a:solidFill>
                  <a:srgbClr val="000000"/>
                </a:solidFill>
                <a:latin typeface="Albert Sans"/>
                <a:ea typeface="Albert Sans"/>
              </a:rPr>
              <a:t>Change in %, </a:t>
            </a:r>
            <a:r>
              <a:rPr lang="en-GB" sz="1600" b="1">
                <a:solidFill>
                  <a:srgbClr val="000000"/>
                </a:solidFill>
                <a:latin typeface="Albert Sans"/>
                <a:ea typeface="Albert Sans" pitchFamily="34" charset="-122"/>
              </a:rPr>
              <a:t>AI’s benefits outweigh drawbacks, 2023 to 2024 </a:t>
            </a:r>
          </a:p>
        </p:txBody>
      </p:sp>
      <p:sp>
        <p:nvSpPr>
          <p:cNvPr id="20" name="Text 17"/>
          <p:cNvSpPr/>
          <p:nvPr/>
        </p:nvSpPr>
        <p:spPr>
          <a:xfrm>
            <a:off x="4978400" y="2072004"/>
            <a:ext cx="1638300" cy="291544"/>
          </a:xfrm>
          <a:prstGeom prst="rect">
            <a:avLst/>
          </a:prstGeom>
          <a:noFill/>
          <a:ln/>
        </p:spPr>
        <p:txBody>
          <a:bodyPr wrap="none" lIns="0" tIns="0" rIns="0" bIns="0" rtlCol="0" anchor="t">
            <a:normAutofit/>
          </a:bodyPr>
          <a:lstStyle/>
          <a:p>
            <a:pPr marL="0" indent="0" algn="l">
              <a:lnSpc>
                <a:spcPts val="2096"/>
              </a:lnSpc>
              <a:buNone/>
            </a:pPr>
            <a:r>
              <a:rPr lang="en-US" sz="1600">
                <a:solidFill>
                  <a:srgbClr val="000000"/>
                </a:solidFill>
                <a:latin typeface="Albert Sans" pitchFamily="34" charset="0"/>
                <a:ea typeface="Albert Sans" pitchFamily="34" charset="-122"/>
                <a:cs typeface="Albert Sans" pitchFamily="34" charset="-120"/>
              </a:rPr>
              <a:t>Germany</a:t>
            </a:r>
            <a:endParaRPr lang="en-US" sz="1600"/>
          </a:p>
        </p:txBody>
      </p:sp>
      <p:sp>
        <p:nvSpPr>
          <p:cNvPr id="21" name="Text 18"/>
          <p:cNvSpPr/>
          <p:nvPr/>
        </p:nvSpPr>
        <p:spPr>
          <a:xfrm>
            <a:off x="4978400" y="2338152"/>
            <a:ext cx="1638300" cy="291544"/>
          </a:xfrm>
          <a:prstGeom prst="rect">
            <a:avLst/>
          </a:prstGeom>
          <a:noFill/>
          <a:ln/>
        </p:spPr>
        <p:txBody>
          <a:bodyPr wrap="none" lIns="0" tIns="0" rIns="0" bIns="0" rtlCol="0" anchor="t">
            <a:normAutofit/>
          </a:bodyPr>
          <a:lstStyle/>
          <a:p>
            <a:pPr marL="0" indent="0" algn="l">
              <a:lnSpc>
                <a:spcPts val="2096"/>
              </a:lnSpc>
              <a:buNone/>
            </a:pPr>
            <a:r>
              <a:rPr lang="en-US" sz="1600">
                <a:solidFill>
                  <a:srgbClr val="000000"/>
                </a:solidFill>
                <a:latin typeface="Albert Sans" pitchFamily="34" charset="0"/>
                <a:ea typeface="Albert Sans" pitchFamily="34" charset="-122"/>
                <a:cs typeface="Albert Sans" pitchFamily="34" charset="-120"/>
              </a:rPr>
              <a:t>Ireland</a:t>
            </a:r>
            <a:endParaRPr lang="en-US" sz="1600"/>
          </a:p>
        </p:txBody>
      </p:sp>
      <p:sp>
        <p:nvSpPr>
          <p:cNvPr id="22" name="Text 19"/>
          <p:cNvSpPr/>
          <p:nvPr/>
        </p:nvSpPr>
        <p:spPr>
          <a:xfrm>
            <a:off x="4978400" y="2604294"/>
            <a:ext cx="1638300" cy="291544"/>
          </a:xfrm>
          <a:prstGeom prst="rect">
            <a:avLst/>
          </a:prstGeom>
          <a:noFill/>
          <a:ln/>
        </p:spPr>
        <p:txBody>
          <a:bodyPr wrap="none" lIns="0" tIns="0" rIns="0" bIns="0" rtlCol="0" anchor="t">
            <a:normAutofit/>
          </a:bodyPr>
          <a:lstStyle/>
          <a:p>
            <a:pPr marL="0" indent="0" algn="l">
              <a:lnSpc>
                <a:spcPts val="2096"/>
              </a:lnSpc>
              <a:buNone/>
            </a:pPr>
            <a:r>
              <a:rPr lang="en-US" sz="1600">
                <a:solidFill>
                  <a:srgbClr val="000000"/>
                </a:solidFill>
                <a:latin typeface="Albert Sans" pitchFamily="34" charset="0"/>
                <a:ea typeface="Albert Sans" pitchFamily="34" charset="-122"/>
                <a:cs typeface="Albert Sans" pitchFamily="34" charset="-120"/>
              </a:rPr>
              <a:t>Hungary</a:t>
            </a:r>
            <a:endParaRPr lang="en-US" sz="1600"/>
          </a:p>
        </p:txBody>
      </p:sp>
      <p:sp>
        <p:nvSpPr>
          <p:cNvPr id="23" name="Text 20"/>
          <p:cNvSpPr/>
          <p:nvPr/>
        </p:nvSpPr>
        <p:spPr>
          <a:xfrm>
            <a:off x="4978400" y="2870442"/>
            <a:ext cx="1638300" cy="291544"/>
          </a:xfrm>
          <a:prstGeom prst="rect">
            <a:avLst/>
          </a:prstGeom>
          <a:noFill/>
          <a:ln/>
        </p:spPr>
        <p:txBody>
          <a:bodyPr wrap="none" lIns="0" tIns="0" rIns="0" bIns="0" rtlCol="0" anchor="t">
            <a:normAutofit/>
          </a:bodyPr>
          <a:lstStyle/>
          <a:p>
            <a:pPr marL="0" indent="0" algn="l">
              <a:lnSpc>
                <a:spcPts val="2096"/>
              </a:lnSpc>
              <a:buNone/>
            </a:pPr>
            <a:r>
              <a:rPr lang="en-US" sz="1600">
                <a:solidFill>
                  <a:srgbClr val="000000"/>
                </a:solidFill>
                <a:latin typeface="Albert Sans" pitchFamily="34" charset="0"/>
                <a:ea typeface="Albert Sans" pitchFamily="34" charset="-122"/>
                <a:cs typeface="Albert Sans" pitchFamily="34" charset="-120"/>
              </a:rPr>
              <a:t>New Zealand</a:t>
            </a:r>
            <a:endParaRPr lang="en-US" sz="1600"/>
          </a:p>
        </p:txBody>
      </p:sp>
      <p:sp>
        <p:nvSpPr>
          <p:cNvPr id="24" name="Text 21"/>
          <p:cNvSpPr/>
          <p:nvPr/>
        </p:nvSpPr>
        <p:spPr>
          <a:xfrm>
            <a:off x="4978400" y="3136584"/>
            <a:ext cx="1638300" cy="291544"/>
          </a:xfrm>
          <a:prstGeom prst="rect">
            <a:avLst/>
          </a:prstGeom>
          <a:noFill/>
          <a:ln/>
        </p:spPr>
        <p:txBody>
          <a:bodyPr wrap="none" lIns="0" tIns="0" rIns="0" bIns="0" rtlCol="0" anchor="t">
            <a:normAutofit/>
          </a:bodyPr>
          <a:lstStyle/>
          <a:p>
            <a:pPr marL="0" indent="0" algn="l">
              <a:lnSpc>
                <a:spcPts val="2096"/>
              </a:lnSpc>
              <a:buNone/>
            </a:pPr>
            <a:r>
              <a:rPr lang="en-US" sz="1600">
                <a:solidFill>
                  <a:srgbClr val="000000"/>
                </a:solidFill>
                <a:latin typeface="Albert Sans" pitchFamily="34" charset="0"/>
                <a:ea typeface="Albert Sans" pitchFamily="34" charset="-122"/>
                <a:cs typeface="Albert Sans" pitchFamily="34" charset="-120"/>
              </a:rPr>
              <a:t>Australia</a:t>
            </a:r>
            <a:endParaRPr lang="en-US" sz="1600"/>
          </a:p>
        </p:txBody>
      </p:sp>
      <p:sp>
        <p:nvSpPr>
          <p:cNvPr id="25" name="Text 22"/>
          <p:cNvSpPr/>
          <p:nvPr/>
        </p:nvSpPr>
        <p:spPr>
          <a:xfrm>
            <a:off x="4978400" y="3402726"/>
            <a:ext cx="1638300" cy="291544"/>
          </a:xfrm>
          <a:prstGeom prst="rect">
            <a:avLst/>
          </a:prstGeom>
          <a:noFill/>
          <a:ln/>
        </p:spPr>
        <p:txBody>
          <a:bodyPr wrap="none" lIns="0" tIns="0" rIns="0" bIns="0" rtlCol="0" anchor="t">
            <a:normAutofit/>
          </a:bodyPr>
          <a:lstStyle/>
          <a:p>
            <a:pPr marL="0" indent="0" algn="l">
              <a:lnSpc>
                <a:spcPts val="2096"/>
              </a:lnSpc>
              <a:buNone/>
            </a:pPr>
            <a:r>
              <a:rPr lang="en-US" sz="1600">
                <a:solidFill>
                  <a:srgbClr val="000000"/>
                </a:solidFill>
                <a:latin typeface="Albert Sans" pitchFamily="34" charset="0"/>
                <a:ea typeface="Albert Sans" pitchFamily="34" charset="-122"/>
                <a:cs typeface="Albert Sans" pitchFamily="34" charset="-120"/>
              </a:rPr>
              <a:t>Mexico</a:t>
            </a:r>
            <a:endParaRPr lang="en-US" sz="1600"/>
          </a:p>
        </p:txBody>
      </p:sp>
      <p:sp>
        <p:nvSpPr>
          <p:cNvPr id="26" name="Text 23"/>
          <p:cNvSpPr/>
          <p:nvPr/>
        </p:nvSpPr>
        <p:spPr>
          <a:xfrm>
            <a:off x="4978400" y="3668874"/>
            <a:ext cx="1638300" cy="291544"/>
          </a:xfrm>
          <a:prstGeom prst="rect">
            <a:avLst/>
          </a:prstGeom>
          <a:noFill/>
          <a:ln/>
        </p:spPr>
        <p:txBody>
          <a:bodyPr wrap="none" lIns="0" tIns="0" rIns="0" bIns="0" rtlCol="0" anchor="t">
            <a:normAutofit/>
          </a:bodyPr>
          <a:lstStyle/>
          <a:p>
            <a:pPr marL="0" indent="0" algn="l">
              <a:lnSpc>
                <a:spcPts val="2096"/>
              </a:lnSpc>
              <a:buNone/>
            </a:pPr>
            <a:r>
              <a:rPr lang="en-US" sz="1600">
                <a:solidFill>
                  <a:srgbClr val="000000"/>
                </a:solidFill>
                <a:latin typeface="Albert Sans" pitchFamily="34" charset="0"/>
                <a:ea typeface="Albert Sans" pitchFamily="34" charset="-122"/>
                <a:cs typeface="Albert Sans" pitchFamily="34" charset="-120"/>
              </a:rPr>
              <a:t>Japan</a:t>
            </a:r>
            <a:endParaRPr lang="en-US" sz="1600"/>
          </a:p>
        </p:txBody>
      </p:sp>
      <p:sp>
        <p:nvSpPr>
          <p:cNvPr id="27" name="Text 24"/>
          <p:cNvSpPr/>
          <p:nvPr/>
        </p:nvSpPr>
        <p:spPr>
          <a:xfrm>
            <a:off x="4978400" y="3935016"/>
            <a:ext cx="1638300" cy="291544"/>
          </a:xfrm>
          <a:prstGeom prst="rect">
            <a:avLst/>
          </a:prstGeom>
          <a:noFill/>
          <a:ln/>
        </p:spPr>
        <p:txBody>
          <a:bodyPr wrap="none" lIns="0" tIns="0" rIns="0" bIns="0" rtlCol="0" anchor="t">
            <a:normAutofit/>
          </a:bodyPr>
          <a:lstStyle/>
          <a:p>
            <a:pPr marL="0" indent="0" algn="l">
              <a:lnSpc>
                <a:spcPts val="2096"/>
              </a:lnSpc>
              <a:buNone/>
            </a:pPr>
            <a:r>
              <a:rPr lang="en-US" sz="1600">
                <a:solidFill>
                  <a:srgbClr val="000000"/>
                </a:solidFill>
                <a:latin typeface="Albert Sans" pitchFamily="34" charset="0"/>
                <a:ea typeface="Albert Sans" pitchFamily="34" charset="-122"/>
                <a:cs typeface="Albert Sans" pitchFamily="34" charset="-120"/>
              </a:rPr>
              <a:t>Malaysia</a:t>
            </a:r>
            <a:endParaRPr lang="en-US" sz="1600"/>
          </a:p>
        </p:txBody>
      </p:sp>
      <p:sp>
        <p:nvSpPr>
          <p:cNvPr id="28" name="Text 25"/>
          <p:cNvSpPr/>
          <p:nvPr/>
        </p:nvSpPr>
        <p:spPr>
          <a:xfrm>
            <a:off x="4978400" y="4201164"/>
            <a:ext cx="1638300" cy="291544"/>
          </a:xfrm>
          <a:prstGeom prst="rect">
            <a:avLst/>
          </a:prstGeom>
          <a:noFill/>
          <a:ln/>
        </p:spPr>
        <p:txBody>
          <a:bodyPr wrap="none" lIns="0" tIns="0" rIns="0" bIns="0" rtlCol="0" anchor="t">
            <a:normAutofit/>
          </a:bodyPr>
          <a:lstStyle/>
          <a:p>
            <a:pPr marL="0" indent="0" algn="l">
              <a:lnSpc>
                <a:spcPts val="2096"/>
              </a:lnSpc>
              <a:buNone/>
            </a:pPr>
            <a:r>
              <a:rPr lang="en-US" sz="1600">
                <a:solidFill>
                  <a:srgbClr val="000000"/>
                </a:solidFill>
                <a:latin typeface="Albert Sans" pitchFamily="34" charset="0"/>
                <a:ea typeface="Albert Sans" pitchFamily="34" charset="-122"/>
                <a:cs typeface="Albert Sans" pitchFamily="34" charset="-120"/>
              </a:rPr>
              <a:t>Netherlands</a:t>
            </a:r>
            <a:endParaRPr lang="en-US" sz="1600"/>
          </a:p>
        </p:txBody>
      </p:sp>
      <p:sp>
        <p:nvSpPr>
          <p:cNvPr id="29" name="Text 26"/>
          <p:cNvSpPr/>
          <p:nvPr/>
        </p:nvSpPr>
        <p:spPr>
          <a:xfrm>
            <a:off x="4978400" y="4467306"/>
            <a:ext cx="1638300" cy="291544"/>
          </a:xfrm>
          <a:prstGeom prst="rect">
            <a:avLst/>
          </a:prstGeom>
          <a:noFill/>
          <a:ln/>
        </p:spPr>
        <p:txBody>
          <a:bodyPr wrap="none" lIns="0" tIns="0" rIns="0" bIns="0" rtlCol="0" anchor="t">
            <a:normAutofit/>
          </a:bodyPr>
          <a:lstStyle/>
          <a:p>
            <a:pPr marL="0" indent="0" algn="l">
              <a:lnSpc>
                <a:spcPts val="2096"/>
              </a:lnSpc>
              <a:buNone/>
            </a:pPr>
            <a:r>
              <a:rPr lang="en-US" sz="1600">
                <a:solidFill>
                  <a:srgbClr val="000000"/>
                </a:solidFill>
                <a:latin typeface="Albert Sans" pitchFamily="34" charset="0"/>
                <a:ea typeface="Albert Sans" pitchFamily="34" charset="-122"/>
                <a:cs typeface="Albert Sans" pitchFamily="34" charset="-120"/>
              </a:rPr>
              <a:t>Brazil</a:t>
            </a:r>
            <a:endParaRPr lang="en-US" sz="1600"/>
          </a:p>
        </p:txBody>
      </p:sp>
      <p:sp>
        <p:nvSpPr>
          <p:cNvPr id="30" name="Shape 27"/>
          <p:cNvSpPr/>
          <p:nvPr/>
        </p:nvSpPr>
        <p:spPr>
          <a:xfrm>
            <a:off x="8343900" y="2072004"/>
            <a:ext cx="12700" cy="2667000"/>
          </a:xfrm>
          <a:prstGeom prst="rect">
            <a:avLst/>
          </a:prstGeom>
          <a:solidFill>
            <a:srgbClr val="000000"/>
          </a:solidFill>
          <a:ln/>
        </p:spPr>
        <p:txBody>
          <a:bodyPr/>
          <a:lstStyle/>
          <a:p>
            <a:endParaRPr lang="en-SG"/>
          </a:p>
        </p:txBody>
      </p:sp>
      <p:sp>
        <p:nvSpPr>
          <p:cNvPr id="31" name="Shape 28"/>
          <p:cNvSpPr/>
          <p:nvPr/>
        </p:nvSpPr>
        <p:spPr>
          <a:xfrm>
            <a:off x="8356600" y="2084704"/>
            <a:ext cx="1111250" cy="234950"/>
          </a:xfrm>
          <a:prstGeom prst="rect">
            <a:avLst/>
          </a:prstGeom>
          <a:solidFill>
            <a:srgbClr val="207368"/>
          </a:solidFill>
          <a:ln/>
        </p:spPr>
        <p:txBody>
          <a:bodyPr/>
          <a:lstStyle/>
          <a:p>
            <a:endParaRPr lang="en-SG"/>
          </a:p>
        </p:txBody>
      </p:sp>
      <p:sp>
        <p:nvSpPr>
          <p:cNvPr id="32" name="Shape 29"/>
          <p:cNvSpPr/>
          <p:nvPr/>
        </p:nvSpPr>
        <p:spPr>
          <a:xfrm>
            <a:off x="8356600" y="2351404"/>
            <a:ext cx="1111250" cy="234950"/>
          </a:xfrm>
          <a:prstGeom prst="rect">
            <a:avLst/>
          </a:prstGeom>
          <a:solidFill>
            <a:srgbClr val="207368"/>
          </a:solidFill>
          <a:ln/>
        </p:spPr>
        <p:txBody>
          <a:bodyPr/>
          <a:lstStyle/>
          <a:p>
            <a:endParaRPr lang="en-SG"/>
          </a:p>
        </p:txBody>
      </p:sp>
      <p:sp>
        <p:nvSpPr>
          <p:cNvPr id="33" name="Shape 30"/>
          <p:cNvSpPr/>
          <p:nvPr/>
        </p:nvSpPr>
        <p:spPr>
          <a:xfrm>
            <a:off x="8356600" y="2618104"/>
            <a:ext cx="889000" cy="234950"/>
          </a:xfrm>
          <a:prstGeom prst="rect">
            <a:avLst/>
          </a:prstGeom>
          <a:solidFill>
            <a:srgbClr val="207368"/>
          </a:solidFill>
          <a:ln/>
        </p:spPr>
        <p:txBody>
          <a:bodyPr/>
          <a:lstStyle/>
          <a:p>
            <a:endParaRPr lang="en-SG"/>
          </a:p>
        </p:txBody>
      </p:sp>
      <p:sp>
        <p:nvSpPr>
          <p:cNvPr id="34" name="Shape 31"/>
          <p:cNvSpPr/>
          <p:nvPr/>
        </p:nvSpPr>
        <p:spPr>
          <a:xfrm>
            <a:off x="8356600" y="2884804"/>
            <a:ext cx="889000" cy="234950"/>
          </a:xfrm>
          <a:prstGeom prst="rect">
            <a:avLst/>
          </a:prstGeom>
          <a:solidFill>
            <a:srgbClr val="207368"/>
          </a:solidFill>
          <a:ln/>
        </p:spPr>
        <p:txBody>
          <a:bodyPr/>
          <a:lstStyle/>
          <a:p>
            <a:endParaRPr lang="en-SG"/>
          </a:p>
        </p:txBody>
      </p:sp>
      <p:sp>
        <p:nvSpPr>
          <p:cNvPr id="35" name="Shape 32"/>
          <p:cNvSpPr/>
          <p:nvPr/>
        </p:nvSpPr>
        <p:spPr>
          <a:xfrm>
            <a:off x="8356600" y="3151504"/>
            <a:ext cx="889000" cy="234950"/>
          </a:xfrm>
          <a:prstGeom prst="rect">
            <a:avLst/>
          </a:prstGeom>
          <a:solidFill>
            <a:srgbClr val="207368"/>
          </a:solidFill>
          <a:ln/>
        </p:spPr>
        <p:txBody>
          <a:bodyPr/>
          <a:lstStyle/>
          <a:p>
            <a:endParaRPr lang="en-SG"/>
          </a:p>
        </p:txBody>
      </p:sp>
      <p:sp>
        <p:nvSpPr>
          <p:cNvPr id="36" name="Shape 33"/>
          <p:cNvSpPr/>
          <p:nvPr/>
        </p:nvSpPr>
        <p:spPr>
          <a:xfrm>
            <a:off x="7677150" y="3418204"/>
            <a:ext cx="666750" cy="234950"/>
          </a:xfrm>
          <a:prstGeom prst="rect">
            <a:avLst/>
          </a:prstGeom>
          <a:solidFill>
            <a:srgbClr val="B185B4"/>
          </a:solidFill>
          <a:ln/>
        </p:spPr>
        <p:txBody>
          <a:bodyPr/>
          <a:lstStyle/>
          <a:p>
            <a:endParaRPr lang="en-SG"/>
          </a:p>
        </p:txBody>
      </p:sp>
      <p:sp>
        <p:nvSpPr>
          <p:cNvPr id="37" name="Shape 34"/>
          <p:cNvSpPr/>
          <p:nvPr/>
        </p:nvSpPr>
        <p:spPr>
          <a:xfrm>
            <a:off x="7454900" y="3684904"/>
            <a:ext cx="889000" cy="234950"/>
          </a:xfrm>
          <a:prstGeom prst="rect">
            <a:avLst/>
          </a:prstGeom>
          <a:solidFill>
            <a:srgbClr val="B185B4"/>
          </a:solidFill>
          <a:ln/>
        </p:spPr>
        <p:txBody>
          <a:bodyPr/>
          <a:lstStyle/>
          <a:p>
            <a:endParaRPr lang="en-SG"/>
          </a:p>
        </p:txBody>
      </p:sp>
      <p:sp>
        <p:nvSpPr>
          <p:cNvPr id="38" name="Shape 35"/>
          <p:cNvSpPr/>
          <p:nvPr/>
        </p:nvSpPr>
        <p:spPr>
          <a:xfrm>
            <a:off x="7010400" y="3951604"/>
            <a:ext cx="1333500" cy="234950"/>
          </a:xfrm>
          <a:prstGeom prst="rect">
            <a:avLst/>
          </a:prstGeom>
          <a:solidFill>
            <a:srgbClr val="B185B4"/>
          </a:solidFill>
          <a:ln/>
        </p:spPr>
        <p:txBody>
          <a:bodyPr/>
          <a:lstStyle/>
          <a:p>
            <a:endParaRPr lang="en-SG"/>
          </a:p>
        </p:txBody>
      </p:sp>
      <p:sp>
        <p:nvSpPr>
          <p:cNvPr id="39" name="Shape 36"/>
          <p:cNvSpPr/>
          <p:nvPr/>
        </p:nvSpPr>
        <p:spPr>
          <a:xfrm>
            <a:off x="6788150" y="4218304"/>
            <a:ext cx="1555750" cy="234950"/>
          </a:xfrm>
          <a:prstGeom prst="rect">
            <a:avLst/>
          </a:prstGeom>
          <a:solidFill>
            <a:srgbClr val="B185B4"/>
          </a:solidFill>
          <a:ln/>
        </p:spPr>
        <p:txBody>
          <a:bodyPr/>
          <a:lstStyle/>
          <a:p>
            <a:endParaRPr lang="en-SG"/>
          </a:p>
        </p:txBody>
      </p:sp>
      <p:sp>
        <p:nvSpPr>
          <p:cNvPr id="40" name="Shape 37"/>
          <p:cNvSpPr/>
          <p:nvPr/>
        </p:nvSpPr>
        <p:spPr>
          <a:xfrm>
            <a:off x="6565900" y="4485004"/>
            <a:ext cx="1778000" cy="234950"/>
          </a:xfrm>
          <a:prstGeom prst="rect">
            <a:avLst/>
          </a:prstGeom>
          <a:solidFill>
            <a:srgbClr val="B185B4"/>
          </a:solidFill>
          <a:ln/>
        </p:spPr>
        <p:txBody>
          <a:bodyPr/>
          <a:lstStyle/>
          <a:p>
            <a:endParaRPr lang="en-SG"/>
          </a:p>
        </p:txBody>
      </p:sp>
      <p:sp>
        <p:nvSpPr>
          <p:cNvPr id="41" name="Text 38"/>
          <p:cNvSpPr/>
          <p:nvPr/>
        </p:nvSpPr>
        <p:spPr>
          <a:xfrm>
            <a:off x="6565900" y="4764404"/>
            <a:ext cx="812800" cy="246380"/>
          </a:xfrm>
          <a:prstGeom prst="rect">
            <a:avLst/>
          </a:prstGeom>
          <a:noFill/>
          <a:ln/>
        </p:spPr>
        <p:txBody>
          <a:bodyPr wrap="square" lIns="0" tIns="0" rIns="0" bIns="0" rtlCol="0" anchor="t">
            <a:normAutofit/>
          </a:bodyPr>
          <a:lstStyle/>
          <a:p>
            <a:pPr marL="0" indent="0" algn="l">
              <a:lnSpc>
                <a:spcPts val="1740"/>
              </a:lnSpc>
              <a:buNone/>
            </a:pPr>
            <a:r>
              <a:rPr lang="en-US" sz="1450">
                <a:solidFill>
                  <a:srgbClr val="000000"/>
                </a:solidFill>
                <a:latin typeface="Albert Sans" pitchFamily="34" charset="0"/>
                <a:ea typeface="Albert Sans" pitchFamily="34" charset="-122"/>
                <a:cs typeface="Albert Sans" pitchFamily="34" charset="-120"/>
              </a:rPr>
              <a:t>−8</a:t>
            </a:r>
            <a:endParaRPr lang="en-US" sz="1450"/>
          </a:p>
        </p:txBody>
      </p:sp>
      <p:sp>
        <p:nvSpPr>
          <p:cNvPr id="42" name="Text 39"/>
          <p:cNvSpPr/>
          <p:nvPr/>
        </p:nvSpPr>
        <p:spPr>
          <a:xfrm>
            <a:off x="7943850" y="4764404"/>
            <a:ext cx="812800" cy="246380"/>
          </a:xfrm>
          <a:prstGeom prst="rect">
            <a:avLst/>
          </a:prstGeom>
          <a:noFill/>
          <a:ln/>
        </p:spPr>
        <p:txBody>
          <a:bodyPr wrap="square" lIns="0" tIns="0" rIns="0" bIns="0" rtlCol="0" anchor="t">
            <a:normAutofit/>
          </a:bodyPr>
          <a:lstStyle/>
          <a:p>
            <a:pPr marL="0" indent="0" algn="ctr">
              <a:lnSpc>
                <a:spcPts val="1740"/>
              </a:lnSpc>
              <a:buNone/>
            </a:pPr>
            <a:r>
              <a:rPr lang="en-US" sz="1450">
                <a:solidFill>
                  <a:srgbClr val="000000"/>
                </a:solidFill>
                <a:latin typeface="Albert Sans" pitchFamily="34" charset="0"/>
                <a:ea typeface="Albert Sans" pitchFamily="34" charset="-122"/>
                <a:cs typeface="Albert Sans" pitchFamily="34" charset="-120"/>
              </a:rPr>
              <a:t>0</a:t>
            </a:r>
            <a:endParaRPr lang="en-US" sz="1450"/>
          </a:p>
        </p:txBody>
      </p:sp>
      <p:sp>
        <p:nvSpPr>
          <p:cNvPr id="43" name="Text 40"/>
          <p:cNvSpPr/>
          <p:nvPr/>
        </p:nvSpPr>
        <p:spPr>
          <a:xfrm>
            <a:off x="9321800" y="4764404"/>
            <a:ext cx="812800" cy="246380"/>
          </a:xfrm>
          <a:prstGeom prst="rect">
            <a:avLst/>
          </a:prstGeom>
          <a:noFill/>
          <a:ln/>
        </p:spPr>
        <p:txBody>
          <a:bodyPr wrap="square" lIns="0" tIns="0" rIns="0" bIns="0" rtlCol="0" anchor="t">
            <a:normAutofit/>
          </a:bodyPr>
          <a:lstStyle/>
          <a:p>
            <a:pPr marL="0" indent="0" algn="r">
              <a:lnSpc>
                <a:spcPts val="1740"/>
              </a:lnSpc>
              <a:buNone/>
            </a:pPr>
            <a:r>
              <a:rPr lang="en-US" sz="1450">
                <a:solidFill>
                  <a:srgbClr val="000000"/>
                </a:solidFill>
                <a:latin typeface="Albert Sans" pitchFamily="34" charset="0"/>
                <a:ea typeface="Albert Sans" pitchFamily="34" charset="-122"/>
                <a:cs typeface="Albert Sans" pitchFamily="34" charset="-120"/>
              </a:rPr>
              <a:t>+8</a:t>
            </a:r>
            <a:endParaRPr lang="en-US" sz="1450"/>
          </a:p>
        </p:txBody>
      </p:sp>
      <p:sp>
        <p:nvSpPr>
          <p:cNvPr id="44" name="Text 41"/>
          <p:cNvSpPr/>
          <p:nvPr/>
        </p:nvSpPr>
        <p:spPr>
          <a:xfrm>
            <a:off x="10083800" y="2072004"/>
            <a:ext cx="685800" cy="291544"/>
          </a:xfrm>
          <a:prstGeom prst="rect">
            <a:avLst/>
          </a:prstGeom>
          <a:noFill/>
          <a:ln/>
        </p:spPr>
        <p:txBody>
          <a:bodyPr wrap="none" lIns="0" tIns="0" rIns="0" bIns="0" rtlCol="0" anchor="t">
            <a:normAutofit/>
          </a:bodyPr>
          <a:lstStyle/>
          <a:p>
            <a:pPr marL="0" indent="0" algn="r">
              <a:lnSpc>
                <a:spcPts val="2096"/>
              </a:lnSpc>
              <a:buNone/>
            </a:pPr>
            <a:r>
              <a:rPr lang="en-US" sz="1600" b="1">
                <a:solidFill>
                  <a:srgbClr val="000000"/>
                </a:solidFill>
                <a:latin typeface="Anybody" pitchFamily="34" charset="0"/>
                <a:ea typeface="Anybody" pitchFamily="34" charset="-122"/>
                <a:cs typeface="Anybody" pitchFamily="34" charset="-120"/>
              </a:rPr>
              <a:t>+5</a:t>
            </a:r>
            <a:endParaRPr lang="en-US" sz="1600"/>
          </a:p>
        </p:txBody>
      </p:sp>
      <p:sp>
        <p:nvSpPr>
          <p:cNvPr id="45" name="Text 42"/>
          <p:cNvSpPr/>
          <p:nvPr/>
        </p:nvSpPr>
        <p:spPr>
          <a:xfrm>
            <a:off x="10083800" y="2338152"/>
            <a:ext cx="685800" cy="291544"/>
          </a:xfrm>
          <a:prstGeom prst="rect">
            <a:avLst/>
          </a:prstGeom>
          <a:noFill/>
          <a:ln/>
        </p:spPr>
        <p:txBody>
          <a:bodyPr wrap="none" lIns="0" tIns="0" rIns="0" bIns="0" rtlCol="0" anchor="t">
            <a:normAutofit/>
          </a:bodyPr>
          <a:lstStyle/>
          <a:p>
            <a:pPr marL="0" indent="0" algn="r">
              <a:lnSpc>
                <a:spcPts val="2096"/>
              </a:lnSpc>
              <a:buNone/>
            </a:pPr>
            <a:r>
              <a:rPr lang="en-US" sz="1600" b="1">
                <a:solidFill>
                  <a:srgbClr val="000000"/>
                </a:solidFill>
                <a:latin typeface="Anybody" pitchFamily="34" charset="0"/>
                <a:ea typeface="Anybody" pitchFamily="34" charset="-122"/>
                <a:cs typeface="Anybody" pitchFamily="34" charset="-120"/>
              </a:rPr>
              <a:t>+5</a:t>
            </a:r>
            <a:endParaRPr lang="en-US" sz="1600"/>
          </a:p>
        </p:txBody>
      </p:sp>
      <p:sp>
        <p:nvSpPr>
          <p:cNvPr id="46" name="Text 43"/>
          <p:cNvSpPr/>
          <p:nvPr/>
        </p:nvSpPr>
        <p:spPr>
          <a:xfrm>
            <a:off x="10083800" y="2604294"/>
            <a:ext cx="685800" cy="291544"/>
          </a:xfrm>
          <a:prstGeom prst="rect">
            <a:avLst/>
          </a:prstGeom>
          <a:noFill/>
          <a:ln/>
        </p:spPr>
        <p:txBody>
          <a:bodyPr wrap="none" lIns="0" tIns="0" rIns="0" bIns="0" rtlCol="0" anchor="t">
            <a:normAutofit/>
          </a:bodyPr>
          <a:lstStyle/>
          <a:p>
            <a:pPr marL="0" indent="0" algn="r">
              <a:lnSpc>
                <a:spcPts val="2096"/>
              </a:lnSpc>
              <a:buNone/>
            </a:pPr>
            <a:r>
              <a:rPr lang="en-US" sz="1600" b="1">
                <a:solidFill>
                  <a:srgbClr val="000000"/>
                </a:solidFill>
                <a:latin typeface="Anybody" pitchFamily="34" charset="0"/>
                <a:ea typeface="Anybody" pitchFamily="34" charset="-122"/>
                <a:cs typeface="Anybody" pitchFamily="34" charset="-120"/>
              </a:rPr>
              <a:t>+4</a:t>
            </a:r>
            <a:endParaRPr lang="en-US" sz="1600"/>
          </a:p>
        </p:txBody>
      </p:sp>
      <p:sp>
        <p:nvSpPr>
          <p:cNvPr id="47" name="Text 44"/>
          <p:cNvSpPr/>
          <p:nvPr/>
        </p:nvSpPr>
        <p:spPr>
          <a:xfrm>
            <a:off x="10083800" y="2870442"/>
            <a:ext cx="685800" cy="291544"/>
          </a:xfrm>
          <a:prstGeom prst="rect">
            <a:avLst/>
          </a:prstGeom>
          <a:noFill/>
          <a:ln/>
        </p:spPr>
        <p:txBody>
          <a:bodyPr wrap="none" lIns="0" tIns="0" rIns="0" bIns="0" rtlCol="0" anchor="t">
            <a:normAutofit/>
          </a:bodyPr>
          <a:lstStyle/>
          <a:p>
            <a:pPr marL="0" indent="0" algn="r">
              <a:lnSpc>
                <a:spcPts val="2096"/>
              </a:lnSpc>
              <a:buNone/>
            </a:pPr>
            <a:r>
              <a:rPr lang="en-US" sz="1600" b="1">
                <a:solidFill>
                  <a:srgbClr val="000000"/>
                </a:solidFill>
                <a:latin typeface="Anybody" pitchFamily="34" charset="0"/>
                <a:ea typeface="Anybody" pitchFamily="34" charset="-122"/>
                <a:cs typeface="Anybody" pitchFamily="34" charset="-120"/>
              </a:rPr>
              <a:t>+4</a:t>
            </a:r>
            <a:endParaRPr lang="en-US" sz="1600"/>
          </a:p>
        </p:txBody>
      </p:sp>
      <p:sp>
        <p:nvSpPr>
          <p:cNvPr id="48" name="Text 45"/>
          <p:cNvSpPr/>
          <p:nvPr/>
        </p:nvSpPr>
        <p:spPr>
          <a:xfrm>
            <a:off x="10083800" y="3136584"/>
            <a:ext cx="685800" cy="291544"/>
          </a:xfrm>
          <a:prstGeom prst="rect">
            <a:avLst/>
          </a:prstGeom>
          <a:noFill/>
          <a:ln/>
        </p:spPr>
        <p:txBody>
          <a:bodyPr wrap="none" lIns="0" tIns="0" rIns="0" bIns="0" rtlCol="0" anchor="t">
            <a:normAutofit/>
          </a:bodyPr>
          <a:lstStyle/>
          <a:p>
            <a:pPr marL="0" indent="0" algn="r">
              <a:lnSpc>
                <a:spcPts val="2096"/>
              </a:lnSpc>
              <a:buNone/>
            </a:pPr>
            <a:r>
              <a:rPr lang="en-US" sz="1600" b="1">
                <a:solidFill>
                  <a:srgbClr val="000000"/>
                </a:solidFill>
                <a:latin typeface="Anybody" pitchFamily="34" charset="0"/>
                <a:ea typeface="Anybody" pitchFamily="34" charset="-122"/>
                <a:cs typeface="Anybody" pitchFamily="34" charset="-120"/>
              </a:rPr>
              <a:t>+4</a:t>
            </a:r>
            <a:endParaRPr lang="en-US" sz="1600"/>
          </a:p>
        </p:txBody>
      </p:sp>
      <p:sp>
        <p:nvSpPr>
          <p:cNvPr id="49" name="Text 46"/>
          <p:cNvSpPr/>
          <p:nvPr/>
        </p:nvSpPr>
        <p:spPr>
          <a:xfrm>
            <a:off x="10083800" y="3402726"/>
            <a:ext cx="685800" cy="291544"/>
          </a:xfrm>
          <a:prstGeom prst="rect">
            <a:avLst/>
          </a:prstGeom>
          <a:noFill/>
          <a:ln/>
        </p:spPr>
        <p:txBody>
          <a:bodyPr wrap="none" lIns="0" tIns="0" rIns="0" bIns="0" rtlCol="0" anchor="t">
            <a:normAutofit/>
          </a:bodyPr>
          <a:lstStyle/>
          <a:p>
            <a:pPr marL="0" indent="0" algn="r">
              <a:lnSpc>
                <a:spcPts val="2096"/>
              </a:lnSpc>
              <a:buNone/>
            </a:pPr>
            <a:r>
              <a:rPr lang="en-US" sz="1600" b="1">
                <a:solidFill>
                  <a:srgbClr val="000000"/>
                </a:solidFill>
                <a:latin typeface="Anybody" pitchFamily="34" charset="0"/>
                <a:ea typeface="Anybody" pitchFamily="34" charset="-122"/>
                <a:cs typeface="Anybody" pitchFamily="34" charset="-120"/>
              </a:rPr>
              <a:t>−3</a:t>
            </a:r>
            <a:endParaRPr lang="en-US" sz="1600"/>
          </a:p>
        </p:txBody>
      </p:sp>
      <p:sp>
        <p:nvSpPr>
          <p:cNvPr id="50" name="Text 47"/>
          <p:cNvSpPr/>
          <p:nvPr/>
        </p:nvSpPr>
        <p:spPr>
          <a:xfrm>
            <a:off x="10083800" y="3668874"/>
            <a:ext cx="685800" cy="291544"/>
          </a:xfrm>
          <a:prstGeom prst="rect">
            <a:avLst/>
          </a:prstGeom>
          <a:noFill/>
          <a:ln/>
        </p:spPr>
        <p:txBody>
          <a:bodyPr wrap="none" lIns="0" tIns="0" rIns="0" bIns="0" rtlCol="0" anchor="t">
            <a:normAutofit/>
          </a:bodyPr>
          <a:lstStyle/>
          <a:p>
            <a:pPr marL="0" indent="0" algn="r">
              <a:lnSpc>
                <a:spcPts val="2096"/>
              </a:lnSpc>
              <a:buNone/>
            </a:pPr>
            <a:r>
              <a:rPr lang="en-US" sz="1600" b="1">
                <a:solidFill>
                  <a:srgbClr val="000000"/>
                </a:solidFill>
                <a:latin typeface="Anybody" pitchFamily="34" charset="0"/>
                <a:ea typeface="Anybody" pitchFamily="34" charset="-122"/>
                <a:cs typeface="Anybody" pitchFamily="34" charset="-120"/>
              </a:rPr>
              <a:t>−4</a:t>
            </a:r>
            <a:endParaRPr lang="en-US" sz="1600"/>
          </a:p>
        </p:txBody>
      </p:sp>
      <p:sp>
        <p:nvSpPr>
          <p:cNvPr id="51" name="Text 48"/>
          <p:cNvSpPr/>
          <p:nvPr/>
        </p:nvSpPr>
        <p:spPr>
          <a:xfrm>
            <a:off x="10083800" y="3935016"/>
            <a:ext cx="685800" cy="291544"/>
          </a:xfrm>
          <a:prstGeom prst="rect">
            <a:avLst/>
          </a:prstGeom>
          <a:noFill/>
          <a:ln/>
        </p:spPr>
        <p:txBody>
          <a:bodyPr wrap="none" lIns="0" tIns="0" rIns="0" bIns="0" rtlCol="0" anchor="t">
            <a:normAutofit/>
          </a:bodyPr>
          <a:lstStyle/>
          <a:p>
            <a:pPr marL="0" indent="0" algn="r">
              <a:lnSpc>
                <a:spcPts val="2096"/>
              </a:lnSpc>
              <a:buNone/>
            </a:pPr>
            <a:r>
              <a:rPr lang="en-US" sz="1600" b="1">
                <a:solidFill>
                  <a:srgbClr val="000000"/>
                </a:solidFill>
                <a:latin typeface="Anybody" pitchFamily="34" charset="0"/>
                <a:ea typeface="Anybody" pitchFamily="34" charset="-122"/>
                <a:cs typeface="Anybody" pitchFamily="34" charset="-120"/>
              </a:rPr>
              <a:t>−6</a:t>
            </a:r>
            <a:endParaRPr lang="en-US" sz="1600"/>
          </a:p>
        </p:txBody>
      </p:sp>
      <p:sp>
        <p:nvSpPr>
          <p:cNvPr id="52" name="Text 49"/>
          <p:cNvSpPr/>
          <p:nvPr/>
        </p:nvSpPr>
        <p:spPr>
          <a:xfrm>
            <a:off x="10083800" y="4201164"/>
            <a:ext cx="685800" cy="291544"/>
          </a:xfrm>
          <a:prstGeom prst="rect">
            <a:avLst/>
          </a:prstGeom>
          <a:noFill/>
          <a:ln/>
        </p:spPr>
        <p:txBody>
          <a:bodyPr wrap="none" lIns="0" tIns="0" rIns="0" bIns="0" rtlCol="0" anchor="t">
            <a:normAutofit/>
          </a:bodyPr>
          <a:lstStyle/>
          <a:p>
            <a:pPr marL="0" indent="0" algn="r">
              <a:lnSpc>
                <a:spcPts val="2096"/>
              </a:lnSpc>
              <a:buNone/>
            </a:pPr>
            <a:r>
              <a:rPr lang="en-US" sz="1600" b="1">
                <a:solidFill>
                  <a:srgbClr val="000000"/>
                </a:solidFill>
                <a:latin typeface="Anybody" pitchFamily="34" charset="0"/>
                <a:ea typeface="Anybody" pitchFamily="34" charset="-122"/>
                <a:cs typeface="Anybody" pitchFamily="34" charset="-120"/>
              </a:rPr>
              <a:t>−7</a:t>
            </a:r>
            <a:endParaRPr lang="en-US" sz="1600"/>
          </a:p>
        </p:txBody>
      </p:sp>
      <p:sp>
        <p:nvSpPr>
          <p:cNvPr id="53" name="Text 50"/>
          <p:cNvSpPr/>
          <p:nvPr/>
        </p:nvSpPr>
        <p:spPr>
          <a:xfrm>
            <a:off x="10083800" y="4467306"/>
            <a:ext cx="685800" cy="291544"/>
          </a:xfrm>
          <a:prstGeom prst="rect">
            <a:avLst/>
          </a:prstGeom>
          <a:noFill/>
          <a:ln/>
        </p:spPr>
        <p:txBody>
          <a:bodyPr wrap="none" lIns="0" tIns="0" rIns="0" bIns="0" rtlCol="0" anchor="t">
            <a:normAutofit/>
          </a:bodyPr>
          <a:lstStyle/>
          <a:p>
            <a:pPr marL="0" indent="0" algn="r">
              <a:lnSpc>
                <a:spcPts val="2096"/>
              </a:lnSpc>
              <a:buNone/>
            </a:pPr>
            <a:r>
              <a:rPr lang="en-US" sz="1600" b="1">
                <a:solidFill>
                  <a:srgbClr val="000000"/>
                </a:solidFill>
                <a:latin typeface="Anybody" pitchFamily="34" charset="0"/>
                <a:ea typeface="Anybody" pitchFamily="34" charset="-122"/>
                <a:cs typeface="Anybody" pitchFamily="34" charset="-120"/>
              </a:rPr>
              <a:t>−8</a:t>
            </a:r>
            <a:endParaRPr lang="en-US" sz="1600"/>
          </a:p>
        </p:txBody>
      </p:sp>
      <p:sp>
        <p:nvSpPr>
          <p:cNvPr id="54" name="Text 51"/>
          <p:cNvSpPr/>
          <p:nvPr/>
        </p:nvSpPr>
        <p:spPr>
          <a:xfrm>
            <a:off x="654050" y="5164879"/>
            <a:ext cx="10333990" cy="467360"/>
          </a:xfrm>
          <a:prstGeom prst="rect">
            <a:avLst/>
          </a:prstGeom>
          <a:noFill/>
          <a:ln/>
        </p:spPr>
        <p:txBody>
          <a:bodyPr wrap="square" lIns="0" tIns="0" rIns="0" bIns="0" rtlCol="0" anchor="t">
            <a:noAutofit/>
          </a:bodyPr>
          <a:lstStyle/>
          <a:p>
            <a:pPr>
              <a:lnSpc>
                <a:spcPts val="1739"/>
              </a:lnSpc>
            </a:pPr>
            <a:r>
              <a:rPr lang="en-US" sz="1450">
                <a:solidFill>
                  <a:srgbClr val="000000"/>
                </a:solidFill>
                <a:ea typeface="+mn-lt"/>
                <a:cs typeface="+mn-lt"/>
              </a:rPr>
              <a:t>Perception of AI barely changed from 2023 to 2024: the share seeing more benefits than drawbacks rose by only about half a point, which isn’t statistically significant. More countries improved than declined, but the falls were larger (up to -8 points). So there’s no clear global shift, and opinion is moving differently from country to country</a:t>
            </a:r>
            <a:endParaRPr lang="en-US" sz="1450">
              <a:ea typeface="Albert Sans"/>
            </a:endParaRPr>
          </a:p>
        </p:txBody>
      </p:sp>
      <p:sp>
        <p:nvSpPr>
          <p:cNvPr id="55" name="Text 52"/>
          <p:cNvSpPr/>
          <p:nvPr/>
        </p:nvSpPr>
        <p:spPr>
          <a:xfrm>
            <a:off x="6762750" y="6019800"/>
            <a:ext cx="3924300" cy="269240"/>
          </a:xfrm>
          <a:prstGeom prst="rect">
            <a:avLst/>
          </a:prstGeom>
          <a:noFill/>
          <a:ln/>
        </p:spPr>
        <p:txBody>
          <a:bodyPr wrap="square" lIns="0" tIns="0" rIns="0" bIns="0" rtlCol="0" anchor="t">
            <a:normAutofit/>
          </a:bodyPr>
          <a:lstStyle/>
          <a:p>
            <a:pPr algn="r">
              <a:lnSpc>
                <a:spcPts val="1920"/>
              </a:lnSpc>
            </a:pPr>
            <a:r>
              <a:rPr lang="en-US" sz="1600" b="1">
                <a:solidFill>
                  <a:srgbClr val="000000"/>
                </a:solidFill>
                <a:latin typeface="Anybody"/>
                <a:ea typeface="+mn-lt"/>
              </a:rPr>
              <a:t>[</a:t>
            </a:r>
            <a:r>
              <a:rPr lang="en-US" sz="1600" b="1" err="1">
                <a:solidFill>
                  <a:srgbClr val="000000"/>
                </a:solidFill>
                <a:ea typeface="+mn-lt"/>
                <a:cs typeface="+mn-lt"/>
              </a:rPr>
              <a:t>Kaitwatcharachai</a:t>
            </a:r>
            <a:r>
              <a:rPr lang="en-US" sz="1600" b="1">
                <a:solidFill>
                  <a:srgbClr val="000000"/>
                </a:solidFill>
                <a:ea typeface="+mn-lt"/>
                <a:cs typeface="+mn-lt"/>
              </a:rPr>
              <a:t> </a:t>
            </a:r>
            <a:r>
              <a:rPr lang="en-US" sz="1600" b="1" err="1">
                <a:solidFill>
                  <a:srgbClr val="000000"/>
                </a:solidFill>
                <a:ea typeface="+mn-lt"/>
                <a:cs typeface="+mn-lt"/>
              </a:rPr>
              <a:t>Onnicha</a:t>
            </a:r>
            <a:r>
              <a:rPr lang="en-US" sz="1600" b="1">
                <a:solidFill>
                  <a:srgbClr val="000000"/>
                </a:solidFill>
                <a:latin typeface="Anybody"/>
                <a:ea typeface="Anybody"/>
              </a:rPr>
              <a:t>]</a:t>
            </a:r>
            <a:endParaRPr lang="en-US" sz="1600" b="1">
              <a:latin typeface="Anybody"/>
              <a:ea typeface="Anybody"/>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207368"/>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l="33" r="33"/>
          <a:stretch/>
        </p:blipFill>
        <p:spPr>
          <a:xfrm>
            <a:off x="9505950" y="0"/>
            <a:ext cx="2686050" cy="6858000"/>
          </a:xfrm>
          <a:prstGeom prst="rect">
            <a:avLst/>
          </a:prstGeom>
        </p:spPr>
      </p:pic>
      <p:pic>
        <p:nvPicPr>
          <p:cNvPr id="4" name="Image 1" descr="preencoded.png"/>
          <p:cNvPicPr>
            <a:picLocks noChangeAspect="1"/>
          </p:cNvPicPr>
          <p:nvPr/>
        </p:nvPicPr>
        <p:blipFill>
          <a:blip r:embed="rId4"/>
          <a:srcRect t="-649" b="-649"/>
          <a:stretch/>
        </p:blipFill>
        <p:spPr>
          <a:xfrm>
            <a:off x="685800" y="469900"/>
            <a:ext cx="539750" cy="495300"/>
          </a:xfrm>
          <a:prstGeom prst="rect">
            <a:avLst/>
          </a:prstGeom>
        </p:spPr>
      </p:pic>
      <p:sp>
        <p:nvSpPr>
          <p:cNvPr id="6" name="Text 2"/>
          <p:cNvSpPr>
            <a:spLocks noGrp="1"/>
          </p:cNvSpPr>
          <p:nvPr>
            <p:ph type="title"/>
          </p:nvPr>
        </p:nvSpPr>
        <p:spPr>
          <a:xfrm>
            <a:off x="2844800" y="2470150"/>
            <a:ext cx="6540500" cy="2052320"/>
          </a:xfrm>
          <a:prstGeom prst="rect">
            <a:avLst/>
          </a:prstGeom>
          <a:noFill/>
          <a:ln/>
        </p:spPr>
        <p:txBody>
          <a:bodyPr wrap="square" lIns="0" tIns="0" rIns="0" bIns="0" rtlCol="0" anchor="t">
            <a:normAutofit/>
          </a:bodyPr>
          <a:lstStyle/>
          <a:p>
            <a:pPr marL="0" indent="0" algn="l">
              <a:lnSpc>
                <a:spcPts val="7980"/>
              </a:lnSpc>
              <a:buNone/>
            </a:pPr>
            <a:r>
              <a:rPr lang="en-US" sz="6650" b="1" i="0" dirty="0">
                <a:solidFill>
                  <a:srgbClr val="000000"/>
                </a:solidFill>
                <a:latin typeface="Anybody" pitchFamily="34" charset="0"/>
                <a:ea typeface="Anybody" pitchFamily="34" charset="-122"/>
                <a:cs typeface="Anybody" pitchFamily="34" charset="-120"/>
              </a:rPr>
              <a:t>Implications</a:t>
            </a:r>
            <a:endParaRPr lang="en-US" sz="6650" dirty="0"/>
          </a:p>
          <a:p>
            <a:pPr marL="0" indent="0" algn="l">
              <a:lnSpc>
                <a:spcPts val="7980"/>
              </a:lnSpc>
              <a:buNone/>
            </a:pPr>
            <a:r>
              <a:rPr lang="en-US" sz="6650" b="1" i="0" dirty="0">
                <a:solidFill>
                  <a:srgbClr val="000000"/>
                </a:solidFill>
                <a:latin typeface="Anybody" pitchFamily="34" charset="0"/>
                <a:ea typeface="Anybody" pitchFamily="34" charset="-122"/>
                <a:cs typeface="Anybody" pitchFamily="34" charset="-120"/>
              </a:rPr>
              <a:t>&amp; limits</a:t>
            </a:r>
            <a:endParaRPr lang="en-US" sz="6650" dirty="0"/>
          </a:p>
        </p:txBody>
      </p:sp>
      <p:sp>
        <p:nvSpPr>
          <p:cNvPr id="7" name="Shape 3"/>
          <p:cNvSpPr/>
          <p:nvPr/>
        </p:nvSpPr>
        <p:spPr>
          <a:xfrm>
            <a:off x="958850" y="4794250"/>
            <a:ext cx="8547100" cy="12700"/>
          </a:xfrm>
          <a:prstGeom prst="rect">
            <a:avLst/>
          </a:prstGeom>
          <a:solidFill>
            <a:srgbClr val="000000"/>
          </a:solidFill>
          <a:ln/>
        </p:spPr>
        <p:txBody>
          <a:bodyPr/>
          <a:lstStyle/>
          <a:p>
            <a:endParaRPr lang="en-SG"/>
          </a:p>
        </p:txBody>
      </p:sp>
      <p:sp>
        <p:nvSpPr>
          <p:cNvPr id="8" name="Text 4"/>
          <p:cNvSpPr/>
          <p:nvPr/>
        </p:nvSpPr>
        <p:spPr>
          <a:xfrm>
            <a:off x="1079500" y="5149850"/>
            <a:ext cx="8502650" cy="391160"/>
          </a:xfrm>
          <a:prstGeom prst="rect">
            <a:avLst/>
          </a:prstGeom>
          <a:noFill/>
          <a:ln/>
        </p:spPr>
        <p:txBody>
          <a:bodyPr wrap="square" lIns="0" tIns="0" rIns="0" bIns="0" rtlCol="0" anchor="t">
            <a:normAutofit/>
          </a:bodyPr>
          <a:lstStyle/>
          <a:p>
            <a:pPr marL="0" indent="0" algn="l">
              <a:lnSpc>
                <a:spcPts val="2880"/>
              </a:lnSpc>
              <a:buNone/>
            </a:pPr>
            <a:r>
              <a:rPr lang="en-US" sz="2400">
                <a:solidFill>
                  <a:srgbClr val="000000"/>
                </a:solidFill>
                <a:latin typeface="Albert Sans" pitchFamily="34" charset="0"/>
                <a:ea typeface="Albert Sans" pitchFamily="34" charset="-122"/>
                <a:cs typeface="Albert Sans" pitchFamily="34" charset="-120"/>
              </a:rPr>
              <a:t>What organizations can do and where the study stops</a:t>
            </a:r>
            <a:endParaRPr 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a:lnSpc>
                <a:spcPts val="4800"/>
              </a:lnSpc>
            </a:pPr>
            <a:r>
              <a:rPr lang="en-US" b="1">
                <a:latin typeface="Anybody"/>
                <a:ea typeface="Anybody"/>
              </a:rPr>
              <a:t>Insights for Companies</a:t>
            </a:r>
            <a:endParaRPr lang="en-US"/>
          </a:p>
        </p:txBody>
      </p:sp>
      <p:sp>
        <p:nvSpPr>
          <p:cNvPr id="5" name="Text 2"/>
          <p:cNvSpPr/>
          <p:nvPr/>
        </p:nvSpPr>
        <p:spPr>
          <a:xfrm>
            <a:off x="623570" y="1907470"/>
            <a:ext cx="4781106" cy="429260"/>
          </a:xfrm>
          <a:prstGeom prst="rect">
            <a:avLst/>
          </a:prstGeom>
          <a:noFill/>
          <a:ln/>
        </p:spPr>
        <p:txBody>
          <a:bodyPr wrap="square" lIns="0" tIns="0" rIns="0" bIns="0" rtlCol="0" anchor="t">
            <a:normAutofit/>
          </a:bodyPr>
          <a:lstStyle/>
          <a:p>
            <a:pPr>
              <a:lnSpc>
                <a:spcPts val="3180"/>
              </a:lnSpc>
            </a:pPr>
            <a:r>
              <a:rPr lang="en-US" sz="2650" b="1">
                <a:solidFill>
                  <a:srgbClr val="000000"/>
                </a:solidFill>
                <a:latin typeface="Anybody"/>
              </a:rPr>
              <a:t>Market customization</a:t>
            </a:r>
            <a:endParaRPr lang="en-US" err="1"/>
          </a:p>
        </p:txBody>
      </p:sp>
      <p:sp>
        <p:nvSpPr>
          <p:cNvPr id="6" name="Text 3"/>
          <p:cNvSpPr/>
          <p:nvPr/>
        </p:nvSpPr>
        <p:spPr>
          <a:xfrm>
            <a:off x="631040" y="2374827"/>
            <a:ext cx="4908106" cy="756920"/>
          </a:xfrm>
          <a:prstGeom prst="rect">
            <a:avLst/>
          </a:prstGeom>
          <a:noFill/>
          <a:ln/>
        </p:spPr>
        <p:txBody>
          <a:bodyPr wrap="square" lIns="0" tIns="0" rIns="0" bIns="0" rtlCol="0" anchor="t">
            <a:normAutofit fontScale="85000" lnSpcReduction="10000"/>
          </a:bodyPr>
          <a:lstStyle/>
          <a:p>
            <a:pPr>
              <a:lnSpc>
                <a:spcPts val="1920"/>
              </a:lnSpc>
            </a:pPr>
            <a:r>
              <a:rPr lang="en-US" sz="1600"/>
              <a:t>Economy type determines AI trust more than country differences. Companies will need to </a:t>
            </a:r>
            <a:r>
              <a:rPr lang="en-US" sz="1600" err="1"/>
              <a:t>customise</a:t>
            </a:r>
            <a:r>
              <a:rPr lang="en-US" sz="1600"/>
              <a:t> accordingly to market. Country data hides individual differences</a:t>
            </a:r>
          </a:p>
        </p:txBody>
      </p:sp>
      <p:sp>
        <p:nvSpPr>
          <p:cNvPr id="7" name="Text 4"/>
          <p:cNvSpPr/>
          <p:nvPr/>
        </p:nvSpPr>
        <p:spPr>
          <a:xfrm>
            <a:off x="5821082" y="1937950"/>
            <a:ext cx="5024946" cy="439420"/>
          </a:xfrm>
          <a:prstGeom prst="rect">
            <a:avLst/>
          </a:prstGeom>
          <a:noFill/>
          <a:ln/>
        </p:spPr>
        <p:txBody>
          <a:bodyPr wrap="square" lIns="0" tIns="0" rIns="0" bIns="0" rtlCol="0" anchor="t">
            <a:normAutofit fontScale="92500"/>
          </a:bodyPr>
          <a:lstStyle/>
          <a:p>
            <a:pPr>
              <a:lnSpc>
                <a:spcPts val="3180"/>
              </a:lnSpc>
            </a:pPr>
            <a:r>
              <a:rPr lang="en-US" sz="2650" b="1">
                <a:solidFill>
                  <a:srgbClr val="000000"/>
                </a:solidFill>
                <a:latin typeface="Anybody"/>
              </a:rPr>
              <a:t>Accepting AI </a:t>
            </a:r>
            <a:r>
              <a:rPr lang="en-US" sz="2650" b="1">
                <a:solidFill>
                  <a:srgbClr val="2E3331"/>
                </a:solidFill>
                <a:latin typeface="Anybody"/>
                <a:cs typeface="Arial"/>
              </a:rPr>
              <a:t>≠</a:t>
            </a:r>
            <a:r>
              <a:rPr lang="en-US" sz="1500" b="1">
                <a:solidFill>
                  <a:srgbClr val="2E3331"/>
                </a:solidFill>
                <a:latin typeface="Anybody"/>
                <a:cs typeface="Arial"/>
              </a:rPr>
              <a:t> </a:t>
            </a:r>
            <a:r>
              <a:rPr lang="en-US" sz="2600" b="1">
                <a:solidFill>
                  <a:srgbClr val="2E3331"/>
                </a:solidFill>
                <a:ea typeface="+mn-lt"/>
                <a:cs typeface="+mn-lt"/>
              </a:rPr>
              <a:t>Confidence in AI</a:t>
            </a:r>
            <a:endParaRPr lang="en-US" sz="2600" b="1">
              <a:solidFill>
                <a:srgbClr val="2E3331"/>
              </a:solidFill>
              <a:latin typeface="Anybody"/>
            </a:endParaRPr>
          </a:p>
        </p:txBody>
      </p:sp>
      <p:sp>
        <p:nvSpPr>
          <p:cNvPr id="8" name="Text 5"/>
          <p:cNvSpPr/>
          <p:nvPr/>
        </p:nvSpPr>
        <p:spPr>
          <a:xfrm>
            <a:off x="5821082" y="2374827"/>
            <a:ext cx="4781106" cy="756920"/>
          </a:xfrm>
          <a:prstGeom prst="rect">
            <a:avLst/>
          </a:prstGeom>
          <a:noFill/>
          <a:ln/>
        </p:spPr>
        <p:txBody>
          <a:bodyPr wrap="square" lIns="0" tIns="0" rIns="0" bIns="0" rtlCol="0" anchor="t">
            <a:normAutofit/>
          </a:bodyPr>
          <a:lstStyle/>
          <a:p>
            <a:pPr>
              <a:lnSpc>
                <a:spcPts val="1920"/>
              </a:lnSpc>
            </a:pPr>
            <a:r>
              <a:rPr lang="en-US" sz="1600">
                <a:solidFill>
                  <a:srgbClr val="000000"/>
                </a:solidFill>
                <a:latin typeface="Albert Sans"/>
              </a:rPr>
              <a:t>Need for familiarization and training to habituate individuals to safely trust and utilize AI. The more they depend on AI, the more they will trust it</a:t>
            </a:r>
            <a:endParaRPr lang="en-US"/>
          </a:p>
        </p:txBody>
      </p:sp>
      <p:sp>
        <p:nvSpPr>
          <p:cNvPr id="9" name="Shape 6"/>
          <p:cNvSpPr/>
          <p:nvPr/>
        </p:nvSpPr>
        <p:spPr>
          <a:xfrm>
            <a:off x="533400" y="3394708"/>
            <a:ext cx="10274300" cy="12700"/>
          </a:xfrm>
          <a:prstGeom prst="rect">
            <a:avLst/>
          </a:prstGeom>
          <a:solidFill>
            <a:srgbClr val="000000"/>
          </a:solidFill>
          <a:ln/>
        </p:spPr>
        <p:txBody>
          <a:bodyPr/>
          <a:lstStyle/>
          <a:p>
            <a:endParaRPr lang="en-SG"/>
          </a:p>
        </p:txBody>
      </p:sp>
      <p:sp>
        <p:nvSpPr>
          <p:cNvPr id="10" name="Text 7"/>
          <p:cNvSpPr/>
          <p:nvPr/>
        </p:nvSpPr>
        <p:spPr>
          <a:xfrm>
            <a:off x="623570" y="3636008"/>
            <a:ext cx="4781106" cy="429260"/>
          </a:xfrm>
          <a:prstGeom prst="rect">
            <a:avLst/>
          </a:prstGeom>
          <a:noFill/>
          <a:ln/>
        </p:spPr>
        <p:txBody>
          <a:bodyPr wrap="square" lIns="0" tIns="0" rIns="0" bIns="0" rtlCol="0" anchor="t">
            <a:normAutofit/>
          </a:bodyPr>
          <a:lstStyle/>
          <a:p>
            <a:pPr>
              <a:lnSpc>
                <a:spcPts val="3180"/>
              </a:lnSpc>
            </a:pPr>
            <a:r>
              <a:rPr lang="en-US" sz="2650" b="1">
                <a:solidFill>
                  <a:srgbClr val="000000"/>
                </a:solidFill>
                <a:latin typeface="Anybody"/>
              </a:rPr>
              <a:t>Adequacy of safeguards</a:t>
            </a:r>
            <a:endParaRPr lang="en-US"/>
          </a:p>
        </p:txBody>
      </p:sp>
      <p:sp>
        <p:nvSpPr>
          <p:cNvPr id="11" name="Text 8"/>
          <p:cNvSpPr/>
          <p:nvPr/>
        </p:nvSpPr>
        <p:spPr>
          <a:xfrm>
            <a:off x="633730" y="4093217"/>
            <a:ext cx="5024946" cy="767080"/>
          </a:xfrm>
          <a:prstGeom prst="rect">
            <a:avLst/>
          </a:prstGeom>
          <a:noFill/>
          <a:ln/>
        </p:spPr>
        <p:txBody>
          <a:bodyPr wrap="square" lIns="0" tIns="0" rIns="0" bIns="0" rtlCol="0" anchor="t">
            <a:normAutofit/>
          </a:bodyPr>
          <a:lstStyle/>
          <a:p>
            <a:pPr>
              <a:lnSpc>
                <a:spcPts val="1920"/>
              </a:lnSpc>
            </a:pPr>
            <a:r>
              <a:rPr lang="en-US" sz="1600">
                <a:solidFill>
                  <a:srgbClr val="000000"/>
                </a:solidFill>
                <a:latin typeface="Albert Sans"/>
              </a:rPr>
              <a:t>Confidence in safeguards </a:t>
            </a:r>
            <a:r>
              <a:rPr lang="en-US" sz="1600">
                <a:solidFill>
                  <a:srgbClr val="2E3331"/>
                </a:solidFill>
                <a:ea typeface="+mn-lt"/>
                <a:cs typeface="+mn-lt"/>
              </a:rPr>
              <a:t>≠ safeguards are adequate.</a:t>
            </a:r>
            <a:endParaRPr lang="en-US"/>
          </a:p>
          <a:p>
            <a:pPr>
              <a:lnSpc>
                <a:spcPts val="1920"/>
              </a:lnSpc>
            </a:pPr>
            <a:r>
              <a:rPr lang="en-US" sz="1600">
                <a:solidFill>
                  <a:srgbClr val="2E3331"/>
                </a:solidFill>
              </a:rPr>
              <a:t>Institute reliability checks, clear limits and ways for users to challenge outputs.</a:t>
            </a:r>
            <a:endParaRPr lang="en-US" sz="1600">
              <a:solidFill>
                <a:srgbClr val="2E3331"/>
              </a:solidFill>
              <a:latin typeface="Albert Sans"/>
              <a:cs typeface="Times New Roman"/>
            </a:endParaRPr>
          </a:p>
          <a:p>
            <a:pPr>
              <a:lnSpc>
                <a:spcPts val="1920"/>
              </a:lnSpc>
            </a:pPr>
            <a:endParaRPr lang="en-US" sz="1600">
              <a:solidFill>
                <a:srgbClr val="2E3331"/>
              </a:solidFill>
            </a:endParaRPr>
          </a:p>
        </p:txBody>
      </p:sp>
      <p:sp>
        <p:nvSpPr>
          <p:cNvPr id="12" name="Text 9"/>
          <p:cNvSpPr/>
          <p:nvPr/>
        </p:nvSpPr>
        <p:spPr>
          <a:xfrm>
            <a:off x="5843493" y="3636008"/>
            <a:ext cx="5460930" cy="436730"/>
          </a:xfrm>
          <a:prstGeom prst="rect">
            <a:avLst/>
          </a:prstGeom>
          <a:noFill/>
          <a:ln/>
        </p:spPr>
        <p:txBody>
          <a:bodyPr wrap="square" lIns="0" tIns="0" rIns="0" bIns="0" rtlCol="0" anchor="t">
            <a:normAutofit/>
          </a:bodyPr>
          <a:lstStyle/>
          <a:p>
            <a:pPr>
              <a:lnSpc>
                <a:spcPts val="3180"/>
              </a:lnSpc>
            </a:pPr>
            <a:r>
              <a:rPr lang="en-US" sz="2650" b="1">
                <a:solidFill>
                  <a:srgbClr val="000000"/>
                </a:solidFill>
                <a:ea typeface="Anybody"/>
              </a:rPr>
              <a:t>Trust associated with usefulness</a:t>
            </a:r>
            <a:endParaRPr lang="en-US"/>
          </a:p>
        </p:txBody>
      </p:sp>
      <p:sp>
        <p:nvSpPr>
          <p:cNvPr id="13" name="Text 10"/>
          <p:cNvSpPr/>
          <p:nvPr/>
        </p:nvSpPr>
        <p:spPr>
          <a:xfrm>
            <a:off x="5821082" y="4103377"/>
            <a:ext cx="4781106" cy="756920"/>
          </a:xfrm>
          <a:prstGeom prst="rect">
            <a:avLst/>
          </a:prstGeom>
          <a:noFill/>
          <a:ln/>
        </p:spPr>
        <p:txBody>
          <a:bodyPr wrap="square" lIns="0" tIns="0" rIns="0" bIns="0" rtlCol="0" anchor="t">
            <a:normAutofit/>
          </a:bodyPr>
          <a:lstStyle/>
          <a:p>
            <a:pPr>
              <a:lnSpc>
                <a:spcPts val="1920"/>
              </a:lnSpc>
            </a:pPr>
            <a:r>
              <a:rPr lang="en-US" sz="1600">
                <a:solidFill>
                  <a:srgbClr val="000000"/>
                </a:solidFill>
                <a:latin typeface="Albert Sans"/>
                <a:ea typeface="Albert Sans"/>
              </a:rPr>
              <a:t>When AI delivers results, or make work more efficient, trust follows</a:t>
            </a:r>
            <a:endParaRPr lang="en-US"/>
          </a:p>
        </p:txBody>
      </p:sp>
      <p:sp>
        <p:nvSpPr>
          <p:cNvPr id="15" name="Text 12"/>
          <p:cNvSpPr/>
          <p:nvPr/>
        </p:nvSpPr>
        <p:spPr>
          <a:xfrm>
            <a:off x="6762750" y="6019800"/>
            <a:ext cx="3924300" cy="269240"/>
          </a:xfrm>
          <a:prstGeom prst="rect">
            <a:avLst/>
          </a:prstGeom>
          <a:noFill/>
          <a:ln/>
        </p:spPr>
        <p:txBody>
          <a:bodyPr wrap="square" lIns="0" tIns="0" rIns="0" bIns="0" rtlCol="0" anchor="t">
            <a:normAutofit/>
          </a:bodyPr>
          <a:lstStyle/>
          <a:p>
            <a:pPr algn="r">
              <a:lnSpc>
                <a:spcPts val="1920"/>
              </a:lnSpc>
            </a:pPr>
            <a:r>
              <a:rPr lang="en-US" sz="1600" b="1">
                <a:solidFill>
                  <a:srgbClr val="000000"/>
                </a:solidFill>
                <a:latin typeface="Anybody"/>
                <a:ea typeface="Anybody"/>
                <a:cs typeface="Anybody" pitchFamily="34" charset="-120"/>
              </a:rPr>
              <a:t>[Joanne Quek]</a:t>
            </a:r>
            <a:endParaRPr lang="en-US" sz="1600">
              <a:latin typeface="Anybody"/>
              <a:ea typeface="Anybody"/>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902700" y="0"/>
            <a:ext cx="2438400" cy="6858000"/>
          </a:xfrm>
          <a:prstGeom prst="rect">
            <a:avLst/>
          </a:prstGeom>
          <a:gradFill rotWithShape="1">
            <a:gsLst>
              <a:gs pos="0">
                <a:srgbClr val="207368"/>
              </a:gs>
              <a:gs pos="24000">
                <a:srgbClr val="9EC0BE"/>
              </a:gs>
              <a:gs pos="49000">
                <a:srgbClr val="B185B4"/>
              </a:gs>
              <a:gs pos="75000">
                <a:srgbClr val="FFFFFF"/>
              </a:gs>
              <a:gs pos="100000">
                <a:srgbClr val="207368"/>
              </a:gs>
            </a:gsLst>
            <a:lin ang="8100000" scaled="0"/>
          </a:gradFill>
          <a:ln/>
        </p:spPr>
        <p:txBody>
          <a:bodyPr/>
          <a:lstStyle/>
          <a:p>
            <a:endParaRPr lang="en-SG"/>
          </a:p>
        </p:txBody>
      </p:sp>
      <p:pic>
        <p:nvPicPr>
          <p:cNvPr id="3" name="Image 0" descr="preencoded.png"/>
          <p:cNvPicPr>
            <a:picLocks noChangeAspect="1"/>
          </p:cNvPicPr>
          <p:nvPr/>
        </p:nvPicPr>
        <p:blipFill>
          <a:blip r:embed="rId3"/>
          <a:srcRect l="34171" r="34171"/>
          <a:stretch/>
        </p:blipFill>
        <p:spPr>
          <a:xfrm rot="10800000">
            <a:off x="11341100" y="0"/>
            <a:ext cx="850900" cy="6858000"/>
          </a:xfrm>
          <a:prstGeom prst="rect">
            <a:avLst/>
          </a:prstGeom>
        </p:spPr>
      </p:pic>
      <p:pic>
        <p:nvPicPr>
          <p:cNvPr id="4" name="Image 1" descr="preencoded.png"/>
          <p:cNvPicPr>
            <a:picLocks noChangeAspect="1"/>
          </p:cNvPicPr>
          <p:nvPr/>
        </p:nvPicPr>
        <p:blipFill>
          <a:blip r:embed="rId4"/>
          <a:srcRect t="-649" b="-649"/>
          <a:stretch/>
        </p:blipFill>
        <p:spPr>
          <a:xfrm>
            <a:off x="685800" y="5892800"/>
            <a:ext cx="539750" cy="495300"/>
          </a:xfrm>
          <a:prstGeom prst="rect">
            <a:avLst/>
          </a:prstGeom>
        </p:spPr>
      </p:pic>
      <p:sp>
        <p:nvSpPr>
          <p:cNvPr id="5" name="Text 1"/>
          <p:cNvSpPr>
            <a:spLocks noGrp="1"/>
          </p:cNvSpPr>
          <p:nvPr>
            <p:ph type="title"/>
          </p:nvPr>
        </p:nvSpPr>
        <p:spPr>
          <a:xfrm>
            <a:off x="927100" y="736600"/>
            <a:ext cx="7390765"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Limits &amp; further work</a:t>
            </a:r>
            <a:endParaRPr lang="en-US" sz="4000"/>
          </a:p>
        </p:txBody>
      </p:sp>
      <p:sp>
        <p:nvSpPr>
          <p:cNvPr id="6" name="Text 2"/>
          <p:cNvSpPr/>
          <p:nvPr/>
        </p:nvSpPr>
        <p:spPr>
          <a:xfrm>
            <a:off x="713740" y="2185677"/>
            <a:ext cx="2877820" cy="429260"/>
          </a:xfrm>
          <a:prstGeom prst="rect">
            <a:avLst/>
          </a:prstGeom>
          <a:noFill/>
          <a:ln/>
        </p:spPr>
        <p:txBody>
          <a:bodyPr wrap="square" lIns="0" tIns="0" rIns="0" bIns="0" rtlCol="0" anchor="t">
            <a:normAutofit/>
          </a:bodyPr>
          <a:lstStyle/>
          <a:p>
            <a:pPr>
              <a:lnSpc>
                <a:spcPts val="3180"/>
              </a:lnSpc>
            </a:pPr>
            <a:r>
              <a:rPr lang="en-US" sz="2400" b="1">
                <a:solidFill>
                  <a:srgbClr val="000000"/>
                </a:solidFill>
                <a:latin typeface="Anybody"/>
              </a:rPr>
              <a:t>Limited data</a:t>
            </a:r>
            <a:endParaRPr lang="en-US" sz="2400"/>
          </a:p>
        </p:txBody>
      </p:sp>
      <p:sp>
        <p:nvSpPr>
          <p:cNvPr id="7" name="Text 3"/>
          <p:cNvSpPr/>
          <p:nvPr/>
        </p:nvSpPr>
        <p:spPr>
          <a:xfrm>
            <a:off x="3782060" y="2143758"/>
            <a:ext cx="4388676" cy="51308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47 countries, correlated inputs and one main snapshot of reported perceptions</a:t>
            </a:r>
            <a:endParaRPr lang="en-US" sz="1600"/>
          </a:p>
        </p:txBody>
      </p:sp>
      <p:sp>
        <p:nvSpPr>
          <p:cNvPr id="8" name="Shape 4"/>
          <p:cNvSpPr/>
          <p:nvPr/>
        </p:nvSpPr>
        <p:spPr>
          <a:xfrm>
            <a:off x="806450" y="2806700"/>
            <a:ext cx="7296150" cy="0"/>
          </a:xfrm>
          <a:prstGeom prst="line">
            <a:avLst/>
          </a:prstGeom>
          <a:noFill/>
          <a:ln w="12700">
            <a:solidFill>
              <a:srgbClr val="000000"/>
            </a:solidFill>
            <a:prstDash val="solid"/>
          </a:ln>
        </p:spPr>
        <p:txBody>
          <a:bodyPr/>
          <a:lstStyle/>
          <a:p>
            <a:endParaRPr lang="en-SG"/>
          </a:p>
        </p:txBody>
      </p:sp>
      <p:sp>
        <p:nvSpPr>
          <p:cNvPr id="9" name="Text 5"/>
          <p:cNvSpPr/>
          <p:nvPr/>
        </p:nvSpPr>
        <p:spPr>
          <a:xfrm>
            <a:off x="713740" y="3016250"/>
            <a:ext cx="2877820" cy="429260"/>
          </a:xfrm>
          <a:prstGeom prst="rect">
            <a:avLst/>
          </a:prstGeom>
          <a:noFill/>
          <a:ln/>
        </p:spPr>
        <p:txBody>
          <a:bodyPr wrap="square" lIns="0" tIns="0" rIns="0" bIns="0" rtlCol="0" anchor="t">
            <a:normAutofit fontScale="92500"/>
          </a:bodyPr>
          <a:lstStyle/>
          <a:p>
            <a:pPr>
              <a:lnSpc>
                <a:spcPts val="3180"/>
              </a:lnSpc>
            </a:pPr>
            <a:r>
              <a:rPr lang="en-US" sz="2400" b="1">
                <a:solidFill>
                  <a:srgbClr val="000000"/>
                </a:solidFill>
                <a:latin typeface="Anybody"/>
                <a:ea typeface="Anybody"/>
              </a:rPr>
              <a:t>Non-deterministic</a:t>
            </a:r>
            <a:endParaRPr lang="en-US" sz="2400"/>
          </a:p>
        </p:txBody>
      </p:sp>
      <p:sp>
        <p:nvSpPr>
          <p:cNvPr id="10" name="Text 6"/>
          <p:cNvSpPr/>
          <p:nvPr/>
        </p:nvSpPr>
        <p:spPr>
          <a:xfrm>
            <a:off x="3782060" y="2974342"/>
            <a:ext cx="4388676" cy="513080"/>
          </a:xfrm>
          <a:prstGeom prst="rect">
            <a:avLst/>
          </a:prstGeom>
          <a:noFill/>
          <a:ln/>
        </p:spPr>
        <p:txBody>
          <a:bodyPr wrap="square" lIns="0" tIns="0" rIns="0" bIns="0" rtlCol="0" anchor="t">
            <a:normAutofit/>
          </a:bodyPr>
          <a:lstStyle/>
          <a:p>
            <a:pPr>
              <a:lnSpc>
                <a:spcPts val="1920"/>
              </a:lnSpc>
            </a:pPr>
            <a:r>
              <a:rPr lang="en-US" sz="1600">
                <a:solidFill>
                  <a:srgbClr val="000000"/>
                </a:solidFill>
                <a:latin typeface="Albert Sans"/>
              </a:rPr>
              <a:t>Influence between confidence and trust can be either way</a:t>
            </a:r>
            <a:endParaRPr lang="en-US"/>
          </a:p>
        </p:txBody>
      </p:sp>
      <p:sp>
        <p:nvSpPr>
          <p:cNvPr id="11" name="Shape 7"/>
          <p:cNvSpPr/>
          <p:nvPr/>
        </p:nvSpPr>
        <p:spPr>
          <a:xfrm>
            <a:off x="806450" y="3632200"/>
            <a:ext cx="7296150" cy="0"/>
          </a:xfrm>
          <a:prstGeom prst="line">
            <a:avLst/>
          </a:prstGeom>
          <a:noFill/>
          <a:ln w="12700">
            <a:solidFill>
              <a:srgbClr val="000000"/>
            </a:solidFill>
            <a:prstDash val="solid"/>
          </a:ln>
        </p:spPr>
        <p:txBody>
          <a:bodyPr/>
          <a:lstStyle/>
          <a:p>
            <a:endParaRPr lang="en-SG"/>
          </a:p>
        </p:txBody>
      </p:sp>
      <p:sp>
        <p:nvSpPr>
          <p:cNvPr id="12" name="Text 8"/>
          <p:cNvSpPr/>
          <p:nvPr/>
        </p:nvSpPr>
        <p:spPr>
          <a:xfrm>
            <a:off x="713740" y="3841750"/>
            <a:ext cx="2877820" cy="429260"/>
          </a:xfrm>
          <a:prstGeom prst="rect">
            <a:avLst/>
          </a:prstGeom>
          <a:noFill/>
          <a:ln/>
        </p:spPr>
        <p:txBody>
          <a:bodyPr wrap="square" lIns="0" tIns="0" rIns="0" bIns="0" rtlCol="0" anchor="t">
            <a:normAutofit fontScale="92500"/>
          </a:bodyPr>
          <a:lstStyle/>
          <a:p>
            <a:pPr>
              <a:lnSpc>
                <a:spcPts val="3180"/>
              </a:lnSpc>
            </a:pPr>
            <a:r>
              <a:rPr lang="en-US" sz="2400" b="1">
                <a:solidFill>
                  <a:srgbClr val="000000"/>
                </a:solidFill>
                <a:latin typeface="Anybody"/>
              </a:rPr>
              <a:t>Optimistic results</a:t>
            </a:r>
            <a:endParaRPr lang="en-US" sz="2400"/>
          </a:p>
        </p:txBody>
      </p:sp>
      <p:sp>
        <p:nvSpPr>
          <p:cNvPr id="13" name="Text 9"/>
          <p:cNvSpPr/>
          <p:nvPr/>
        </p:nvSpPr>
        <p:spPr>
          <a:xfrm>
            <a:off x="3782060" y="3799842"/>
            <a:ext cx="4388676" cy="513080"/>
          </a:xfrm>
          <a:prstGeom prst="rect">
            <a:avLst/>
          </a:prstGeom>
          <a:noFill/>
          <a:ln/>
        </p:spPr>
        <p:txBody>
          <a:bodyPr wrap="square" lIns="0" tIns="0" rIns="0" bIns="0" rtlCol="0" anchor="t">
            <a:normAutofit/>
          </a:bodyPr>
          <a:lstStyle/>
          <a:p>
            <a:pPr>
              <a:lnSpc>
                <a:spcPts val="1920"/>
              </a:lnSpc>
            </a:pPr>
            <a:r>
              <a:rPr lang="en-US" sz="1600">
                <a:solidFill>
                  <a:srgbClr val="000000"/>
                </a:solidFill>
                <a:ea typeface="Albert Sans"/>
              </a:rPr>
              <a:t>Country level finding cannot explain individual </a:t>
            </a:r>
            <a:r>
              <a:rPr lang="en-US" sz="1600" err="1">
                <a:solidFill>
                  <a:srgbClr val="000000"/>
                </a:solidFill>
                <a:ea typeface="Albert Sans"/>
              </a:rPr>
              <a:t>attit</a:t>
            </a:r>
            <a:r>
              <a:rPr lang="en-US" sz="1600">
                <a:solidFill>
                  <a:srgbClr val="000000"/>
                </a:solidFill>
                <a:ea typeface="Albert Sans"/>
              </a:rPr>
              <a:t>udes</a:t>
            </a:r>
            <a:endParaRPr lang="en-US"/>
          </a:p>
        </p:txBody>
      </p:sp>
      <p:sp>
        <p:nvSpPr>
          <p:cNvPr id="14" name="Shape 10"/>
          <p:cNvSpPr/>
          <p:nvPr/>
        </p:nvSpPr>
        <p:spPr>
          <a:xfrm>
            <a:off x="806450" y="4457700"/>
            <a:ext cx="7296150" cy="0"/>
          </a:xfrm>
          <a:prstGeom prst="line">
            <a:avLst/>
          </a:prstGeom>
          <a:noFill/>
          <a:ln w="12700">
            <a:solidFill>
              <a:srgbClr val="000000"/>
            </a:solidFill>
            <a:prstDash val="solid"/>
          </a:ln>
        </p:spPr>
        <p:txBody>
          <a:bodyPr/>
          <a:lstStyle/>
          <a:p>
            <a:endParaRPr lang="en-SG"/>
          </a:p>
        </p:txBody>
      </p:sp>
      <p:sp>
        <p:nvSpPr>
          <p:cNvPr id="15" name="Text 11"/>
          <p:cNvSpPr/>
          <p:nvPr/>
        </p:nvSpPr>
        <p:spPr>
          <a:xfrm>
            <a:off x="713740" y="4667250"/>
            <a:ext cx="2877820" cy="429260"/>
          </a:xfrm>
          <a:prstGeom prst="rect">
            <a:avLst/>
          </a:prstGeom>
          <a:noFill/>
          <a:ln/>
        </p:spPr>
        <p:txBody>
          <a:bodyPr wrap="square" lIns="0" tIns="0" rIns="0" bIns="0" rtlCol="0" anchor="t">
            <a:normAutofit/>
          </a:bodyPr>
          <a:lstStyle/>
          <a:p>
            <a:pPr marL="0" indent="0" algn="l">
              <a:lnSpc>
                <a:spcPts val="3180"/>
              </a:lnSpc>
              <a:buNone/>
            </a:pPr>
            <a:r>
              <a:rPr lang="en-US" sz="2400" b="1">
                <a:solidFill>
                  <a:srgbClr val="000000"/>
                </a:solidFill>
                <a:latin typeface="Anybody" pitchFamily="34" charset="0"/>
                <a:ea typeface="Anybody" pitchFamily="34" charset="-122"/>
                <a:cs typeface="Anybody" pitchFamily="34" charset="-120"/>
              </a:rPr>
              <a:t>Next steps</a:t>
            </a:r>
            <a:endParaRPr lang="en-US" sz="2400"/>
          </a:p>
        </p:txBody>
      </p:sp>
      <p:sp>
        <p:nvSpPr>
          <p:cNvPr id="16" name="Text 12"/>
          <p:cNvSpPr/>
          <p:nvPr/>
        </p:nvSpPr>
        <p:spPr>
          <a:xfrm>
            <a:off x="3782060" y="4655822"/>
            <a:ext cx="4348036" cy="1214120"/>
          </a:xfrm>
          <a:prstGeom prst="rect">
            <a:avLst/>
          </a:prstGeom>
          <a:noFill/>
          <a:ln/>
        </p:spPr>
        <p:txBody>
          <a:bodyPr wrap="square" lIns="0" tIns="0" rIns="0" bIns="0" rtlCol="0" anchor="t">
            <a:normAutofit/>
          </a:bodyPr>
          <a:lstStyle/>
          <a:p>
            <a:pPr>
              <a:lnSpc>
                <a:spcPts val="1920"/>
              </a:lnSpc>
            </a:pPr>
            <a:r>
              <a:rPr lang="en-US" sz="1600" dirty="0">
                <a:solidFill>
                  <a:srgbClr val="000000"/>
                </a:solidFill>
                <a:latin typeface="Albert Sans"/>
                <a:ea typeface="Albert Sans"/>
              </a:rPr>
              <a:t>Forecasting of prediction with independent countries and more data, and longitudinal studies of individual and sub-group difference</a:t>
            </a:r>
            <a:endParaRPr lang="en-US" sz="1600" dirty="0">
              <a:latin typeface="Albert Sans"/>
              <a:ea typeface="Albert Sans"/>
            </a:endParaRPr>
          </a:p>
        </p:txBody>
      </p:sp>
      <p:sp>
        <p:nvSpPr>
          <p:cNvPr id="17" name="Text 13"/>
          <p:cNvSpPr/>
          <p:nvPr/>
        </p:nvSpPr>
        <p:spPr>
          <a:xfrm>
            <a:off x="4057650" y="6019800"/>
            <a:ext cx="3924300" cy="269240"/>
          </a:xfrm>
          <a:prstGeom prst="rect">
            <a:avLst/>
          </a:prstGeom>
          <a:noFill/>
          <a:ln/>
        </p:spPr>
        <p:txBody>
          <a:bodyPr wrap="square" lIns="0" tIns="0" rIns="0" bIns="0" rtlCol="0" anchor="t">
            <a:normAutofit/>
          </a:bodyPr>
          <a:lstStyle/>
          <a:p>
            <a:pPr algn="r">
              <a:lnSpc>
                <a:spcPts val="1920"/>
              </a:lnSpc>
            </a:pPr>
            <a:r>
              <a:rPr lang="en-US" sz="1600" b="1">
                <a:solidFill>
                  <a:srgbClr val="000000"/>
                </a:solidFill>
                <a:latin typeface="Anybody"/>
                <a:ea typeface="Anybody"/>
              </a:rPr>
              <a:t>[Joanne Quek]</a:t>
            </a:r>
            <a:endParaRPr lang="en-US" sz="1600">
              <a:ea typeface="Anybody"/>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189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Conclusion</a:t>
            </a:r>
            <a:endParaRPr lang="en-US" sz="4000"/>
          </a:p>
        </p:txBody>
      </p:sp>
      <p:sp>
        <p:nvSpPr>
          <p:cNvPr id="5" name="Text 2"/>
          <p:cNvSpPr/>
          <p:nvPr/>
        </p:nvSpPr>
        <p:spPr>
          <a:xfrm>
            <a:off x="654050" y="1828805"/>
            <a:ext cx="876300" cy="474980"/>
          </a:xfrm>
          <a:prstGeom prst="rect">
            <a:avLst/>
          </a:prstGeom>
          <a:noFill/>
          <a:ln/>
        </p:spPr>
        <p:txBody>
          <a:bodyPr wrap="square" lIns="0" tIns="0" rIns="0" bIns="0" rtlCol="0" anchor="t">
            <a:normAutofit/>
          </a:bodyPr>
          <a:lstStyle/>
          <a:p>
            <a:pPr marL="0" indent="0" algn="l">
              <a:lnSpc>
                <a:spcPts val="3540"/>
              </a:lnSpc>
              <a:buNone/>
            </a:pPr>
            <a:r>
              <a:rPr lang="en-US" sz="2950" b="1">
                <a:solidFill>
                  <a:srgbClr val="000000"/>
                </a:solidFill>
                <a:latin typeface="Anybody" pitchFamily="34" charset="0"/>
                <a:ea typeface="Anybody" pitchFamily="34" charset="-122"/>
                <a:cs typeface="Anybody" pitchFamily="34" charset="-120"/>
              </a:rPr>
              <a:t>01</a:t>
            </a:r>
            <a:endParaRPr lang="en-US" sz="2950"/>
          </a:p>
        </p:txBody>
      </p:sp>
      <p:sp>
        <p:nvSpPr>
          <p:cNvPr id="6" name="Text 3"/>
          <p:cNvSpPr/>
          <p:nvPr/>
        </p:nvSpPr>
        <p:spPr>
          <a:xfrm>
            <a:off x="1479550" y="1752605"/>
            <a:ext cx="10867390" cy="632460"/>
          </a:xfrm>
          <a:prstGeom prst="rect">
            <a:avLst/>
          </a:prstGeom>
          <a:noFill/>
          <a:ln/>
        </p:spPr>
        <p:txBody>
          <a:bodyPr wrap="square" lIns="0" tIns="0" rIns="0" bIns="0" rtlCol="0" anchor="t">
            <a:normAutofit/>
          </a:bodyPr>
          <a:lstStyle/>
          <a:p>
            <a:pPr>
              <a:lnSpc>
                <a:spcPts val="2220"/>
              </a:lnSpc>
            </a:pPr>
            <a:r>
              <a:rPr lang="en-US" sz="1850">
                <a:solidFill>
                  <a:srgbClr val="000000"/>
                </a:solidFill>
                <a:latin typeface="Albert Sans"/>
                <a:ea typeface="Albert Sans"/>
                <a:cs typeface="Albert Sans" pitchFamily="34" charset="-120"/>
              </a:rPr>
              <a:t>Trust varies widely: emerging economies reporting higher average trust than advanced </a:t>
            </a:r>
          </a:p>
          <a:p>
            <a:pPr>
              <a:lnSpc>
                <a:spcPts val="2220"/>
              </a:lnSpc>
            </a:pPr>
            <a:r>
              <a:rPr lang="en-US" sz="1850">
                <a:solidFill>
                  <a:srgbClr val="000000"/>
                </a:solidFill>
                <a:latin typeface="Albert Sans"/>
                <a:ea typeface="Albert Sans"/>
                <a:cs typeface="Albert Sans" pitchFamily="34" charset="-120"/>
              </a:rPr>
              <a:t>economies</a:t>
            </a:r>
            <a:endParaRPr lang="en-US" sz="1850">
              <a:latin typeface="Albert Sans"/>
            </a:endParaRPr>
          </a:p>
        </p:txBody>
      </p:sp>
      <p:sp>
        <p:nvSpPr>
          <p:cNvPr id="7" name="Shape 4"/>
          <p:cNvSpPr/>
          <p:nvPr/>
        </p:nvSpPr>
        <p:spPr>
          <a:xfrm>
            <a:off x="533400" y="2435858"/>
            <a:ext cx="10274300" cy="0"/>
          </a:xfrm>
          <a:prstGeom prst="line">
            <a:avLst/>
          </a:prstGeom>
          <a:noFill/>
          <a:ln w="12700">
            <a:solidFill>
              <a:srgbClr val="000000"/>
            </a:solidFill>
            <a:prstDash val="solid"/>
          </a:ln>
        </p:spPr>
        <p:txBody>
          <a:bodyPr/>
          <a:lstStyle/>
          <a:p>
            <a:endParaRPr lang="en-SG"/>
          </a:p>
        </p:txBody>
      </p:sp>
      <p:sp>
        <p:nvSpPr>
          <p:cNvPr id="8" name="Text 5"/>
          <p:cNvSpPr/>
          <p:nvPr/>
        </p:nvSpPr>
        <p:spPr>
          <a:xfrm>
            <a:off x="654050" y="2557780"/>
            <a:ext cx="876300" cy="474980"/>
          </a:xfrm>
          <a:prstGeom prst="rect">
            <a:avLst/>
          </a:prstGeom>
          <a:noFill/>
          <a:ln/>
        </p:spPr>
        <p:txBody>
          <a:bodyPr wrap="square" lIns="0" tIns="0" rIns="0" bIns="0" rtlCol="0" anchor="t">
            <a:normAutofit/>
          </a:bodyPr>
          <a:lstStyle/>
          <a:p>
            <a:pPr marL="0" indent="0" algn="l">
              <a:lnSpc>
                <a:spcPts val="3540"/>
              </a:lnSpc>
              <a:buNone/>
            </a:pPr>
            <a:r>
              <a:rPr lang="en-US" sz="2950" b="1">
                <a:solidFill>
                  <a:srgbClr val="000000"/>
                </a:solidFill>
                <a:latin typeface="Anybody" pitchFamily="34" charset="0"/>
                <a:ea typeface="Anybody" pitchFamily="34" charset="-122"/>
                <a:cs typeface="Anybody" pitchFamily="34" charset="-120"/>
              </a:rPr>
              <a:t>02</a:t>
            </a:r>
            <a:endParaRPr lang="en-US" sz="2950"/>
          </a:p>
        </p:txBody>
      </p:sp>
      <p:sp>
        <p:nvSpPr>
          <p:cNvPr id="9" name="Text 6"/>
          <p:cNvSpPr/>
          <p:nvPr/>
        </p:nvSpPr>
        <p:spPr>
          <a:xfrm>
            <a:off x="1479550" y="2501900"/>
            <a:ext cx="9483725" cy="589280"/>
          </a:xfrm>
          <a:prstGeom prst="rect">
            <a:avLst/>
          </a:prstGeom>
          <a:noFill/>
          <a:ln/>
        </p:spPr>
        <p:txBody>
          <a:bodyPr wrap="square" lIns="0" tIns="0" rIns="0" bIns="0" rtlCol="0" anchor="t">
            <a:normAutofit/>
          </a:bodyPr>
          <a:lstStyle/>
          <a:p>
            <a:pPr>
              <a:lnSpc>
                <a:spcPts val="2220"/>
              </a:lnSpc>
            </a:pPr>
            <a:r>
              <a:rPr lang="en-US" sz="1850">
                <a:solidFill>
                  <a:srgbClr val="000000"/>
                </a:solidFill>
                <a:latin typeface="Albert Sans"/>
              </a:rPr>
              <a:t>Higher trust is associated with factors such as confidence in safeguards, training, AI literacy, and regular AI usage</a:t>
            </a:r>
            <a:endParaRPr lang="en-US"/>
          </a:p>
        </p:txBody>
      </p:sp>
      <p:sp>
        <p:nvSpPr>
          <p:cNvPr id="10" name="Shape 7"/>
          <p:cNvSpPr/>
          <p:nvPr/>
        </p:nvSpPr>
        <p:spPr>
          <a:xfrm>
            <a:off x="533400" y="3134358"/>
            <a:ext cx="10274300" cy="0"/>
          </a:xfrm>
          <a:prstGeom prst="line">
            <a:avLst/>
          </a:prstGeom>
          <a:noFill/>
          <a:ln w="12700">
            <a:solidFill>
              <a:srgbClr val="000000"/>
            </a:solidFill>
            <a:prstDash val="solid"/>
          </a:ln>
        </p:spPr>
        <p:txBody>
          <a:bodyPr/>
          <a:lstStyle/>
          <a:p>
            <a:endParaRPr lang="en-SG"/>
          </a:p>
        </p:txBody>
      </p:sp>
      <p:sp>
        <p:nvSpPr>
          <p:cNvPr id="11" name="Text 8"/>
          <p:cNvSpPr/>
          <p:nvPr/>
        </p:nvSpPr>
        <p:spPr>
          <a:xfrm>
            <a:off x="654050" y="3284855"/>
            <a:ext cx="876300" cy="474980"/>
          </a:xfrm>
          <a:prstGeom prst="rect">
            <a:avLst/>
          </a:prstGeom>
          <a:noFill/>
          <a:ln/>
        </p:spPr>
        <p:txBody>
          <a:bodyPr wrap="square" lIns="0" tIns="0" rIns="0" bIns="0" rtlCol="0" anchor="t">
            <a:normAutofit/>
          </a:bodyPr>
          <a:lstStyle/>
          <a:p>
            <a:pPr marL="0" indent="0" algn="l">
              <a:lnSpc>
                <a:spcPts val="3540"/>
              </a:lnSpc>
              <a:buNone/>
            </a:pPr>
            <a:r>
              <a:rPr lang="en-US" sz="2950" b="1">
                <a:solidFill>
                  <a:srgbClr val="000000"/>
                </a:solidFill>
                <a:latin typeface="Anybody" pitchFamily="34" charset="0"/>
                <a:ea typeface="Anybody" pitchFamily="34" charset="-122"/>
                <a:cs typeface="Anybody" pitchFamily="34" charset="-120"/>
              </a:rPr>
              <a:t>03</a:t>
            </a:r>
            <a:endParaRPr lang="en-US" sz="2950"/>
          </a:p>
        </p:txBody>
      </p:sp>
      <p:sp>
        <p:nvSpPr>
          <p:cNvPr id="12" name="Text 9"/>
          <p:cNvSpPr/>
          <p:nvPr/>
        </p:nvSpPr>
        <p:spPr>
          <a:xfrm>
            <a:off x="1479550" y="3355975"/>
            <a:ext cx="9443085" cy="325120"/>
          </a:xfrm>
          <a:prstGeom prst="rect">
            <a:avLst/>
          </a:prstGeom>
          <a:noFill/>
          <a:ln/>
        </p:spPr>
        <p:txBody>
          <a:bodyPr wrap="square" lIns="0" tIns="0" rIns="0" bIns="0" rtlCol="0" anchor="t">
            <a:normAutofit/>
          </a:bodyPr>
          <a:lstStyle/>
          <a:p>
            <a:pPr>
              <a:lnSpc>
                <a:spcPts val="2220"/>
              </a:lnSpc>
            </a:pPr>
            <a:r>
              <a:rPr lang="en-US" sz="1850">
                <a:solidFill>
                  <a:srgbClr val="000000"/>
                </a:solidFill>
                <a:latin typeface="Albert Sans"/>
              </a:rPr>
              <a:t>Factors supported prediction but does not explain every country's attitudes</a:t>
            </a:r>
            <a:endParaRPr lang="en-US"/>
          </a:p>
        </p:txBody>
      </p:sp>
      <p:sp>
        <p:nvSpPr>
          <p:cNvPr id="13" name="Shape 10"/>
          <p:cNvSpPr/>
          <p:nvPr/>
        </p:nvSpPr>
        <p:spPr>
          <a:xfrm>
            <a:off x="533400" y="3832858"/>
            <a:ext cx="10274300" cy="0"/>
          </a:xfrm>
          <a:prstGeom prst="line">
            <a:avLst/>
          </a:prstGeom>
          <a:noFill/>
          <a:ln w="12700">
            <a:solidFill>
              <a:srgbClr val="000000"/>
            </a:solidFill>
            <a:prstDash val="solid"/>
          </a:ln>
        </p:spPr>
        <p:txBody>
          <a:bodyPr/>
          <a:lstStyle/>
          <a:p>
            <a:endParaRPr lang="en-SG"/>
          </a:p>
        </p:txBody>
      </p:sp>
      <p:sp>
        <p:nvSpPr>
          <p:cNvPr id="14" name="Text 11"/>
          <p:cNvSpPr/>
          <p:nvPr/>
        </p:nvSpPr>
        <p:spPr>
          <a:xfrm>
            <a:off x="654050" y="3956050"/>
            <a:ext cx="876300" cy="474980"/>
          </a:xfrm>
          <a:prstGeom prst="rect">
            <a:avLst/>
          </a:prstGeom>
          <a:noFill/>
          <a:ln/>
        </p:spPr>
        <p:txBody>
          <a:bodyPr wrap="square" lIns="0" tIns="0" rIns="0" bIns="0" rtlCol="0" anchor="t">
            <a:normAutofit/>
          </a:bodyPr>
          <a:lstStyle/>
          <a:p>
            <a:pPr marL="0" indent="0" algn="l">
              <a:lnSpc>
                <a:spcPts val="3540"/>
              </a:lnSpc>
              <a:buNone/>
            </a:pPr>
            <a:r>
              <a:rPr lang="en-US" sz="2950" b="1">
                <a:solidFill>
                  <a:srgbClr val="000000"/>
                </a:solidFill>
                <a:latin typeface="Anybody" pitchFamily="34" charset="0"/>
                <a:ea typeface="Anybody" pitchFamily="34" charset="-122"/>
                <a:cs typeface="Anybody" pitchFamily="34" charset="-120"/>
              </a:rPr>
              <a:t>04</a:t>
            </a:r>
            <a:endParaRPr lang="en-US" sz="2950"/>
          </a:p>
        </p:txBody>
      </p:sp>
      <p:sp>
        <p:nvSpPr>
          <p:cNvPr id="15" name="Text 12"/>
          <p:cNvSpPr/>
          <p:nvPr/>
        </p:nvSpPr>
        <p:spPr>
          <a:xfrm>
            <a:off x="1479550" y="4039877"/>
            <a:ext cx="9483725" cy="307340"/>
          </a:xfrm>
          <a:prstGeom prst="rect">
            <a:avLst/>
          </a:prstGeom>
          <a:noFill/>
          <a:ln/>
        </p:spPr>
        <p:txBody>
          <a:bodyPr wrap="square" lIns="0" tIns="0" rIns="0" bIns="0" rtlCol="0" anchor="t">
            <a:normAutofit/>
          </a:bodyPr>
          <a:lstStyle/>
          <a:p>
            <a:pPr>
              <a:lnSpc>
                <a:spcPts val="2220"/>
              </a:lnSpc>
            </a:pPr>
            <a:r>
              <a:rPr lang="en-US" sz="1850">
                <a:solidFill>
                  <a:srgbClr val="000000"/>
                </a:solidFill>
                <a:latin typeface="Albert Sans"/>
                <a:ea typeface="Albert Sans"/>
                <a:cs typeface="Albert Sans" pitchFamily="34" charset="-120"/>
              </a:rPr>
              <a:t>From 2023 to 2024, perception to AI seems to be improving, but not significantly</a:t>
            </a:r>
            <a:endParaRPr lang="en-US" sz="1850">
              <a:latin typeface="Albert Sans"/>
              <a:ea typeface="Albert Sans"/>
            </a:endParaRPr>
          </a:p>
        </p:txBody>
      </p:sp>
      <p:sp>
        <p:nvSpPr>
          <p:cNvPr id="16" name="Text 13"/>
          <p:cNvSpPr/>
          <p:nvPr/>
        </p:nvSpPr>
        <p:spPr>
          <a:xfrm>
            <a:off x="539750" y="4759958"/>
            <a:ext cx="10261600" cy="75438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w="12700">
            <a:solidFill>
              <a:srgbClr val="000000"/>
            </a:solidFill>
            <a:prstDash val="solid"/>
          </a:ln>
        </p:spPr>
        <p:txBody>
          <a:bodyPr wrap="square" lIns="124460" tIns="194310" rIns="124460" bIns="168910" rtlCol="0" anchor="t">
            <a:normAutofit fontScale="77500" lnSpcReduction="20000"/>
          </a:bodyPr>
          <a:lstStyle/>
          <a:p>
            <a:pPr algn="ctr">
              <a:lnSpc>
                <a:spcPts val="2880"/>
              </a:lnSpc>
            </a:pPr>
            <a:r>
              <a:rPr lang="en-US" sz="2400" b="1">
                <a:solidFill>
                  <a:srgbClr val="000000"/>
                </a:solidFill>
                <a:latin typeface="Anybody"/>
                <a:ea typeface="Anybody"/>
                <a:cs typeface="Anybody" pitchFamily="34" charset="-120"/>
              </a:rPr>
              <a:t>The priority: Promoting trust by helping users to rely on AI appropriately</a:t>
            </a:r>
            <a:endParaRPr lang="en-US" sz="2400">
              <a:latin typeface="Anybody"/>
              <a:ea typeface="Anybody"/>
            </a:endParaRPr>
          </a:p>
        </p:txBody>
      </p:sp>
      <p:sp>
        <p:nvSpPr>
          <p:cNvPr id="17" name="Text 14"/>
          <p:cNvSpPr/>
          <p:nvPr/>
        </p:nvSpPr>
        <p:spPr>
          <a:xfrm>
            <a:off x="6762750" y="6019800"/>
            <a:ext cx="3924300" cy="269240"/>
          </a:xfrm>
          <a:prstGeom prst="rect">
            <a:avLst/>
          </a:prstGeom>
          <a:noFill/>
          <a:ln/>
        </p:spPr>
        <p:txBody>
          <a:bodyPr wrap="square" lIns="0" tIns="0" rIns="0" bIns="0" rtlCol="0" anchor="t">
            <a:normAutofit/>
          </a:bodyPr>
          <a:lstStyle/>
          <a:p>
            <a:pPr algn="r">
              <a:lnSpc>
                <a:spcPts val="1920"/>
              </a:lnSpc>
            </a:pPr>
            <a:r>
              <a:rPr lang="en-US" sz="1600" b="1">
                <a:solidFill>
                  <a:srgbClr val="000000"/>
                </a:solidFill>
                <a:latin typeface="Anybody"/>
                <a:ea typeface="Anybody"/>
                <a:cs typeface="Anybody" pitchFamily="34" charset="-120"/>
              </a:rPr>
              <a:t>[Joanne Quek]</a:t>
            </a:r>
            <a:endParaRPr lang="en-US" sz="1600">
              <a:latin typeface="Anybody"/>
              <a:ea typeface="Anybody"/>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34171" r="34171"/>
          <a:stretch/>
        </p:blipFill>
        <p:spPr>
          <a:xfrm rot="10800000">
            <a:off x="0" y="0"/>
            <a:ext cx="850900" cy="6858000"/>
          </a:xfrm>
          <a:prstGeom prst="rect">
            <a:avLst/>
          </a:prstGeom>
        </p:spPr>
      </p:pic>
      <p:sp>
        <p:nvSpPr>
          <p:cNvPr id="3" name="Shape 0"/>
          <p:cNvSpPr/>
          <p:nvPr/>
        </p:nvSpPr>
        <p:spPr>
          <a:xfrm>
            <a:off x="850900" y="0"/>
            <a:ext cx="24384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4" name="Image 1" descr="preencoded.png"/>
          <p:cNvPicPr>
            <a:picLocks noChangeAspect="1"/>
          </p:cNvPicPr>
          <p:nvPr/>
        </p:nvPicPr>
        <p:blipFill>
          <a:blip r:embed="rId4"/>
          <a:srcRect t="-649" b="-649"/>
          <a:stretch/>
        </p:blipFill>
        <p:spPr>
          <a:xfrm>
            <a:off x="10960100" y="469900"/>
            <a:ext cx="539750" cy="495300"/>
          </a:xfrm>
          <a:prstGeom prst="rect">
            <a:avLst/>
          </a:prstGeom>
        </p:spPr>
      </p:pic>
      <p:sp>
        <p:nvSpPr>
          <p:cNvPr id="5" name="Text 1"/>
          <p:cNvSpPr>
            <a:spLocks noGrp="1"/>
          </p:cNvSpPr>
          <p:nvPr>
            <p:ph type="title"/>
          </p:nvPr>
        </p:nvSpPr>
        <p:spPr>
          <a:xfrm>
            <a:off x="3962400" y="1765300"/>
            <a:ext cx="7194550" cy="1244600"/>
          </a:xfrm>
          <a:prstGeom prst="rect">
            <a:avLst/>
          </a:prstGeom>
          <a:noFill/>
          <a:ln/>
        </p:spPr>
        <p:txBody>
          <a:bodyPr wrap="square" lIns="0" tIns="0" rIns="0" bIns="0" rtlCol="0" anchor="t">
            <a:normAutofit/>
          </a:bodyPr>
          <a:lstStyle/>
          <a:p>
            <a:pPr marL="0" indent="0" algn="l">
              <a:lnSpc>
                <a:spcPts val="9600"/>
              </a:lnSpc>
              <a:buNone/>
            </a:pPr>
            <a:r>
              <a:rPr lang="en-US" sz="8000" b="1" i="0">
                <a:solidFill>
                  <a:srgbClr val="000000"/>
                </a:solidFill>
                <a:latin typeface="Anybody" pitchFamily="34" charset="0"/>
                <a:ea typeface="Anybody" pitchFamily="34" charset="-122"/>
                <a:cs typeface="Anybody" pitchFamily="34" charset="-120"/>
              </a:rPr>
              <a:t>Thank you</a:t>
            </a:r>
            <a:endParaRPr lang="en-US" sz="8000"/>
          </a:p>
        </p:txBody>
      </p:sp>
      <p:sp>
        <p:nvSpPr>
          <p:cNvPr id="6" name="Text 2"/>
          <p:cNvSpPr/>
          <p:nvPr/>
        </p:nvSpPr>
        <p:spPr>
          <a:xfrm>
            <a:off x="3962400" y="3073400"/>
            <a:ext cx="7194550"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Any questions?</a:t>
            </a:r>
            <a:endParaRPr lang="en-US" sz="2650"/>
          </a:p>
        </p:txBody>
      </p:sp>
      <p:sp>
        <p:nvSpPr>
          <p:cNvPr id="7" name="Text 3"/>
          <p:cNvSpPr/>
          <p:nvPr/>
        </p:nvSpPr>
        <p:spPr>
          <a:xfrm>
            <a:off x="3962400" y="3556000"/>
            <a:ext cx="7194550" cy="75692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AN6002 Analytics &amp; Machine Learning in Business, Section A_4</a:t>
            </a:r>
            <a:endParaRPr lang="en-US" sz="1600"/>
          </a:p>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Ang Wei Hao Welthan, Felda Everyl, Guo Yutong, Kaitwatcharachai Onnicha, Joanne Quek</a:t>
            </a:r>
            <a:endParaRPr lang="en-US" sz="1600"/>
          </a:p>
        </p:txBody>
      </p:sp>
      <p:sp>
        <p:nvSpPr>
          <p:cNvPr id="8" name="Shape 4"/>
          <p:cNvSpPr/>
          <p:nvPr/>
        </p:nvSpPr>
        <p:spPr>
          <a:xfrm>
            <a:off x="3289300" y="4749800"/>
            <a:ext cx="8902700" cy="12700"/>
          </a:xfrm>
          <a:prstGeom prst="rect">
            <a:avLst/>
          </a:prstGeom>
          <a:solidFill>
            <a:srgbClr val="000000"/>
          </a:solidFill>
          <a:ln/>
        </p:spPr>
        <p:txBody>
          <a:bodyPr/>
          <a:lstStyle/>
          <a:p>
            <a:endParaRPr lang="en-SG"/>
          </a:p>
        </p:txBody>
      </p:sp>
      <p:sp>
        <p:nvSpPr>
          <p:cNvPr id="9" name="Text 5"/>
          <p:cNvSpPr/>
          <p:nvPr/>
        </p:nvSpPr>
        <p:spPr>
          <a:xfrm>
            <a:off x="3962400" y="4959350"/>
            <a:ext cx="7063740" cy="75692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000000"/>
                </a:solidFill>
                <a:latin typeface="Albert Sans" pitchFamily="34" charset="0"/>
                <a:ea typeface="Albert Sans" pitchFamily="34" charset="-122"/>
                <a:cs typeface="Albert Sans" pitchFamily="34" charset="-120"/>
              </a:rPr>
              <a:t>Credits: the mark and pattern in this deck come from a presentation template by </a:t>
            </a:r>
            <a:r>
              <a:rPr lang="en-US" sz="1600" dirty="0" err="1">
                <a:solidFill>
                  <a:srgbClr val="000000"/>
                </a:solidFill>
                <a:latin typeface="Albert Sans" pitchFamily="34" charset="0"/>
                <a:ea typeface="Albert Sans" pitchFamily="34" charset="-122"/>
                <a:cs typeface="Albert Sans" pitchFamily="34" charset="-120"/>
              </a:rPr>
              <a:t>Slidesgo</a:t>
            </a:r>
            <a:r>
              <a:rPr lang="en-US" sz="1600" dirty="0">
                <a:solidFill>
                  <a:srgbClr val="000000"/>
                </a:solidFill>
                <a:latin typeface="Albert Sans" pitchFamily="34" charset="0"/>
                <a:ea typeface="Albert Sans" pitchFamily="34" charset="-122"/>
                <a:cs typeface="Albert Sans" pitchFamily="34" charset="-120"/>
              </a:rPr>
              <a:t>, with icons by </a:t>
            </a:r>
            <a:r>
              <a:rPr lang="en-US" sz="1600" dirty="0" err="1">
                <a:solidFill>
                  <a:srgbClr val="000000"/>
                </a:solidFill>
                <a:latin typeface="Albert Sans" pitchFamily="34" charset="0"/>
                <a:ea typeface="Albert Sans" pitchFamily="34" charset="-122"/>
                <a:cs typeface="Albert Sans" pitchFamily="34" charset="-120"/>
              </a:rPr>
              <a:t>Flaticon</a:t>
            </a:r>
            <a:r>
              <a:rPr lang="en-US" sz="1600" dirty="0">
                <a:solidFill>
                  <a:srgbClr val="000000"/>
                </a:solidFill>
                <a:latin typeface="Albert Sans" pitchFamily="34" charset="0"/>
                <a:ea typeface="Albert Sans" pitchFamily="34" charset="-122"/>
                <a:cs typeface="Albert Sans" pitchFamily="34" charset="-120"/>
              </a:rPr>
              <a:t> and infographics &amp; images by </a:t>
            </a:r>
            <a:r>
              <a:rPr lang="en-US" sz="1600" dirty="0" err="1">
                <a:solidFill>
                  <a:srgbClr val="000000"/>
                </a:solidFill>
                <a:latin typeface="Albert Sans" pitchFamily="34" charset="0"/>
                <a:ea typeface="Albert Sans" pitchFamily="34" charset="-122"/>
                <a:cs typeface="Albert Sans" pitchFamily="34" charset="-120"/>
              </a:rPr>
              <a:t>Freepik</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References</a:t>
            </a:r>
            <a:endParaRPr lang="en-US" sz="4000"/>
          </a:p>
        </p:txBody>
      </p:sp>
      <p:sp>
        <p:nvSpPr>
          <p:cNvPr id="5" name="Text 2"/>
          <p:cNvSpPr/>
          <p:nvPr/>
        </p:nvSpPr>
        <p:spPr>
          <a:xfrm>
            <a:off x="654050" y="2680977"/>
            <a:ext cx="1028700" cy="391160"/>
          </a:xfrm>
          <a:prstGeom prst="rect">
            <a:avLst/>
          </a:prstGeom>
          <a:noFill/>
          <a:ln/>
        </p:spPr>
        <p:txBody>
          <a:bodyPr wrap="square" lIns="0" tIns="0" rIns="0" bIns="0" rtlCol="0" anchor="t">
            <a:normAutofit/>
          </a:bodyPr>
          <a:lstStyle/>
          <a:p>
            <a:pPr marL="0" indent="0" algn="l">
              <a:lnSpc>
                <a:spcPts val="2880"/>
              </a:lnSpc>
              <a:buNone/>
            </a:pPr>
            <a:r>
              <a:rPr lang="en-US" sz="2400" b="1">
                <a:solidFill>
                  <a:srgbClr val="000000"/>
                </a:solidFill>
                <a:latin typeface="Anybody" pitchFamily="34" charset="0"/>
                <a:ea typeface="Anybody" pitchFamily="34" charset="-122"/>
                <a:cs typeface="Anybody" pitchFamily="34" charset="-120"/>
              </a:rPr>
              <a:t>1</a:t>
            </a:r>
            <a:endParaRPr lang="en-US" sz="2400"/>
          </a:p>
        </p:txBody>
      </p:sp>
      <p:sp>
        <p:nvSpPr>
          <p:cNvPr id="6" name="Text 3"/>
          <p:cNvSpPr/>
          <p:nvPr/>
        </p:nvSpPr>
        <p:spPr>
          <a:xfrm>
            <a:off x="1631950" y="2741935"/>
            <a:ext cx="9326753"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[Main AI trust dataset, 47 countries and 43 variables: add author, year, title and link]</a:t>
            </a:r>
            <a:endParaRPr lang="en-US" sz="1600"/>
          </a:p>
        </p:txBody>
      </p:sp>
      <p:sp>
        <p:nvSpPr>
          <p:cNvPr id="7" name="Shape 4"/>
          <p:cNvSpPr/>
          <p:nvPr/>
        </p:nvSpPr>
        <p:spPr>
          <a:xfrm>
            <a:off x="533400" y="3251200"/>
            <a:ext cx="10274300" cy="0"/>
          </a:xfrm>
          <a:prstGeom prst="line">
            <a:avLst/>
          </a:prstGeom>
          <a:noFill/>
          <a:ln w="12700">
            <a:solidFill>
              <a:srgbClr val="000000"/>
            </a:solidFill>
            <a:prstDash val="solid"/>
          </a:ln>
        </p:spPr>
        <p:txBody>
          <a:bodyPr/>
          <a:lstStyle/>
          <a:p>
            <a:endParaRPr lang="en-SG"/>
          </a:p>
        </p:txBody>
      </p:sp>
      <p:sp>
        <p:nvSpPr>
          <p:cNvPr id="8" name="Text 5"/>
          <p:cNvSpPr/>
          <p:nvPr/>
        </p:nvSpPr>
        <p:spPr>
          <a:xfrm>
            <a:off x="654050" y="3448050"/>
            <a:ext cx="1028700" cy="391160"/>
          </a:xfrm>
          <a:prstGeom prst="rect">
            <a:avLst/>
          </a:prstGeom>
          <a:noFill/>
          <a:ln/>
        </p:spPr>
        <p:txBody>
          <a:bodyPr wrap="square" lIns="0" tIns="0" rIns="0" bIns="0" rtlCol="0" anchor="t">
            <a:normAutofit/>
          </a:bodyPr>
          <a:lstStyle/>
          <a:p>
            <a:pPr marL="0" indent="0" algn="l">
              <a:lnSpc>
                <a:spcPts val="2880"/>
              </a:lnSpc>
              <a:buNone/>
            </a:pPr>
            <a:r>
              <a:rPr lang="en-US" sz="2400" b="1">
                <a:solidFill>
                  <a:srgbClr val="000000"/>
                </a:solidFill>
                <a:latin typeface="Anybody" pitchFamily="34" charset="0"/>
                <a:ea typeface="Anybody" pitchFamily="34" charset="-122"/>
                <a:cs typeface="Anybody" pitchFamily="34" charset="-120"/>
              </a:rPr>
              <a:t>2</a:t>
            </a:r>
            <a:endParaRPr lang="en-US" sz="2400"/>
          </a:p>
        </p:txBody>
      </p:sp>
      <p:sp>
        <p:nvSpPr>
          <p:cNvPr id="9" name="Text 6"/>
          <p:cNvSpPr/>
          <p:nvPr/>
        </p:nvSpPr>
        <p:spPr>
          <a:xfrm>
            <a:off x="1631950" y="3509008"/>
            <a:ext cx="9326753"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[Benefit-perception dataset, 2023 and 2024, 32 countries: add author, year, title and link]</a:t>
            </a:r>
            <a:endParaRPr lang="en-US" sz="1600"/>
          </a:p>
        </p:txBody>
      </p:sp>
      <p:sp>
        <p:nvSpPr>
          <p:cNvPr id="10" name="Shape 7"/>
          <p:cNvSpPr/>
          <p:nvPr/>
        </p:nvSpPr>
        <p:spPr>
          <a:xfrm>
            <a:off x="533400" y="4013200"/>
            <a:ext cx="10274300" cy="0"/>
          </a:xfrm>
          <a:prstGeom prst="line">
            <a:avLst/>
          </a:prstGeom>
          <a:noFill/>
          <a:ln w="12700">
            <a:solidFill>
              <a:srgbClr val="000000"/>
            </a:solidFill>
            <a:prstDash val="solid"/>
          </a:ln>
        </p:spPr>
        <p:txBody>
          <a:bodyPr/>
          <a:lstStyle/>
          <a:p>
            <a:endParaRPr lang="en-SG"/>
          </a:p>
        </p:txBody>
      </p:sp>
      <p:sp>
        <p:nvSpPr>
          <p:cNvPr id="11" name="Text 8"/>
          <p:cNvSpPr/>
          <p:nvPr/>
        </p:nvSpPr>
        <p:spPr>
          <a:xfrm>
            <a:off x="654050" y="4210050"/>
            <a:ext cx="1028700" cy="391160"/>
          </a:xfrm>
          <a:prstGeom prst="rect">
            <a:avLst/>
          </a:prstGeom>
          <a:noFill/>
          <a:ln/>
        </p:spPr>
        <p:txBody>
          <a:bodyPr wrap="square" lIns="0" tIns="0" rIns="0" bIns="0" rtlCol="0" anchor="t">
            <a:normAutofit/>
          </a:bodyPr>
          <a:lstStyle/>
          <a:p>
            <a:pPr marL="0" indent="0" algn="l">
              <a:lnSpc>
                <a:spcPts val="2880"/>
              </a:lnSpc>
              <a:buNone/>
            </a:pPr>
            <a:r>
              <a:rPr lang="en-US" sz="2400" b="1">
                <a:solidFill>
                  <a:srgbClr val="000000"/>
                </a:solidFill>
                <a:latin typeface="Anybody" pitchFamily="34" charset="0"/>
                <a:ea typeface="Anybody" pitchFamily="34" charset="-122"/>
                <a:cs typeface="Anybody" pitchFamily="34" charset="-120"/>
              </a:rPr>
              <a:t>3</a:t>
            </a:r>
            <a:endParaRPr lang="en-US" sz="2400"/>
          </a:p>
        </p:txBody>
      </p:sp>
      <p:sp>
        <p:nvSpPr>
          <p:cNvPr id="12" name="Text 9"/>
          <p:cNvSpPr/>
          <p:nvPr/>
        </p:nvSpPr>
        <p:spPr>
          <a:xfrm>
            <a:off x="1631950" y="4271008"/>
            <a:ext cx="9326753"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[Any further source cited in the talk: add author, year, title and link]</a:t>
            </a:r>
            <a:endParaRPr lang="en-US" sz="16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22">
    <p:bg>
      <p:bgPr>
        <a:solidFill>
          <a:srgbClr val="207368"/>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07368"/>
              </a:gs>
              <a:gs pos="24000">
                <a:srgbClr val="9EC0BE"/>
              </a:gs>
              <a:gs pos="49000">
                <a:srgbClr val="B185B4"/>
              </a:gs>
              <a:gs pos="75000">
                <a:srgbClr val="FFFFFF"/>
              </a:gs>
              <a:gs pos="100000">
                <a:srgbClr val="207368"/>
              </a:gs>
            </a:gsLst>
            <a:lin ang="8100000" scaled="0"/>
          </a:gradFill>
          <a:ln/>
        </p:spPr>
        <p:txBody>
          <a:bodyPr/>
          <a:lstStyle/>
          <a:p>
            <a:endParaRPr lang="en-SG"/>
          </a:p>
        </p:txBody>
      </p:sp>
      <p:pic>
        <p:nvPicPr>
          <p:cNvPr id="3" name="Image 0" descr="preencoded.png"/>
          <p:cNvPicPr>
            <a:picLocks noChangeAspect="1"/>
          </p:cNvPicPr>
          <p:nvPr/>
        </p:nvPicPr>
        <p:blipFill>
          <a:blip r:embed="rId3"/>
          <a:srcRect l="33" r="33"/>
          <a:stretch/>
        </p:blipFill>
        <p:spPr>
          <a:xfrm>
            <a:off x="0" y="0"/>
            <a:ext cx="2686050" cy="6858000"/>
          </a:xfrm>
          <a:prstGeom prst="rect">
            <a:avLst/>
          </a:prstGeom>
        </p:spPr>
      </p:pic>
      <p:pic>
        <p:nvPicPr>
          <p:cNvPr id="4" name="Image 1" descr="preencoded.png"/>
          <p:cNvPicPr>
            <a:picLocks noChangeAspect="1"/>
          </p:cNvPicPr>
          <p:nvPr/>
        </p:nvPicPr>
        <p:blipFill>
          <a:blip r:embed="rId4"/>
          <a:srcRect t="-649" b="-649"/>
          <a:stretch/>
        </p:blipFill>
        <p:spPr>
          <a:xfrm>
            <a:off x="10960100" y="469900"/>
            <a:ext cx="539750" cy="495300"/>
          </a:xfrm>
          <a:prstGeom prst="rect">
            <a:avLst/>
          </a:prstGeom>
        </p:spPr>
      </p:pic>
      <p:sp>
        <p:nvSpPr>
          <p:cNvPr id="5" name="Text 1"/>
          <p:cNvSpPr/>
          <p:nvPr/>
        </p:nvSpPr>
        <p:spPr>
          <a:xfrm>
            <a:off x="9601200" y="2705100"/>
            <a:ext cx="1631950" cy="1631950"/>
          </a:xfrm>
          <a:prstGeom prst="rect">
            <a:avLst/>
          </a:prstGeom>
          <a:solidFill>
            <a:srgbClr val="000000"/>
          </a:solidFill>
          <a:ln/>
        </p:spPr>
        <p:txBody>
          <a:bodyPr wrap="square" lIns="0" tIns="257175" rIns="0" bIns="130175" rtlCol="0" anchor="t">
            <a:normAutofit/>
          </a:bodyPr>
          <a:lstStyle/>
          <a:p>
            <a:pPr marL="0" indent="0" algn="ctr">
              <a:lnSpc>
                <a:spcPts val="9600"/>
              </a:lnSpc>
              <a:buNone/>
            </a:pPr>
            <a:r>
              <a:rPr lang="en-US" sz="8000" b="1">
                <a:solidFill>
                  <a:srgbClr val="FFFFFF"/>
                </a:solidFill>
                <a:latin typeface="Anybody" pitchFamily="34" charset="0"/>
                <a:ea typeface="Anybody" pitchFamily="34" charset="-122"/>
                <a:cs typeface="Anybody" pitchFamily="34" charset="-120"/>
              </a:rPr>
              <a:t>A</a:t>
            </a:r>
            <a:endParaRPr lang="en-US" sz="8000"/>
          </a:p>
        </p:txBody>
      </p:sp>
      <p:sp>
        <p:nvSpPr>
          <p:cNvPr id="6" name="Text 2"/>
          <p:cNvSpPr>
            <a:spLocks noGrp="1"/>
          </p:cNvSpPr>
          <p:nvPr>
            <p:ph type="title"/>
          </p:nvPr>
        </p:nvSpPr>
        <p:spPr>
          <a:xfrm>
            <a:off x="2806700" y="2978150"/>
            <a:ext cx="6540500" cy="1038860"/>
          </a:xfrm>
          <a:prstGeom prst="rect">
            <a:avLst/>
          </a:prstGeom>
          <a:noFill/>
          <a:ln/>
        </p:spPr>
        <p:txBody>
          <a:bodyPr wrap="square" lIns="0" tIns="0" rIns="0" bIns="0" rtlCol="0" anchor="t">
            <a:normAutofit/>
          </a:bodyPr>
          <a:lstStyle/>
          <a:p>
            <a:pPr marL="0" indent="0" algn="r">
              <a:lnSpc>
                <a:spcPts val="7980"/>
              </a:lnSpc>
              <a:buNone/>
            </a:pPr>
            <a:r>
              <a:rPr lang="en-US" sz="6650" b="1" i="0">
                <a:solidFill>
                  <a:srgbClr val="000000"/>
                </a:solidFill>
                <a:latin typeface="Anybody" pitchFamily="34" charset="0"/>
                <a:ea typeface="Anybody" pitchFamily="34" charset="-122"/>
                <a:cs typeface="Anybody" pitchFamily="34" charset="-120"/>
              </a:rPr>
              <a:t>Appendix</a:t>
            </a:r>
            <a:endParaRPr lang="en-US" sz="6650"/>
          </a:p>
        </p:txBody>
      </p:sp>
      <p:sp>
        <p:nvSpPr>
          <p:cNvPr id="7" name="Shape 3"/>
          <p:cNvSpPr/>
          <p:nvPr/>
        </p:nvSpPr>
        <p:spPr>
          <a:xfrm>
            <a:off x="2686050" y="4794250"/>
            <a:ext cx="8547100" cy="12700"/>
          </a:xfrm>
          <a:prstGeom prst="rect">
            <a:avLst/>
          </a:prstGeom>
          <a:solidFill>
            <a:srgbClr val="000000"/>
          </a:solidFill>
          <a:ln/>
        </p:spPr>
        <p:txBody>
          <a:bodyPr/>
          <a:lstStyle/>
          <a:p>
            <a:endParaRPr lang="en-SG"/>
          </a:p>
        </p:txBody>
      </p:sp>
      <p:sp>
        <p:nvSpPr>
          <p:cNvPr id="8" name="Text 4"/>
          <p:cNvSpPr/>
          <p:nvPr/>
        </p:nvSpPr>
        <p:spPr>
          <a:xfrm>
            <a:off x="2609850" y="5149850"/>
            <a:ext cx="8502650" cy="391160"/>
          </a:xfrm>
          <a:prstGeom prst="rect">
            <a:avLst/>
          </a:prstGeom>
          <a:noFill/>
          <a:ln/>
        </p:spPr>
        <p:txBody>
          <a:bodyPr wrap="square" lIns="0" tIns="0" rIns="0" bIns="0" rtlCol="0" anchor="t">
            <a:normAutofit/>
          </a:bodyPr>
          <a:lstStyle/>
          <a:p>
            <a:pPr marL="0" indent="0" algn="r">
              <a:lnSpc>
                <a:spcPts val="2880"/>
              </a:lnSpc>
              <a:buNone/>
            </a:pPr>
            <a:r>
              <a:rPr lang="en-US" sz="2400">
                <a:solidFill>
                  <a:srgbClr val="000000"/>
                </a:solidFill>
                <a:latin typeface="Albert Sans" pitchFamily="34" charset="0"/>
                <a:ea typeface="Albert Sans" pitchFamily="34" charset="-122"/>
                <a:cs typeface="Albert Sans" pitchFamily="34" charset="-120"/>
              </a:rPr>
              <a:t>Supporting detail behind the main findings</a:t>
            </a:r>
            <a:endParaRPr 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189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Fitted model: Coefficients</a:t>
            </a:r>
            <a:endParaRPr lang="en-US" sz="4000"/>
          </a:p>
        </p:txBody>
      </p:sp>
      <p:sp>
        <p:nvSpPr>
          <p:cNvPr id="5" name="Text 2"/>
          <p:cNvSpPr/>
          <p:nvPr/>
        </p:nvSpPr>
        <p:spPr>
          <a:xfrm>
            <a:off x="654050" y="2057400"/>
            <a:ext cx="380657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Input</a:t>
            </a:r>
            <a:endParaRPr lang="en-US" sz="1850"/>
          </a:p>
        </p:txBody>
      </p:sp>
      <p:sp>
        <p:nvSpPr>
          <p:cNvPr id="6" name="Shape 3"/>
          <p:cNvSpPr/>
          <p:nvPr/>
        </p:nvSpPr>
        <p:spPr>
          <a:xfrm>
            <a:off x="4476750" y="1917700"/>
            <a:ext cx="0" cy="561340"/>
          </a:xfrm>
          <a:prstGeom prst="line">
            <a:avLst/>
          </a:prstGeom>
          <a:noFill/>
          <a:ln w="12700">
            <a:solidFill>
              <a:srgbClr val="000000"/>
            </a:solidFill>
            <a:prstDash val="solid"/>
          </a:ln>
        </p:spPr>
        <p:txBody>
          <a:bodyPr/>
          <a:lstStyle/>
          <a:p>
            <a:endParaRPr lang="en-SG"/>
          </a:p>
        </p:txBody>
      </p:sp>
      <p:sp>
        <p:nvSpPr>
          <p:cNvPr id="7" name="Text 4"/>
          <p:cNvSpPr/>
          <p:nvPr/>
        </p:nvSpPr>
        <p:spPr>
          <a:xfrm>
            <a:off x="4575810" y="2057400"/>
            <a:ext cx="1640840" cy="307340"/>
          </a:xfrm>
          <a:prstGeom prst="rect">
            <a:avLst/>
          </a:prstGeom>
          <a:noFill/>
          <a:ln/>
        </p:spPr>
        <p:txBody>
          <a:bodyPr wrap="square" lIns="0" tIns="0" rIns="0" bIns="0" rtlCol="0" anchor="t">
            <a:normAutofit/>
          </a:bodyPr>
          <a:lstStyle/>
          <a:p>
            <a:pPr marL="0" indent="0" algn="ctr">
              <a:lnSpc>
                <a:spcPts val="2220"/>
              </a:lnSpc>
              <a:buNone/>
            </a:pPr>
            <a:r>
              <a:rPr lang="en-US" sz="1850" b="1">
                <a:solidFill>
                  <a:srgbClr val="000000"/>
                </a:solidFill>
                <a:latin typeface="Anybody" pitchFamily="34" charset="0"/>
                <a:ea typeface="Anybody" pitchFamily="34" charset="-122"/>
                <a:cs typeface="Anybody" pitchFamily="34" charset="-120"/>
              </a:rPr>
              <a:t>Coefficient</a:t>
            </a:r>
            <a:endParaRPr lang="en-US" sz="1850"/>
          </a:p>
        </p:txBody>
      </p:sp>
      <p:sp>
        <p:nvSpPr>
          <p:cNvPr id="8" name="Shape 5"/>
          <p:cNvSpPr/>
          <p:nvPr/>
        </p:nvSpPr>
        <p:spPr>
          <a:xfrm>
            <a:off x="6318250" y="1917700"/>
            <a:ext cx="0" cy="561340"/>
          </a:xfrm>
          <a:prstGeom prst="line">
            <a:avLst/>
          </a:prstGeom>
          <a:noFill/>
          <a:ln w="12700">
            <a:solidFill>
              <a:srgbClr val="000000"/>
            </a:solidFill>
            <a:prstDash val="solid"/>
          </a:ln>
        </p:spPr>
        <p:txBody>
          <a:bodyPr/>
          <a:lstStyle/>
          <a:p>
            <a:endParaRPr lang="en-SG"/>
          </a:p>
        </p:txBody>
      </p:sp>
      <p:sp>
        <p:nvSpPr>
          <p:cNvPr id="9" name="Text 6"/>
          <p:cNvSpPr/>
          <p:nvPr/>
        </p:nvSpPr>
        <p:spPr>
          <a:xfrm>
            <a:off x="6405715" y="2057400"/>
            <a:ext cx="2540330" cy="307340"/>
          </a:xfrm>
          <a:prstGeom prst="rect">
            <a:avLst/>
          </a:prstGeom>
          <a:noFill/>
          <a:ln/>
        </p:spPr>
        <p:txBody>
          <a:bodyPr wrap="square" lIns="0" tIns="0" rIns="0" bIns="0" rtlCol="0" anchor="t">
            <a:normAutofit/>
          </a:bodyPr>
          <a:lstStyle/>
          <a:p>
            <a:pPr marL="0" indent="0" algn="ctr">
              <a:lnSpc>
                <a:spcPts val="2220"/>
              </a:lnSpc>
              <a:buNone/>
            </a:pPr>
            <a:r>
              <a:rPr lang="en-US" sz="1850" b="1">
                <a:solidFill>
                  <a:srgbClr val="000000"/>
                </a:solidFill>
                <a:latin typeface="Anybody" pitchFamily="34" charset="0"/>
                <a:ea typeface="Anybody" pitchFamily="34" charset="-122"/>
                <a:cs typeface="Anybody" pitchFamily="34" charset="-120"/>
              </a:rPr>
              <a:t>Effect on trust</a:t>
            </a:r>
            <a:endParaRPr lang="en-US" sz="1850"/>
          </a:p>
        </p:txBody>
      </p:sp>
      <p:sp>
        <p:nvSpPr>
          <p:cNvPr id="10" name="Shape 7"/>
          <p:cNvSpPr/>
          <p:nvPr/>
        </p:nvSpPr>
        <p:spPr>
          <a:xfrm>
            <a:off x="9036050" y="1917700"/>
            <a:ext cx="0" cy="561340"/>
          </a:xfrm>
          <a:prstGeom prst="line">
            <a:avLst/>
          </a:prstGeom>
          <a:noFill/>
          <a:ln w="12700">
            <a:solidFill>
              <a:srgbClr val="000000"/>
            </a:solidFill>
            <a:prstDash val="solid"/>
          </a:ln>
        </p:spPr>
        <p:txBody>
          <a:bodyPr/>
          <a:lstStyle/>
          <a:p>
            <a:endParaRPr lang="en-SG"/>
          </a:p>
        </p:txBody>
      </p:sp>
      <p:sp>
        <p:nvSpPr>
          <p:cNvPr id="11" name="Text 8"/>
          <p:cNvSpPr/>
          <p:nvPr/>
        </p:nvSpPr>
        <p:spPr>
          <a:xfrm>
            <a:off x="9135110" y="2057400"/>
            <a:ext cx="1577340" cy="307340"/>
          </a:xfrm>
          <a:prstGeom prst="rect">
            <a:avLst/>
          </a:prstGeom>
          <a:noFill/>
          <a:ln/>
        </p:spPr>
        <p:txBody>
          <a:bodyPr wrap="square" lIns="0" tIns="0" rIns="0" bIns="0" rtlCol="0" anchor="t">
            <a:normAutofit/>
          </a:bodyPr>
          <a:lstStyle/>
          <a:p>
            <a:pPr marL="0" indent="0" algn="ctr">
              <a:lnSpc>
                <a:spcPts val="2220"/>
              </a:lnSpc>
              <a:buNone/>
            </a:pPr>
            <a:r>
              <a:rPr lang="en-US" sz="1850" b="1">
                <a:solidFill>
                  <a:srgbClr val="000000"/>
                </a:solidFill>
                <a:latin typeface="Anybody" pitchFamily="34" charset="0"/>
                <a:ea typeface="Anybody" pitchFamily="34" charset="-122"/>
                <a:cs typeface="Anybody" pitchFamily="34" charset="-120"/>
              </a:rPr>
              <a:t>95% range</a:t>
            </a:r>
            <a:endParaRPr lang="en-US" sz="1850"/>
          </a:p>
        </p:txBody>
      </p:sp>
      <p:sp>
        <p:nvSpPr>
          <p:cNvPr id="12" name="Shape 9"/>
          <p:cNvSpPr/>
          <p:nvPr/>
        </p:nvSpPr>
        <p:spPr>
          <a:xfrm>
            <a:off x="533400" y="2485392"/>
            <a:ext cx="3937000" cy="0"/>
          </a:xfrm>
          <a:prstGeom prst="line">
            <a:avLst/>
          </a:prstGeom>
          <a:noFill/>
          <a:ln w="12700">
            <a:solidFill>
              <a:srgbClr val="000000"/>
            </a:solidFill>
            <a:prstDash val="solid"/>
          </a:ln>
        </p:spPr>
        <p:txBody>
          <a:bodyPr/>
          <a:lstStyle/>
          <a:p>
            <a:endParaRPr lang="en-SG"/>
          </a:p>
        </p:txBody>
      </p:sp>
      <p:sp>
        <p:nvSpPr>
          <p:cNvPr id="13" name="Text 10"/>
          <p:cNvSpPr/>
          <p:nvPr/>
        </p:nvSpPr>
        <p:spPr>
          <a:xfrm>
            <a:off x="654050" y="2628902"/>
            <a:ext cx="380657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Safeguards are sufficient</a:t>
            </a:r>
            <a:endParaRPr lang="en-US" sz="1850"/>
          </a:p>
        </p:txBody>
      </p:sp>
      <p:sp>
        <p:nvSpPr>
          <p:cNvPr id="14" name="Shape 11"/>
          <p:cNvSpPr/>
          <p:nvPr/>
        </p:nvSpPr>
        <p:spPr>
          <a:xfrm>
            <a:off x="4470400" y="2485392"/>
            <a:ext cx="1841500" cy="0"/>
          </a:xfrm>
          <a:prstGeom prst="line">
            <a:avLst/>
          </a:prstGeom>
          <a:noFill/>
          <a:ln w="12700">
            <a:solidFill>
              <a:srgbClr val="000000"/>
            </a:solidFill>
            <a:prstDash val="solid"/>
          </a:ln>
        </p:spPr>
        <p:txBody>
          <a:bodyPr/>
          <a:lstStyle/>
          <a:p>
            <a:endParaRPr lang="en-SG"/>
          </a:p>
        </p:txBody>
      </p:sp>
      <p:sp>
        <p:nvSpPr>
          <p:cNvPr id="15" name="Shape 12"/>
          <p:cNvSpPr/>
          <p:nvPr/>
        </p:nvSpPr>
        <p:spPr>
          <a:xfrm>
            <a:off x="4476750" y="2479042"/>
            <a:ext cx="0" cy="571500"/>
          </a:xfrm>
          <a:prstGeom prst="line">
            <a:avLst/>
          </a:prstGeom>
          <a:noFill/>
          <a:ln w="12700">
            <a:solidFill>
              <a:srgbClr val="000000"/>
            </a:solidFill>
            <a:prstDash val="solid"/>
          </a:ln>
        </p:spPr>
        <p:txBody>
          <a:bodyPr/>
          <a:lstStyle/>
          <a:p>
            <a:endParaRPr lang="en-SG"/>
          </a:p>
        </p:txBody>
      </p:sp>
      <p:sp>
        <p:nvSpPr>
          <p:cNvPr id="16" name="Text 13"/>
          <p:cNvSpPr/>
          <p:nvPr/>
        </p:nvSpPr>
        <p:spPr>
          <a:xfrm>
            <a:off x="4575810" y="2647952"/>
            <a:ext cx="1640840"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0.37</a:t>
            </a:r>
            <a:endParaRPr lang="en-US" sz="1600"/>
          </a:p>
        </p:txBody>
      </p:sp>
      <p:sp>
        <p:nvSpPr>
          <p:cNvPr id="17" name="Shape 14"/>
          <p:cNvSpPr/>
          <p:nvPr/>
        </p:nvSpPr>
        <p:spPr>
          <a:xfrm>
            <a:off x="6311900" y="2485392"/>
            <a:ext cx="2717800" cy="0"/>
          </a:xfrm>
          <a:prstGeom prst="line">
            <a:avLst/>
          </a:prstGeom>
          <a:noFill/>
          <a:ln w="12700">
            <a:solidFill>
              <a:srgbClr val="000000"/>
            </a:solidFill>
            <a:prstDash val="solid"/>
          </a:ln>
        </p:spPr>
        <p:txBody>
          <a:bodyPr/>
          <a:lstStyle/>
          <a:p>
            <a:endParaRPr lang="en-SG"/>
          </a:p>
        </p:txBody>
      </p:sp>
      <p:sp>
        <p:nvSpPr>
          <p:cNvPr id="18" name="Shape 15"/>
          <p:cNvSpPr/>
          <p:nvPr/>
        </p:nvSpPr>
        <p:spPr>
          <a:xfrm>
            <a:off x="6318250" y="2479042"/>
            <a:ext cx="0" cy="571500"/>
          </a:xfrm>
          <a:prstGeom prst="line">
            <a:avLst/>
          </a:prstGeom>
          <a:noFill/>
          <a:ln w="12700">
            <a:solidFill>
              <a:srgbClr val="000000"/>
            </a:solidFill>
            <a:prstDash val="solid"/>
          </a:ln>
        </p:spPr>
        <p:txBody>
          <a:bodyPr/>
          <a:lstStyle/>
          <a:p>
            <a:endParaRPr lang="en-SG"/>
          </a:p>
        </p:txBody>
      </p:sp>
      <p:sp>
        <p:nvSpPr>
          <p:cNvPr id="19" name="Text 16"/>
          <p:cNvSpPr/>
          <p:nvPr/>
        </p:nvSpPr>
        <p:spPr>
          <a:xfrm>
            <a:off x="6405715" y="2647952"/>
            <a:ext cx="2540330"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+3.7 per 10 points</a:t>
            </a:r>
            <a:endParaRPr lang="en-US" sz="1600"/>
          </a:p>
        </p:txBody>
      </p:sp>
      <p:sp>
        <p:nvSpPr>
          <p:cNvPr id="20" name="Shape 17"/>
          <p:cNvSpPr/>
          <p:nvPr/>
        </p:nvSpPr>
        <p:spPr>
          <a:xfrm>
            <a:off x="9029700" y="2485392"/>
            <a:ext cx="1778000" cy="0"/>
          </a:xfrm>
          <a:prstGeom prst="line">
            <a:avLst/>
          </a:prstGeom>
          <a:noFill/>
          <a:ln w="12700">
            <a:solidFill>
              <a:srgbClr val="000000"/>
            </a:solidFill>
            <a:prstDash val="solid"/>
          </a:ln>
        </p:spPr>
        <p:txBody>
          <a:bodyPr/>
          <a:lstStyle/>
          <a:p>
            <a:endParaRPr lang="en-SG"/>
          </a:p>
        </p:txBody>
      </p:sp>
      <p:sp>
        <p:nvSpPr>
          <p:cNvPr id="21" name="Shape 18"/>
          <p:cNvSpPr/>
          <p:nvPr/>
        </p:nvSpPr>
        <p:spPr>
          <a:xfrm>
            <a:off x="9036050" y="2479042"/>
            <a:ext cx="0" cy="571500"/>
          </a:xfrm>
          <a:prstGeom prst="line">
            <a:avLst/>
          </a:prstGeom>
          <a:noFill/>
          <a:ln w="12700">
            <a:solidFill>
              <a:srgbClr val="000000"/>
            </a:solidFill>
            <a:prstDash val="solid"/>
          </a:ln>
        </p:spPr>
        <p:txBody>
          <a:bodyPr/>
          <a:lstStyle/>
          <a:p>
            <a:endParaRPr lang="en-SG"/>
          </a:p>
        </p:txBody>
      </p:sp>
      <p:sp>
        <p:nvSpPr>
          <p:cNvPr id="22" name="Text 19"/>
          <p:cNvSpPr/>
          <p:nvPr/>
        </p:nvSpPr>
        <p:spPr>
          <a:xfrm>
            <a:off x="9135110" y="2647952"/>
            <a:ext cx="1577340"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1.5 to 5.8</a:t>
            </a:r>
            <a:endParaRPr lang="en-US" sz="1600"/>
          </a:p>
        </p:txBody>
      </p:sp>
      <p:sp>
        <p:nvSpPr>
          <p:cNvPr id="23" name="Shape 20"/>
          <p:cNvSpPr/>
          <p:nvPr/>
        </p:nvSpPr>
        <p:spPr>
          <a:xfrm>
            <a:off x="533400" y="3056892"/>
            <a:ext cx="3937000" cy="0"/>
          </a:xfrm>
          <a:prstGeom prst="line">
            <a:avLst/>
          </a:prstGeom>
          <a:noFill/>
          <a:ln w="12700">
            <a:solidFill>
              <a:srgbClr val="000000"/>
            </a:solidFill>
            <a:prstDash val="solid"/>
          </a:ln>
        </p:spPr>
        <p:txBody>
          <a:bodyPr/>
          <a:lstStyle/>
          <a:p>
            <a:endParaRPr lang="en-SG"/>
          </a:p>
        </p:txBody>
      </p:sp>
      <p:sp>
        <p:nvSpPr>
          <p:cNvPr id="24" name="Text 21"/>
          <p:cNvSpPr/>
          <p:nvPr/>
        </p:nvSpPr>
        <p:spPr>
          <a:xfrm>
            <a:off x="654050" y="3200402"/>
            <a:ext cx="380657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AI increased efficiency</a:t>
            </a:r>
            <a:endParaRPr lang="en-US" sz="1850"/>
          </a:p>
        </p:txBody>
      </p:sp>
      <p:sp>
        <p:nvSpPr>
          <p:cNvPr id="25" name="Shape 22"/>
          <p:cNvSpPr/>
          <p:nvPr/>
        </p:nvSpPr>
        <p:spPr>
          <a:xfrm>
            <a:off x="4470400" y="3056892"/>
            <a:ext cx="1841500" cy="0"/>
          </a:xfrm>
          <a:prstGeom prst="line">
            <a:avLst/>
          </a:prstGeom>
          <a:noFill/>
          <a:ln w="12700">
            <a:solidFill>
              <a:srgbClr val="000000"/>
            </a:solidFill>
            <a:prstDash val="solid"/>
          </a:ln>
        </p:spPr>
        <p:txBody>
          <a:bodyPr/>
          <a:lstStyle/>
          <a:p>
            <a:endParaRPr lang="en-SG"/>
          </a:p>
        </p:txBody>
      </p:sp>
      <p:sp>
        <p:nvSpPr>
          <p:cNvPr id="26" name="Shape 23"/>
          <p:cNvSpPr/>
          <p:nvPr/>
        </p:nvSpPr>
        <p:spPr>
          <a:xfrm>
            <a:off x="4476750" y="3050542"/>
            <a:ext cx="0" cy="571500"/>
          </a:xfrm>
          <a:prstGeom prst="line">
            <a:avLst/>
          </a:prstGeom>
          <a:noFill/>
          <a:ln w="12700">
            <a:solidFill>
              <a:srgbClr val="000000"/>
            </a:solidFill>
            <a:prstDash val="solid"/>
          </a:ln>
        </p:spPr>
        <p:txBody>
          <a:bodyPr/>
          <a:lstStyle/>
          <a:p>
            <a:endParaRPr lang="en-SG"/>
          </a:p>
        </p:txBody>
      </p:sp>
      <p:sp>
        <p:nvSpPr>
          <p:cNvPr id="27" name="Text 24"/>
          <p:cNvSpPr/>
          <p:nvPr/>
        </p:nvSpPr>
        <p:spPr>
          <a:xfrm>
            <a:off x="4575810" y="3219452"/>
            <a:ext cx="1640840"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0.31</a:t>
            </a:r>
            <a:endParaRPr lang="en-US" sz="1600"/>
          </a:p>
        </p:txBody>
      </p:sp>
      <p:sp>
        <p:nvSpPr>
          <p:cNvPr id="28" name="Shape 25"/>
          <p:cNvSpPr/>
          <p:nvPr/>
        </p:nvSpPr>
        <p:spPr>
          <a:xfrm>
            <a:off x="6311900" y="3056892"/>
            <a:ext cx="2717800" cy="0"/>
          </a:xfrm>
          <a:prstGeom prst="line">
            <a:avLst/>
          </a:prstGeom>
          <a:noFill/>
          <a:ln w="12700">
            <a:solidFill>
              <a:srgbClr val="000000"/>
            </a:solidFill>
            <a:prstDash val="solid"/>
          </a:ln>
        </p:spPr>
        <p:txBody>
          <a:bodyPr/>
          <a:lstStyle/>
          <a:p>
            <a:endParaRPr lang="en-SG"/>
          </a:p>
        </p:txBody>
      </p:sp>
      <p:sp>
        <p:nvSpPr>
          <p:cNvPr id="29" name="Shape 26"/>
          <p:cNvSpPr/>
          <p:nvPr/>
        </p:nvSpPr>
        <p:spPr>
          <a:xfrm>
            <a:off x="6318250" y="3050542"/>
            <a:ext cx="0" cy="571500"/>
          </a:xfrm>
          <a:prstGeom prst="line">
            <a:avLst/>
          </a:prstGeom>
          <a:noFill/>
          <a:ln w="12700">
            <a:solidFill>
              <a:srgbClr val="000000"/>
            </a:solidFill>
            <a:prstDash val="solid"/>
          </a:ln>
        </p:spPr>
        <p:txBody>
          <a:bodyPr/>
          <a:lstStyle/>
          <a:p>
            <a:endParaRPr lang="en-SG"/>
          </a:p>
        </p:txBody>
      </p:sp>
      <p:sp>
        <p:nvSpPr>
          <p:cNvPr id="30" name="Text 27"/>
          <p:cNvSpPr/>
          <p:nvPr/>
        </p:nvSpPr>
        <p:spPr>
          <a:xfrm>
            <a:off x="6405715" y="3219452"/>
            <a:ext cx="2540330"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+3.1 per 10 points</a:t>
            </a:r>
            <a:endParaRPr lang="en-US" sz="1600"/>
          </a:p>
        </p:txBody>
      </p:sp>
      <p:sp>
        <p:nvSpPr>
          <p:cNvPr id="31" name="Shape 28"/>
          <p:cNvSpPr/>
          <p:nvPr/>
        </p:nvSpPr>
        <p:spPr>
          <a:xfrm>
            <a:off x="9029700" y="3056892"/>
            <a:ext cx="1778000" cy="0"/>
          </a:xfrm>
          <a:prstGeom prst="line">
            <a:avLst/>
          </a:prstGeom>
          <a:noFill/>
          <a:ln w="12700">
            <a:solidFill>
              <a:srgbClr val="000000"/>
            </a:solidFill>
            <a:prstDash val="solid"/>
          </a:ln>
        </p:spPr>
        <p:txBody>
          <a:bodyPr/>
          <a:lstStyle/>
          <a:p>
            <a:endParaRPr lang="en-SG"/>
          </a:p>
        </p:txBody>
      </p:sp>
      <p:sp>
        <p:nvSpPr>
          <p:cNvPr id="32" name="Shape 29"/>
          <p:cNvSpPr/>
          <p:nvPr/>
        </p:nvSpPr>
        <p:spPr>
          <a:xfrm>
            <a:off x="9036050" y="3050542"/>
            <a:ext cx="0" cy="571500"/>
          </a:xfrm>
          <a:prstGeom prst="line">
            <a:avLst/>
          </a:prstGeom>
          <a:noFill/>
          <a:ln w="12700">
            <a:solidFill>
              <a:srgbClr val="000000"/>
            </a:solidFill>
            <a:prstDash val="solid"/>
          </a:ln>
        </p:spPr>
        <p:txBody>
          <a:bodyPr/>
          <a:lstStyle/>
          <a:p>
            <a:endParaRPr lang="en-SG"/>
          </a:p>
        </p:txBody>
      </p:sp>
      <p:sp>
        <p:nvSpPr>
          <p:cNvPr id="33" name="Text 30"/>
          <p:cNvSpPr/>
          <p:nvPr/>
        </p:nvSpPr>
        <p:spPr>
          <a:xfrm>
            <a:off x="9135110" y="3219452"/>
            <a:ext cx="1577340"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0.6 to 6.1</a:t>
            </a:r>
            <a:endParaRPr lang="en-US" sz="1600"/>
          </a:p>
        </p:txBody>
      </p:sp>
      <p:sp>
        <p:nvSpPr>
          <p:cNvPr id="34" name="Shape 31"/>
          <p:cNvSpPr/>
          <p:nvPr/>
        </p:nvSpPr>
        <p:spPr>
          <a:xfrm>
            <a:off x="533400" y="3628392"/>
            <a:ext cx="3937000" cy="0"/>
          </a:xfrm>
          <a:prstGeom prst="line">
            <a:avLst/>
          </a:prstGeom>
          <a:noFill/>
          <a:ln w="12700">
            <a:solidFill>
              <a:srgbClr val="000000"/>
            </a:solidFill>
            <a:prstDash val="solid"/>
          </a:ln>
        </p:spPr>
        <p:txBody>
          <a:bodyPr/>
          <a:lstStyle/>
          <a:p>
            <a:endParaRPr lang="en-SG"/>
          </a:p>
        </p:txBody>
      </p:sp>
      <p:sp>
        <p:nvSpPr>
          <p:cNvPr id="35" name="Text 32"/>
          <p:cNvSpPr/>
          <p:nvPr/>
        </p:nvSpPr>
        <p:spPr>
          <a:xfrm>
            <a:off x="654050" y="3771902"/>
            <a:ext cx="380657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Could not work without AI</a:t>
            </a:r>
            <a:endParaRPr lang="en-US" sz="1850"/>
          </a:p>
        </p:txBody>
      </p:sp>
      <p:sp>
        <p:nvSpPr>
          <p:cNvPr id="36" name="Shape 33"/>
          <p:cNvSpPr/>
          <p:nvPr/>
        </p:nvSpPr>
        <p:spPr>
          <a:xfrm>
            <a:off x="4470400" y="3628392"/>
            <a:ext cx="1841500" cy="0"/>
          </a:xfrm>
          <a:prstGeom prst="line">
            <a:avLst/>
          </a:prstGeom>
          <a:noFill/>
          <a:ln w="12700">
            <a:solidFill>
              <a:srgbClr val="000000"/>
            </a:solidFill>
            <a:prstDash val="solid"/>
          </a:ln>
        </p:spPr>
        <p:txBody>
          <a:bodyPr/>
          <a:lstStyle/>
          <a:p>
            <a:endParaRPr lang="en-SG"/>
          </a:p>
        </p:txBody>
      </p:sp>
      <p:sp>
        <p:nvSpPr>
          <p:cNvPr id="37" name="Shape 34"/>
          <p:cNvSpPr/>
          <p:nvPr/>
        </p:nvSpPr>
        <p:spPr>
          <a:xfrm>
            <a:off x="4476750" y="3622042"/>
            <a:ext cx="0" cy="571500"/>
          </a:xfrm>
          <a:prstGeom prst="line">
            <a:avLst/>
          </a:prstGeom>
          <a:noFill/>
          <a:ln w="12700">
            <a:solidFill>
              <a:srgbClr val="000000"/>
            </a:solidFill>
            <a:prstDash val="solid"/>
          </a:ln>
        </p:spPr>
        <p:txBody>
          <a:bodyPr/>
          <a:lstStyle/>
          <a:p>
            <a:endParaRPr lang="en-SG"/>
          </a:p>
        </p:txBody>
      </p:sp>
      <p:sp>
        <p:nvSpPr>
          <p:cNvPr id="38" name="Text 35"/>
          <p:cNvSpPr/>
          <p:nvPr/>
        </p:nvSpPr>
        <p:spPr>
          <a:xfrm>
            <a:off x="4575810" y="3790952"/>
            <a:ext cx="1640840"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0.25</a:t>
            </a:r>
            <a:endParaRPr lang="en-US" sz="1600"/>
          </a:p>
        </p:txBody>
      </p:sp>
      <p:sp>
        <p:nvSpPr>
          <p:cNvPr id="39" name="Shape 36"/>
          <p:cNvSpPr/>
          <p:nvPr/>
        </p:nvSpPr>
        <p:spPr>
          <a:xfrm>
            <a:off x="6311900" y="3628392"/>
            <a:ext cx="2717800" cy="0"/>
          </a:xfrm>
          <a:prstGeom prst="line">
            <a:avLst/>
          </a:prstGeom>
          <a:noFill/>
          <a:ln w="12700">
            <a:solidFill>
              <a:srgbClr val="000000"/>
            </a:solidFill>
            <a:prstDash val="solid"/>
          </a:ln>
        </p:spPr>
        <p:txBody>
          <a:bodyPr/>
          <a:lstStyle/>
          <a:p>
            <a:endParaRPr lang="en-SG"/>
          </a:p>
        </p:txBody>
      </p:sp>
      <p:sp>
        <p:nvSpPr>
          <p:cNvPr id="40" name="Shape 37"/>
          <p:cNvSpPr/>
          <p:nvPr/>
        </p:nvSpPr>
        <p:spPr>
          <a:xfrm>
            <a:off x="6318250" y="3622042"/>
            <a:ext cx="0" cy="571500"/>
          </a:xfrm>
          <a:prstGeom prst="line">
            <a:avLst/>
          </a:prstGeom>
          <a:noFill/>
          <a:ln w="12700">
            <a:solidFill>
              <a:srgbClr val="000000"/>
            </a:solidFill>
            <a:prstDash val="solid"/>
          </a:ln>
        </p:spPr>
        <p:txBody>
          <a:bodyPr/>
          <a:lstStyle/>
          <a:p>
            <a:endParaRPr lang="en-SG"/>
          </a:p>
        </p:txBody>
      </p:sp>
      <p:sp>
        <p:nvSpPr>
          <p:cNvPr id="41" name="Text 38"/>
          <p:cNvSpPr/>
          <p:nvPr/>
        </p:nvSpPr>
        <p:spPr>
          <a:xfrm>
            <a:off x="6405715" y="3790952"/>
            <a:ext cx="2540330"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+2.5 per 10 points</a:t>
            </a:r>
            <a:endParaRPr lang="en-US" sz="1600"/>
          </a:p>
        </p:txBody>
      </p:sp>
      <p:sp>
        <p:nvSpPr>
          <p:cNvPr id="42" name="Shape 39"/>
          <p:cNvSpPr/>
          <p:nvPr/>
        </p:nvSpPr>
        <p:spPr>
          <a:xfrm>
            <a:off x="9029700" y="3628392"/>
            <a:ext cx="1778000" cy="0"/>
          </a:xfrm>
          <a:prstGeom prst="line">
            <a:avLst/>
          </a:prstGeom>
          <a:noFill/>
          <a:ln w="12700">
            <a:solidFill>
              <a:srgbClr val="000000"/>
            </a:solidFill>
            <a:prstDash val="solid"/>
          </a:ln>
        </p:spPr>
        <p:txBody>
          <a:bodyPr/>
          <a:lstStyle/>
          <a:p>
            <a:endParaRPr lang="en-SG"/>
          </a:p>
        </p:txBody>
      </p:sp>
      <p:sp>
        <p:nvSpPr>
          <p:cNvPr id="43" name="Shape 40"/>
          <p:cNvSpPr/>
          <p:nvPr/>
        </p:nvSpPr>
        <p:spPr>
          <a:xfrm>
            <a:off x="9036050" y="3622042"/>
            <a:ext cx="0" cy="571500"/>
          </a:xfrm>
          <a:prstGeom prst="line">
            <a:avLst/>
          </a:prstGeom>
          <a:noFill/>
          <a:ln w="12700">
            <a:solidFill>
              <a:srgbClr val="000000"/>
            </a:solidFill>
            <a:prstDash val="solid"/>
          </a:ln>
        </p:spPr>
        <p:txBody>
          <a:bodyPr/>
          <a:lstStyle/>
          <a:p>
            <a:endParaRPr lang="en-SG"/>
          </a:p>
        </p:txBody>
      </p:sp>
      <p:sp>
        <p:nvSpPr>
          <p:cNvPr id="44" name="Text 41"/>
          <p:cNvSpPr/>
          <p:nvPr/>
        </p:nvSpPr>
        <p:spPr>
          <a:xfrm>
            <a:off x="9135110" y="3790952"/>
            <a:ext cx="1577340"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−0.2 to 4.9</a:t>
            </a:r>
            <a:endParaRPr lang="en-US" sz="1600"/>
          </a:p>
        </p:txBody>
      </p:sp>
      <p:sp>
        <p:nvSpPr>
          <p:cNvPr id="45" name="Shape 42"/>
          <p:cNvSpPr/>
          <p:nvPr/>
        </p:nvSpPr>
        <p:spPr>
          <a:xfrm>
            <a:off x="533400" y="4199892"/>
            <a:ext cx="3937000" cy="0"/>
          </a:xfrm>
          <a:prstGeom prst="line">
            <a:avLst/>
          </a:prstGeom>
          <a:noFill/>
          <a:ln w="12700">
            <a:solidFill>
              <a:srgbClr val="000000"/>
            </a:solidFill>
            <a:prstDash val="solid"/>
          </a:ln>
        </p:spPr>
        <p:txBody>
          <a:bodyPr/>
          <a:lstStyle/>
          <a:p>
            <a:endParaRPr lang="en-SG"/>
          </a:p>
        </p:txBody>
      </p:sp>
      <p:sp>
        <p:nvSpPr>
          <p:cNvPr id="46" name="Text 43"/>
          <p:cNvSpPr/>
          <p:nvPr/>
        </p:nvSpPr>
        <p:spPr>
          <a:xfrm>
            <a:off x="654050" y="4343402"/>
            <a:ext cx="380657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Log GDP per capita</a:t>
            </a:r>
            <a:endParaRPr lang="en-US" sz="1850"/>
          </a:p>
        </p:txBody>
      </p:sp>
      <p:sp>
        <p:nvSpPr>
          <p:cNvPr id="47" name="Shape 44"/>
          <p:cNvSpPr/>
          <p:nvPr/>
        </p:nvSpPr>
        <p:spPr>
          <a:xfrm>
            <a:off x="4470400" y="4199892"/>
            <a:ext cx="1841500" cy="0"/>
          </a:xfrm>
          <a:prstGeom prst="line">
            <a:avLst/>
          </a:prstGeom>
          <a:noFill/>
          <a:ln w="12700">
            <a:solidFill>
              <a:srgbClr val="000000"/>
            </a:solidFill>
            <a:prstDash val="solid"/>
          </a:ln>
        </p:spPr>
        <p:txBody>
          <a:bodyPr/>
          <a:lstStyle/>
          <a:p>
            <a:endParaRPr lang="en-SG"/>
          </a:p>
        </p:txBody>
      </p:sp>
      <p:sp>
        <p:nvSpPr>
          <p:cNvPr id="48" name="Shape 45"/>
          <p:cNvSpPr/>
          <p:nvPr/>
        </p:nvSpPr>
        <p:spPr>
          <a:xfrm>
            <a:off x="4476750" y="4193542"/>
            <a:ext cx="0" cy="571500"/>
          </a:xfrm>
          <a:prstGeom prst="line">
            <a:avLst/>
          </a:prstGeom>
          <a:noFill/>
          <a:ln w="12700">
            <a:solidFill>
              <a:srgbClr val="000000"/>
            </a:solidFill>
            <a:prstDash val="solid"/>
          </a:ln>
        </p:spPr>
        <p:txBody>
          <a:bodyPr/>
          <a:lstStyle/>
          <a:p>
            <a:endParaRPr lang="en-SG"/>
          </a:p>
        </p:txBody>
      </p:sp>
      <p:sp>
        <p:nvSpPr>
          <p:cNvPr id="49" name="Text 46"/>
          <p:cNvSpPr/>
          <p:nvPr/>
        </p:nvSpPr>
        <p:spPr>
          <a:xfrm>
            <a:off x="4575810" y="4362452"/>
            <a:ext cx="1640840"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−1.75</a:t>
            </a:r>
            <a:endParaRPr lang="en-US" sz="1600"/>
          </a:p>
        </p:txBody>
      </p:sp>
      <p:sp>
        <p:nvSpPr>
          <p:cNvPr id="50" name="Shape 47"/>
          <p:cNvSpPr/>
          <p:nvPr/>
        </p:nvSpPr>
        <p:spPr>
          <a:xfrm>
            <a:off x="6311900" y="4199892"/>
            <a:ext cx="2717800" cy="0"/>
          </a:xfrm>
          <a:prstGeom prst="line">
            <a:avLst/>
          </a:prstGeom>
          <a:noFill/>
          <a:ln w="12700">
            <a:solidFill>
              <a:srgbClr val="000000"/>
            </a:solidFill>
            <a:prstDash val="solid"/>
          </a:ln>
        </p:spPr>
        <p:txBody>
          <a:bodyPr/>
          <a:lstStyle/>
          <a:p>
            <a:endParaRPr lang="en-SG"/>
          </a:p>
        </p:txBody>
      </p:sp>
      <p:sp>
        <p:nvSpPr>
          <p:cNvPr id="51" name="Shape 48"/>
          <p:cNvSpPr/>
          <p:nvPr/>
        </p:nvSpPr>
        <p:spPr>
          <a:xfrm>
            <a:off x="6318250" y="4193542"/>
            <a:ext cx="0" cy="571500"/>
          </a:xfrm>
          <a:prstGeom prst="line">
            <a:avLst/>
          </a:prstGeom>
          <a:noFill/>
          <a:ln w="12700">
            <a:solidFill>
              <a:srgbClr val="000000"/>
            </a:solidFill>
            <a:prstDash val="solid"/>
          </a:ln>
        </p:spPr>
        <p:txBody>
          <a:bodyPr/>
          <a:lstStyle/>
          <a:p>
            <a:endParaRPr lang="en-SG"/>
          </a:p>
        </p:txBody>
      </p:sp>
      <p:sp>
        <p:nvSpPr>
          <p:cNvPr id="52" name="Text 49"/>
          <p:cNvSpPr/>
          <p:nvPr/>
        </p:nvSpPr>
        <p:spPr>
          <a:xfrm>
            <a:off x="6405715" y="4362452"/>
            <a:ext cx="2540330"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−1.2 per doubling</a:t>
            </a:r>
            <a:endParaRPr lang="en-US" sz="1600"/>
          </a:p>
        </p:txBody>
      </p:sp>
      <p:sp>
        <p:nvSpPr>
          <p:cNvPr id="53" name="Shape 50"/>
          <p:cNvSpPr/>
          <p:nvPr/>
        </p:nvSpPr>
        <p:spPr>
          <a:xfrm>
            <a:off x="9029700" y="4199892"/>
            <a:ext cx="1778000" cy="0"/>
          </a:xfrm>
          <a:prstGeom prst="line">
            <a:avLst/>
          </a:prstGeom>
          <a:noFill/>
          <a:ln w="12700">
            <a:solidFill>
              <a:srgbClr val="000000"/>
            </a:solidFill>
            <a:prstDash val="solid"/>
          </a:ln>
        </p:spPr>
        <p:txBody>
          <a:bodyPr/>
          <a:lstStyle/>
          <a:p>
            <a:endParaRPr lang="en-SG"/>
          </a:p>
        </p:txBody>
      </p:sp>
      <p:sp>
        <p:nvSpPr>
          <p:cNvPr id="54" name="Shape 51"/>
          <p:cNvSpPr/>
          <p:nvPr/>
        </p:nvSpPr>
        <p:spPr>
          <a:xfrm>
            <a:off x="9036050" y="4193542"/>
            <a:ext cx="0" cy="571500"/>
          </a:xfrm>
          <a:prstGeom prst="line">
            <a:avLst/>
          </a:prstGeom>
          <a:noFill/>
          <a:ln w="12700">
            <a:solidFill>
              <a:srgbClr val="000000"/>
            </a:solidFill>
            <a:prstDash val="solid"/>
          </a:ln>
        </p:spPr>
        <p:txBody>
          <a:bodyPr/>
          <a:lstStyle/>
          <a:p>
            <a:endParaRPr lang="en-SG"/>
          </a:p>
        </p:txBody>
      </p:sp>
      <p:sp>
        <p:nvSpPr>
          <p:cNvPr id="55" name="Text 52"/>
          <p:cNvSpPr/>
          <p:nvPr/>
        </p:nvSpPr>
        <p:spPr>
          <a:xfrm>
            <a:off x="9135110" y="4362452"/>
            <a:ext cx="1577340"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−2.1 to −0.2</a:t>
            </a:r>
            <a:endParaRPr lang="en-US" sz="1600"/>
          </a:p>
        </p:txBody>
      </p:sp>
      <p:sp>
        <p:nvSpPr>
          <p:cNvPr id="56" name="Text 53"/>
          <p:cNvSpPr/>
          <p:nvPr/>
        </p:nvSpPr>
        <p:spPr>
          <a:xfrm>
            <a:off x="654050" y="4892042"/>
            <a:ext cx="10333990" cy="467360"/>
          </a:xfrm>
          <a:prstGeom prst="rect">
            <a:avLst/>
          </a:prstGeom>
          <a:noFill/>
          <a:ln/>
        </p:spPr>
        <p:txBody>
          <a:bodyPr wrap="square" lIns="0" tIns="0" rIns="0" bIns="0" rtlCol="0" anchor="t">
            <a:normAutofit/>
          </a:bodyPr>
          <a:lstStyle/>
          <a:p>
            <a:pPr marL="0" indent="0" algn="l">
              <a:lnSpc>
                <a:spcPts val="1740"/>
              </a:lnSpc>
              <a:buNone/>
            </a:pPr>
            <a:r>
              <a:rPr lang="en-US" sz="1450">
                <a:solidFill>
                  <a:srgbClr val="000000"/>
                </a:solidFill>
                <a:latin typeface="Albert Sans" pitchFamily="34" charset="0"/>
                <a:ea typeface="Albert Sans" pitchFamily="34" charset="-122"/>
                <a:cs typeface="Albert Sans" pitchFamily="34" charset="-120"/>
              </a:rPr>
              <a:t>Intercept 20.7; survey inputs on a 0 to 100 scale; effects in points of predicted trust, with 95% bootstrap ranges that hold the chosen inputs fixed</a:t>
            </a:r>
            <a:endParaRPr lang="en-US" sz="145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Evaluation design</a:t>
            </a:r>
            <a:endParaRPr lang="en-US" sz="4000"/>
          </a:p>
        </p:txBody>
      </p:sp>
      <p:sp>
        <p:nvSpPr>
          <p:cNvPr id="5" name="Text 2"/>
          <p:cNvSpPr/>
          <p:nvPr/>
        </p:nvSpPr>
        <p:spPr>
          <a:xfrm>
            <a:off x="654050" y="2040892"/>
            <a:ext cx="4781106"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Split stability</a:t>
            </a:r>
            <a:endParaRPr lang="en-US" sz="2650"/>
          </a:p>
        </p:txBody>
      </p:sp>
      <p:sp>
        <p:nvSpPr>
          <p:cNvPr id="6" name="Text 3"/>
          <p:cNvSpPr/>
          <p:nvPr/>
        </p:nvSpPr>
        <p:spPr>
          <a:xfrm>
            <a:off x="654050" y="2711450"/>
            <a:ext cx="1909826"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Evaluation</a:t>
            </a:r>
            <a:endParaRPr lang="en-US" sz="1850"/>
          </a:p>
        </p:txBody>
      </p:sp>
      <p:sp>
        <p:nvSpPr>
          <p:cNvPr id="7" name="Shape 4"/>
          <p:cNvSpPr/>
          <p:nvPr/>
        </p:nvSpPr>
        <p:spPr>
          <a:xfrm>
            <a:off x="2635250" y="2571750"/>
            <a:ext cx="0" cy="561340"/>
          </a:xfrm>
          <a:prstGeom prst="line">
            <a:avLst/>
          </a:prstGeom>
          <a:noFill/>
          <a:ln w="12700">
            <a:solidFill>
              <a:srgbClr val="000000"/>
            </a:solidFill>
            <a:prstDash val="solid"/>
          </a:ln>
        </p:spPr>
        <p:txBody>
          <a:bodyPr/>
          <a:lstStyle/>
          <a:p>
            <a:endParaRPr lang="en-SG"/>
          </a:p>
        </p:txBody>
      </p:sp>
      <p:sp>
        <p:nvSpPr>
          <p:cNvPr id="8" name="Text 5"/>
          <p:cNvSpPr/>
          <p:nvPr/>
        </p:nvSpPr>
        <p:spPr>
          <a:xfrm>
            <a:off x="2721667" y="2711450"/>
            <a:ext cx="2612276" cy="307340"/>
          </a:xfrm>
          <a:prstGeom prst="rect">
            <a:avLst/>
          </a:prstGeom>
          <a:noFill/>
          <a:ln/>
        </p:spPr>
        <p:txBody>
          <a:bodyPr wrap="square" lIns="0" tIns="0" rIns="0" bIns="0" rtlCol="0" anchor="t">
            <a:normAutofit/>
          </a:bodyPr>
          <a:lstStyle/>
          <a:p>
            <a:pPr marL="0" indent="0" algn="ctr">
              <a:lnSpc>
                <a:spcPts val="2220"/>
              </a:lnSpc>
              <a:buNone/>
            </a:pPr>
            <a:r>
              <a:rPr lang="en-US" sz="1850" b="1">
                <a:solidFill>
                  <a:srgbClr val="000000"/>
                </a:solidFill>
                <a:latin typeface="Anybody" pitchFamily="34" charset="0"/>
                <a:ea typeface="Anybody" pitchFamily="34" charset="-122"/>
                <a:cs typeface="Anybody" pitchFamily="34" charset="-120"/>
              </a:rPr>
              <a:t>MAE range</a:t>
            </a:r>
            <a:endParaRPr lang="en-US" sz="1850"/>
          </a:p>
        </p:txBody>
      </p:sp>
      <p:sp>
        <p:nvSpPr>
          <p:cNvPr id="9" name="Shape 6"/>
          <p:cNvSpPr/>
          <p:nvPr/>
        </p:nvSpPr>
        <p:spPr>
          <a:xfrm>
            <a:off x="533400" y="3139442"/>
            <a:ext cx="2095500" cy="0"/>
          </a:xfrm>
          <a:prstGeom prst="line">
            <a:avLst/>
          </a:prstGeom>
          <a:noFill/>
          <a:ln w="12700">
            <a:solidFill>
              <a:srgbClr val="000000"/>
            </a:solidFill>
            <a:prstDash val="solid"/>
          </a:ln>
        </p:spPr>
        <p:txBody>
          <a:bodyPr/>
          <a:lstStyle/>
          <a:p>
            <a:endParaRPr lang="en-SG"/>
          </a:p>
        </p:txBody>
      </p:sp>
      <p:sp>
        <p:nvSpPr>
          <p:cNvPr id="10" name="Text 7"/>
          <p:cNvSpPr/>
          <p:nvPr/>
        </p:nvSpPr>
        <p:spPr>
          <a:xfrm>
            <a:off x="654050" y="3282952"/>
            <a:ext cx="1909826"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70/30 split</a:t>
            </a:r>
            <a:endParaRPr lang="en-US" sz="1850"/>
          </a:p>
        </p:txBody>
      </p:sp>
      <p:sp>
        <p:nvSpPr>
          <p:cNvPr id="11" name="Shape 8"/>
          <p:cNvSpPr/>
          <p:nvPr/>
        </p:nvSpPr>
        <p:spPr>
          <a:xfrm>
            <a:off x="2628900" y="3139442"/>
            <a:ext cx="2787650" cy="0"/>
          </a:xfrm>
          <a:prstGeom prst="line">
            <a:avLst/>
          </a:prstGeom>
          <a:noFill/>
          <a:ln w="12700">
            <a:solidFill>
              <a:srgbClr val="000000"/>
            </a:solidFill>
            <a:prstDash val="solid"/>
          </a:ln>
        </p:spPr>
        <p:txBody>
          <a:bodyPr/>
          <a:lstStyle/>
          <a:p>
            <a:endParaRPr lang="en-SG"/>
          </a:p>
        </p:txBody>
      </p:sp>
      <p:sp>
        <p:nvSpPr>
          <p:cNvPr id="12" name="Shape 9"/>
          <p:cNvSpPr/>
          <p:nvPr/>
        </p:nvSpPr>
        <p:spPr>
          <a:xfrm>
            <a:off x="2635250" y="3133092"/>
            <a:ext cx="0" cy="571500"/>
          </a:xfrm>
          <a:prstGeom prst="line">
            <a:avLst/>
          </a:prstGeom>
          <a:noFill/>
          <a:ln w="12700">
            <a:solidFill>
              <a:srgbClr val="000000"/>
            </a:solidFill>
            <a:prstDash val="solid"/>
          </a:ln>
        </p:spPr>
        <p:txBody>
          <a:bodyPr/>
          <a:lstStyle/>
          <a:p>
            <a:endParaRPr lang="en-SG"/>
          </a:p>
        </p:txBody>
      </p:sp>
      <p:sp>
        <p:nvSpPr>
          <p:cNvPr id="13" name="Text 10"/>
          <p:cNvSpPr/>
          <p:nvPr/>
        </p:nvSpPr>
        <p:spPr>
          <a:xfrm>
            <a:off x="2721667" y="3302002"/>
            <a:ext cx="2612276"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2.17 to 5.29 points</a:t>
            </a:r>
            <a:endParaRPr lang="en-US" sz="1600"/>
          </a:p>
        </p:txBody>
      </p:sp>
      <p:sp>
        <p:nvSpPr>
          <p:cNvPr id="14" name="Shape 11"/>
          <p:cNvSpPr/>
          <p:nvPr/>
        </p:nvSpPr>
        <p:spPr>
          <a:xfrm>
            <a:off x="533400" y="3710942"/>
            <a:ext cx="2095500" cy="0"/>
          </a:xfrm>
          <a:prstGeom prst="line">
            <a:avLst/>
          </a:prstGeom>
          <a:noFill/>
          <a:ln w="12700">
            <a:solidFill>
              <a:srgbClr val="000000"/>
            </a:solidFill>
            <a:prstDash val="solid"/>
          </a:ln>
        </p:spPr>
        <p:txBody>
          <a:bodyPr/>
          <a:lstStyle/>
          <a:p>
            <a:endParaRPr lang="en-SG"/>
          </a:p>
        </p:txBody>
      </p:sp>
      <p:sp>
        <p:nvSpPr>
          <p:cNvPr id="15" name="Text 12"/>
          <p:cNvSpPr/>
          <p:nvPr/>
        </p:nvSpPr>
        <p:spPr>
          <a:xfrm>
            <a:off x="654050" y="3854452"/>
            <a:ext cx="1909826"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Repeated CV</a:t>
            </a:r>
            <a:endParaRPr lang="en-US" sz="1850"/>
          </a:p>
        </p:txBody>
      </p:sp>
      <p:sp>
        <p:nvSpPr>
          <p:cNvPr id="16" name="Shape 13"/>
          <p:cNvSpPr/>
          <p:nvPr/>
        </p:nvSpPr>
        <p:spPr>
          <a:xfrm>
            <a:off x="2628900" y="3710942"/>
            <a:ext cx="2787650" cy="0"/>
          </a:xfrm>
          <a:prstGeom prst="line">
            <a:avLst/>
          </a:prstGeom>
          <a:noFill/>
          <a:ln w="12700">
            <a:solidFill>
              <a:srgbClr val="000000"/>
            </a:solidFill>
            <a:prstDash val="solid"/>
          </a:ln>
        </p:spPr>
        <p:txBody>
          <a:bodyPr/>
          <a:lstStyle/>
          <a:p>
            <a:endParaRPr lang="en-SG"/>
          </a:p>
        </p:txBody>
      </p:sp>
      <p:sp>
        <p:nvSpPr>
          <p:cNvPr id="17" name="Shape 14"/>
          <p:cNvSpPr/>
          <p:nvPr/>
        </p:nvSpPr>
        <p:spPr>
          <a:xfrm>
            <a:off x="2635250" y="3704592"/>
            <a:ext cx="0" cy="571500"/>
          </a:xfrm>
          <a:prstGeom prst="line">
            <a:avLst/>
          </a:prstGeom>
          <a:noFill/>
          <a:ln w="12700">
            <a:solidFill>
              <a:srgbClr val="000000"/>
            </a:solidFill>
            <a:prstDash val="solid"/>
          </a:ln>
        </p:spPr>
        <p:txBody>
          <a:bodyPr/>
          <a:lstStyle/>
          <a:p>
            <a:endParaRPr lang="en-SG"/>
          </a:p>
        </p:txBody>
      </p:sp>
      <p:sp>
        <p:nvSpPr>
          <p:cNvPr id="18" name="Text 15"/>
          <p:cNvSpPr/>
          <p:nvPr/>
        </p:nvSpPr>
        <p:spPr>
          <a:xfrm>
            <a:off x="2721667" y="3873502"/>
            <a:ext cx="2612276"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3.49 to 3.82 points</a:t>
            </a:r>
            <a:endParaRPr lang="en-US" sz="1600"/>
          </a:p>
        </p:txBody>
      </p:sp>
      <p:sp>
        <p:nvSpPr>
          <p:cNvPr id="19" name="Text 16"/>
          <p:cNvSpPr/>
          <p:nvPr/>
        </p:nvSpPr>
        <p:spPr>
          <a:xfrm>
            <a:off x="654050" y="4479292"/>
            <a:ext cx="4781106" cy="75692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Across 100 shuffles, cross-validation makes the measurement less dependent on one split; it does not improve the model</a:t>
            </a:r>
            <a:endParaRPr lang="en-US" sz="1600"/>
          </a:p>
        </p:txBody>
      </p:sp>
      <p:sp>
        <p:nvSpPr>
          <p:cNvPr id="20" name="Text 17"/>
          <p:cNvSpPr/>
          <p:nvPr/>
        </p:nvSpPr>
        <p:spPr>
          <a:xfrm>
            <a:off x="6045200" y="2040892"/>
            <a:ext cx="4781106" cy="429260"/>
          </a:xfrm>
          <a:prstGeom prst="rect">
            <a:avLst/>
          </a:prstGeom>
          <a:noFill/>
          <a:ln/>
        </p:spPr>
        <p:txBody>
          <a:bodyPr wrap="square" lIns="0" tIns="0" rIns="0" bIns="0" rtlCol="0" anchor="t">
            <a:normAutofit/>
          </a:bodyPr>
          <a:lstStyle/>
          <a:p>
            <a:pPr marL="0" indent="0" algn="l">
              <a:lnSpc>
                <a:spcPts val="3180"/>
              </a:lnSpc>
              <a:buNone/>
            </a:pPr>
            <a:r>
              <a:rPr lang="en-US" sz="2650" b="1">
                <a:solidFill>
                  <a:srgbClr val="000000"/>
                </a:solidFill>
                <a:latin typeface="Anybody" pitchFamily="34" charset="0"/>
                <a:ea typeface="Anybody" pitchFamily="34" charset="-122"/>
                <a:cs typeface="Anybody" pitchFamily="34" charset="-120"/>
              </a:rPr>
              <a:t>Selection benchmark</a:t>
            </a:r>
            <a:endParaRPr lang="en-US" sz="2650"/>
          </a:p>
        </p:txBody>
      </p:sp>
      <p:sp>
        <p:nvSpPr>
          <p:cNvPr id="21" name="Text 18"/>
          <p:cNvSpPr/>
          <p:nvPr/>
        </p:nvSpPr>
        <p:spPr>
          <a:xfrm>
            <a:off x="6045200" y="2711450"/>
            <a:ext cx="249847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Ridge inputs</a:t>
            </a:r>
            <a:endParaRPr lang="en-US" sz="1850"/>
          </a:p>
        </p:txBody>
      </p:sp>
      <p:sp>
        <p:nvSpPr>
          <p:cNvPr id="22" name="Shape 19"/>
          <p:cNvSpPr/>
          <p:nvPr/>
        </p:nvSpPr>
        <p:spPr>
          <a:xfrm>
            <a:off x="8597900" y="2571750"/>
            <a:ext cx="0" cy="561340"/>
          </a:xfrm>
          <a:prstGeom prst="line">
            <a:avLst/>
          </a:prstGeom>
          <a:noFill/>
          <a:ln w="12700">
            <a:solidFill>
              <a:srgbClr val="000000"/>
            </a:solidFill>
            <a:prstDash val="solid"/>
          </a:ln>
        </p:spPr>
        <p:txBody>
          <a:bodyPr/>
          <a:lstStyle/>
          <a:p>
            <a:endParaRPr lang="en-SG"/>
          </a:p>
        </p:txBody>
      </p:sp>
      <p:sp>
        <p:nvSpPr>
          <p:cNvPr id="23" name="Text 20"/>
          <p:cNvSpPr/>
          <p:nvPr/>
        </p:nvSpPr>
        <p:spPr>
          <a:xfrm>
            <a:off x="8696960" y="2711450"/>
            <a:ext cx="907415" cy="307340"/>
          </a:xfrm>
          <a:prstGeom prst="rect">
            <a:avLst/>
          </a:prstGeom>
          <a:noFill/>
          <a:ln/>
        </p:spPr>
        <p:txBody>
          <a:bodyPr wrap="square" lIns="0" tIns="0" rIns="0" bIns="0" rtlCol="0" anchor="t">
            <a:normAutofit/>
          </a:bodyPr>
          <a:lstStyle/>
          <a:p>
            <a:pPr marL="0" indent="0" algn="ctr">
              <a:lnSpc>
                <a:spcPts val="2220"/>
              </a:lnSpc>
              <a:buNone/>
            </a:pPr>
            <a:r>
              <a:rPr lang="en-US" sz="1850" b="1">
                <a:solidFill>
                  <a:srgbClr val="000000"/>
                </a:solidFill>
                <a:latin typeface="Anybody" pitchFamily="34" charset="0"/>
                <a:ea typeface="Anybody" pitchFamily="34" charset="-122"/>
                <a:cs typeface="Anybody" pitchFamily="34" charset="-120"/>
              </a:rPr>
              <a:t>R²</a:t>
            </a:r>
            <a:endParaRPr lang="en-US" sz="1850"/>
          </a:p>
        </p:txBody>
      </p:sp>
      <p:sp>
        <p:nvSpPr>
          <p:cNvPr id="24" name="Shape 21"/>
          <p:cNvSpPr/>
          <p:nvPr/>
        </p:nvSpPr>
        <p:spPr>
          <a:xfrm>
            <a:off x="9705975" y="2571750"/>
            <a:ext cx="0" cy="561340"/>
          </a:xfrm>
          <a:prstGeom prst="line">
            <a:avLst/>
          </a:prstGeom>
          <a:noFill/>
          <a:ln w="12700">
            <a:solidFill>
              <a:srgbClr val="000000"/>
            </a:solidFill>
            <a:prstDash val="solid"/>
          </a:ln>
        </p:spPr>
        <p:txBody>
          <a:bodyPr/>
          <a:lstStyle/>
          <a:p>
            <a:endParaRPr lang="en-SG"/>
          </a:p>
        </p:txBody>
      </p:sp>
      <p:sp>
        <p:nvSpPr>
          <p:cNvPr id="25" name="Text 22"/>
          <p:cNvSpPr/>
          <p:nvPr/>
        </p:nvSpPr>
        <p:spPr>
          <a:xfrm>
            <a:off x="9805035" y="2711450"/>
            <a:ext cx="907415" cy="307340"/>
          </a:xfrm>
          <a:prstGeom prst="rect">
            <a:avLst/>
          </a:prstGeom>
          <a:noFill/>
          <a:ln/>
        </p:spPr>
        <p:txBody>
          <a:bodyPr wrap="square" lIns="0" tIns="0" rIns="0" bIns="0" rtlCol="0" anchor="t">
            <a:normAutofit/>
          </a:bodyPr>
          <a:lstStyle/>
          <a:p>
            <a:pPr marL="0" indent="0" algn="ctr">
              <a:lnSpc>
                <a:spcPts val="2220"/>
              </a:lnSpc>
              <a:buNone/>
            </a:pPr>
            <a:r>
              <a:rPr lang="en-US" sz="1850" b="1">
                <a:solidFill>
                  <a:srgbClr val="000000"/>
                </a:solidFill>
                <a:latin typeface="Anybody" pitchFamily="34" charset="0"/>
                <a:ea typeface="Anybody" pitchFamily="34" charset="-122"/>
                <a:cs typeface="Anybody" pitchFamily="34" charset="-120"/>
              </a:rPr>
              <a:t>RMSE</a:t>
            </a:r>
            <a:endParaRPr lang="en-US" sz="1850"/>
          </a:p>
        </p:txBody>
      </p:sp>
      <p:sp>
        <p:nvSpPr>
          <p:cNvPr id="26" name="Shape 23"/>
          <p:cNvSpPr/>
          <p:nvPr/>
        </p:nvSpPr>
        <p:spPr>
          <a:xfrm>
            <a:off x="5924550" y="3139442"/>
            <a:ext cx="2667000" cy="0"/>
          </a:xfrm>
          <a:prstGeom prst="line">
            <a:avLst/>
          </a:prstGeom>
          <a:noFill/>
          <a:ln w="12700">
            <a:solidFill>
              <a:srgbClr val="000000"/>
            </a:solidFill>
            <a:prstDash val="solid"/>
          </a:ln>
        </p:spPr>
        <p:txBody>
          <a:bodyPr/>
          <a:lstStyle/>
          <a:p>
            <a:endParaRPr lang="en-SG"/>
          </a:p>
        </p:txBody>
      </p:sp>
      <p:sp>
        <p:nvSpPr>
          <p:cNvPr id="27" name="Text 24"/>
          <p:cNvSpPr/>
          <p:nvPr/>
        </p:nvSpPr>
        <p:spPr>
          <a:xfrm>
            <a:off x="6045200" y="3282952"/>
            <a:ext cx="249847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Chosen per fold</a:t>
            </a:r>
            <a:endParaRPr lang="en-US" sz="1850"/>
          </a:p>
        </p:txBody>
      </p:sp>
      <p:sp>
        <p:nvSpPr>
          <p:cNvPr id="28" name="Shape 25"/>
          <p:cNvSpPr/>
          <p:nvPr/>
        </p:nvSpPr>
        <p:spPr>
          <a:xfrm>
            <a:off x="8591550" y="3139442"/>
            <a:ext cx="1108075" cy="0"/>
          </a:xfrm>
          <a:prstGeom prst="line">
            <a:avLst/>
          </a:prstGeom>
          <a:noFill/>
          <a:ln w="12700">
            <a:solidFill>
              <a:srgbClr val="000000"/>
            </a:solidFill>
            <a:prstDash val="solid"/>
          </a:ln>
        </p:spPr>
        <p:txBody>
          <a:bodyPr/>
          <a:lstStyle/>
          <a:p>
            <a:endParaRPr lang="en-SG"/>
          </a:p>
        </p:txBody>
      </p:sp>
      <p:sp>
        <p:nvSpPr>
          <p:cNvPr id="29" name="Shape 26"/>
          <p:cNvSpPr/>
          <p:nvPr/>
        </p:nvSpPr>
        <p:spPr>
          <a:xfrm>
            <a:off x="8597900" y="3133092"/>
            <a:ext cx="0" cy="571500"/>
          </a:xfrm>
          <a:prstGeom prst="line">
            <a:avLst/>
          </a:prstGeom>
          <a:noFill/>
          <a:ln w="12700">
            <a:solidFill>
              <a:srgbClr val="000000"/>
            </a:solidFill>
            <a:prstDash val="solid"/>
          </a:ln>
        </p:spPr>
        <p:txBody>
          <a:bodyPr/>
          <a:lstStyle/>
          <a:p>
            <a:endParaRPr lang="en-SG"/>
          </a:p>
        </p:txBody>
      </p:sp>
      <p:sp>
        <p:nvSpPr>
          <p:cNvPr id="30" name="Text 27"/>
          <p:cNvSpPr/>
          <p:nvPr/>
        </p:nvSpPr>
        <p:spPr>
          <a:xfrm>
            <a:off x="8696960" y="3302002"/>
            <a:ext cx="907415"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0.73</a:t>
            </a:r>
            <a:endParaRPr lang="en-US" sz="1600"/>
          </a:p>
        </p:txBody>
      </p:sp>
      <p:sp>
        <p:nvSpPr>
          <p:cNvPr id="31" name="Shape 28"/>
          <p:cNvSpPr/>
          <p:nvPr/>
        </p:nvSpPr>
        <p:spPr>
          <a:xfrm>
            <a:off x="9699625" y="3139442"/>
            <a:ext cx="1108075" cy="0"/>
          </a:xfrm>
          <a:prstGeom prst="line">
            <a:avLst/>
          </a:prstGeom>
          <a:noFill/>
          <a:ln w="12700">
            <a:solidFill>
              <a:srgbClr val="000000"/>
            </a:solidFill>
            <a:prstDash val="solid"/>
          </a:ln>
        </p:spPr>
        <p:txBody>
          <a:bodyPr/>
          <a:lstStyle/>
          <a:p>
            <a:endParaRPr lang="en-SG"/>
          </a:p>
        </p:txBody>
      </p:sp>
      <p:sp>
        <p:nvSpPr>
          <p:cNvPr id="32" name="Shape 29"/>
          <p:cNvSpPr/>
          <p:nvPr/>
        </p:nvSpPr>
        <p:spPr>
          <a:xfrm>
            <a:off x="9705975" y="3133092"/>
            <a:ext cx="0" cy="571500"/>
          </a:xfrm>
          <a:prstGeom prst="line">
            <a:avLst/>
          </a:prstGeom>
          <a:noFill/>
          <a:ln w="12700">
            <a:solidFill>
              <a:srgbClr val="000000"/>
            </a:solidFill>
            <a:prstDash val="solid"/>
          </a:ln>
        </p:spPr>
        <p:txBody>
          <a:bodyPr/>
          <a:lstStyle/>
          <a:p>
            <a:endParaRPr lang="en-SG"/>
          </a:p>
        </p:txBody>
      </p:sp>
      <p:sp>
        <p:nvSpPr>
          <p:cNvPr id="33" name="Text 30"/>
          <p:cNvSpPr/>
          <p:nvPr/>
        </p:nvSpPr>
        <p:spPr>
          <a:xfrm>
            <a:off x="9805035" y="3302002"/>
            <a:ext cx="907415"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5.0</a:t>
            </a:r>
            <a:endParaRPr lang="en-US" sz="1600"/>
          </a:p>
        </p:txBody>
      </p:sp>
      <p:sp>
        <p:nvSpPr>
          <p:cNvPr id="34" name="Shape 31"/>
          <p:cNvSpPr/>
          <p:nvPr/>
        </p:nvSpPr>
        <p:spPr>
          <a:xfrm>
            <a:off x="5924550" y="3710942"/>
            <a:ext cx="2667000" cy="0"/>
          </a:xfrm>
          <a:prstGeom prst="line">
            <a:avLst/>
          </a:prstGeom>
          <a:noFill/>
          <a:ln w="12700">
            <a:solidFill>
              <a:srgbClr val="000000"/>
            </a:solidFill>
            <a:prstDash val="solid"/>
          </a:ln>
        </p:spPr>
        <p:txBody>
          <a:bodyPr/>
          <a:lstStyle/>
          <a:p>
            <a:endParaRPr lang="en-SG"/>
          </a:p>
        </p:txBody>
      </p:sp>
      <p:sp>
        <p:nvSpPr>
          <p:cNvPr id="35" name="Text 32"/>
          <p:cNvSpPr/>
          <p:nvPr/>
        </p:nvSpPr>
        <p:spPr>
          <a:xfrm>
            <a:off x="6045200" y="3854452"/>
            <a:ext cx="249847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Fixed inputs</a:t>
            </a:r>
            <a:endParaRPr lang="en-US" sz="1850"/>
          </a:p>
        </p:txBody>
      </p:sp>
      <p:sp>
        <p:nvSpPr>
          <p:cNvPr id="36" name="Shape 33"/>
          <p:cNvSpPr/>
          <p:nvPr/>
        </p:nvSpPr>
        <p:spPr>
          <a:xfrm>
            <a:off x="8591550" y="3710942"/>
            <a:ext cx="1108075" cy="0"/>
          </a:xfrm>
          <a:prstGeom prst="line">
            <a:avLst/>
          </a:prstGeom>
          <a:noFill/>
          <a:ln w="12700">
            <a:solidFill>
              <a:srgbClr val="000000"/>
            </a:solidFill>
            <a:prstDash val="solid"/>
          </a:ln>
        </p:spPr>
        <p:txBody>
          <a:bodyPr/>
          <a:lstStyle/>
          <a:p>
            <a:endParaRPr lang="en-SG"/>
          </a:p>
        </p:txBody>
      </p:sp>
      <p:sp>
        <p:nvSpPr>
          <p:cNvPr id="37" name="Shape 34"/>
          <p:cNvSpPr/>
          <p:nvPr/>
        </p:nvSpPr>
        <p:spPr>
          <a:xfrm>
            <a:off x="8597900" y="3704592"/>
            <a:ext cx="0" cy="571500"/>
          </a:xfrm>
          <a:prstGeom prst="line">
            <a:avLst/>
          </a:prstGeom>
          <a:noFill/>
          <a:ln w="12700">
            <a:solidFill>
              <a:srgbClr val="000000"/>
            </a:solidFill>
            <a:prstDash val="solid"/>
          </a:ln>
        </p:spPr>
        <p:txBody>
          <a:bodyPr/>
          <a:lstStyle/>
          <a:p>
            <a:endParaRPr lang="en-SG"/>
          </a:p>
        </p:txBody>
      </p:sp>
      <p:sp>
        <p:nvSpPr>
          <p:cNvPr id="38" name="Text 35"/>
          <p:cNvSpPr/>
          <p:nvPr/>
        </p:nvSpPr>
        <p:spPr>
          <a:xfrm>
            <a:off x="8696960" y="3873502"/>
            <a:ext cx="907415"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0.78</a:t>
            </a:r>
            <a:endParaRPr lang="en-US" sz="1600"/>
          </a:p>
        </p:txBody>
      </p:sp>
      <p:sp>
        <p:nvSpPr>
          <p:cNvPr id="39" name="Shape 36"/>
          <p:cNvSpPr/>
          <p:nvPr/>
        </p:nvSpPr>
        <p:spPr>
          <a:xfrm>
            <a:off x="9699625" y="3710942"/>
            <a:ext cx="1108075" cy="0"/>
          </a:xfrm>
          <a:prstGeom prst="line">
            <a:avLst/>
          </a:prstGeom>
          <a:noFill/>
          <a:ln w="12700">
            <a:solidFill>
              <a:srgbClr val="000000"/>
            </a:solidFill>
            <a:prstDash val="solid"/>
          </a:ln>
        </p:spPr>
        <p:txBody>
          <a:bodyPr/>
          <a:lstStyle/>
          <a:p>
            <a:endParaRPr lang="en-SG"/>
          </a:p>
        </p:txBody>
      </p:sp>
      <p:sp>
        <p:nvSpPr>
          <p:cNvPr id="40" name="Shape 37"/>
          <p:cNvSpPr/>
          <p:nvPr/>
        </p:nvSpPr>
        <p:spPr>
          <a:xfrm>
            <a:off x="9705975" y="3704592"/>
            <a:ext cx="0" cy="571500"/>
          </a:xfrm>
          <a:prstGeom prst="line">
            <a:avLst/>
          </a:prstGeom>
          <a:noFill/>
          <a:ln w="12700">
            <a:solidFill>
              <a:srgbClr val="000000"/>
            </a:solidFill>
            <a:prstDash val="solid"/>
          </a:ln>
        </p:spPr>
        <p:txBody>
          <a:bodyPr/>
          <a:lstStyle/>
          <a:p>
            <a:endParaRPr lang="en-SG"/>
          </a:p>
        </p:txBody>
      </p:sp>
      <p:sp>
        <p:nvSpPr>
          <p:cNvPr id="41" name="Text 38"/>
          <p:cNvSpPr/>
          <p:nvPr/>
        </p:nvSpPr>
        <p:spPr>
          <a:xfrm>
            <a:off x="9805035" y="3873502"/>
            <a:ext cx="907415"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4.4</a:t>
            </a:r>
            <a:endParaRPr lang="en-US" sz="1600"/>
          </a:p>
        </p:txBody>
      </p:sp>
      <p:sp>
        <p:nvSpPr>
          <p:cNvPr id="42" name="Text 39"/>
          <p:cNvSpPr/>
          <p:nvPr/>
        </p:nvSpPr>
        <p:spPr>
          <a:xfrm>
            <a:off x="6045200" y="4479292"/>
            <a:ext cx="4781106" cy="75692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A different selection method and R² calculation, so these scores cannot directly correct the final linear model's results</a:t>
            </a:r>
            <a:endParaRPr lang="en-US" sz="1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189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Feature selection: Detail</a:t>
            </a:r>
            <a:endParaRPr lang="en-US" sz="4000"/>
          </a:p>
        </p:txBody>
      </p:sp>
      <p:sp>
        <p:nvSpPr>
          <p:cNvPr id="5" name="Text 2"/>
          <p:cNvSpPr/>
          <p:nvPr/>
        </p:nvSpPr>
        <p:spPr>
          <a:xfrm>
            <a:off x="654050" y="1771650"/>
            <a:ext cx="315252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Check</a:t>
            </a:r>
            <a:endParaRPr lang="en-US" sz="1850"/>
          </a:p>
        </p:txBody>
      </p:sp>
      <p:sp>
        <p:nvSpPr>
          <p:cNvPr id="6" name="Shape 3"/>
          <p:cNvSpPr/>
          <p:nvPr/>
        </p:nvSpPr>
        <p:spPr>
          <a:xfrm>
            <a:off x="3841750" y="1631950"/>
            <a:ext cx="0" cy="561340"/>
          </a:xfrm>
          <a:prstGeom prst="line">
            <a:avLst/>
          </a:prstGeom>
          <a:noFill/>
          <a:ln w="12700">
            <a:solidFill>
              <a:srgbClr val="000000"/>
            </a:solidFill>
            <a:prstDash val="solid"/>
          </a:ln>
        </p:spPr>
        <p:txBody>
          <a:bodyPr/>
          <a:lstStyle/>
          <a:p>
            <a:endParaRPr lang="en-SG"/>
          </a:p>
        </p:txBody>
      </p:sp>
      <p:sp>
        <p:nvSpPr>
          <p:cNvPr id="7" name="Text 4"/>
          <p:cNvSpPr/>
          <p:nvPr/>
        </p:nvSpPr>
        <p:spPr>
          <a:xfrm>
            <a:off x="3966210" y="1771650"/>
            <a:ext cx="6922465"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Result</a:t>
            </a:r>
            <a:endParaRPr lang="en-US" sz="1850"/>
          </a:p>
        </p:txBody>
      </p:sp>
      <p:sp>
        <p:nvSpPr>
          <p:cNvPr id="8" name="Shape 5"/>
          <p:cNvSpPr/>
          <p:nvPr/>
        </p:nvSpPr>
        <p:spPr>
          <a:xfrm>
            <a:off x="533400" y="2199642"/>
            <a:ext cx="3302000" cy="0"/>
          </a:xfrm>
          <a:prstGeom prst="line">
            <a:avLst/>
          </a:prstGeom>
          <a:noFill/>
          <a:ln w="12700">
            <a:solidFill>
              <a:srgbClr val="000000"/>
            </a:solidFill>
            <a:prstDash val="solid"/>
          </a:ln>
        </p:spPr>
        <p:txBody>
          <a:bodyPr/>
          <a:lstStyle/>
          <a:p>
            <a:endParaRPr lang="en-SG"/>
          </a:p>
        </p:txBody>
      </p:sp>
      <p:sp>
        <p:nvSpPr>
          <p:cNvPr id="9" name="Text 6"/>
          <p:cNvSpPr/>
          <p:nvPr/>
        </p:nvSpPr>
        <p:spPr>
          <a:xfrm>
            <a:off x="654050" y="2343152"/>
            <a:ext cx="315252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Candidate inputs</a:t>
            </a:r>
            <a:endParaRPr lang="en-US" sz="1850"/>
          </a:p>
        </p:txBody>
      </p:sp>
      <p:sp>
        <p:nvSpPr>
          <p:cNvPr id="10" name="Shape 7"/>
          <p:cNvSpPr/>
          <p:nvPr/>
        </p:nvSpPr>
        <p:spPr>
          <a:xfrm>
            <a:off x="3835400" y="2199642"/>
            <a:ext cx="6972300" cy="0"/>
          </a:xfrm>
          <a:prstGeom prst="line">
            <a:avLst/>
          </a:prstGeom>
          <a:noFill/>
          <a:ln w="12700">
            <a:solidFill>
              <a:srgbClr val="000000"/>
            </a:solidFill>
            <a:prstDash val="solid"/>
          </a:ln>
        </p:spPr>
        <p:txBody>
          <a:bodyPr/>
          <a:lstStyle/>
          <a:p>
            <a:endParaRPr lang="en-SG"/>
          </a:p>
        </p:txBody>
      </p:sp>
      <p:sp>
        <p:nvSpPr>
          <p:cNvPr id="11" name="Shape 8"/>
          <p:cNvSpPr/>
          <p:nvPr/>
        </p:nvSpPr>
        <p:spPr>
          <a:xfrm>
            <a:off x="3841750" y="2193292"/>
            <a:ext cx="0" cy="571500"/>
          </a:xfrm>
          <a:prstGeom prst="line">
            <a:avLst/>
          </a:prstGeom>
          <a:noFill/>
          <a:ln w="12700">
            <a:solidFill>
              <a:srgbClr val="000000"/>
            </a:solidFill>
            <a:prstDash val="solid"/>
          </a:ln>
        </p:spPr>
        <p:txBody>
          <a:bodyPr/>
          <a:lstStyle/>
          <a:p>
            <a:endParaRPr lang="en-SG"/>
          </a:p>
        </p:txBody>
      </p:sp>
      <p:sp>
        <p:nvSpPr>
          <p:cNvPr id="12" name="Text 9"/>
          <p:cNvSpPr/>
          <p:nvPr/>
        </p:nvSpPr>
        <p:spPr>
          <a:xfrm>
            <a:off x="3966210" y="2362202"/>
            <a:ext cx="6922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36, after removing identifiers and measures that closely resemble trust</a:t>
            </a:r>
            <a:endParaRPr lang="en-US" sz="1600"/>
          </a:p>
        </p:txBody>
      </p:sp>
      <p:sp>
        <p:nvSpPr>
          <p:cNvPr id="13" name="Shape 10"/>
          <p:cNvSpPr/>
          <p:nvPr/>
        </p:nvSpPr>
        <p:spPr>
          <a:xfrm>
            <a:off x="533400" y="2771142"/>
            <a:ext cx="3302000" cy="0"/>
          </a:xfrm>
          <a:prstGeom prst="line">
            <a:avLst/>
          </a:prstGeom>
          <a:noFill/>
          <a:ln w="12700">
            <a:solidFill>
              <a:srgbClr val="000000"/>
            </a:solidFill>
            <a:prstDash val="solid"/>
          </a:ln>
        </p:spPr>
        <p:txBody>
          <a:bodyPr/>
          <a:lstStyle/>
          <a:p>
            <a:endParaRPr lang="en-SG"/>
          </a:p>
        </p:txBody>
      </p:sp>
      <p:sp>
        <p:nvSpPr>
          <p:cNvPr id="14" name="Text 11"/>
          <p:cNvSpPr/>
          <p:nvPr/>
        </p:nvSpPr>
        <p:spPr>
          <a:xfrm>
            <a:off x="654050" y="2914652"/>
            <a:ext cx="315252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Input overlap</a:t>
            </a:r>
            <a:endParaRPr lang="en-US" sz="1850"/>
          </a:p>
        </p:txBody>
      </p:sp>
      <p:sp>
        <p:nvSpPr>
          <p:cNvPr id="15" name="Shape 12"/>
          <p:cNvSpPr/>
          <p:nvPr/>
        </p:nvSpPr>
        <p:spPr>
          <a:xfrm>
            <a:off x="3835400" y="2771142"/>
            <a:ext cx="6972300" cy="0"/>
          </a:xfrm>
          <a:prstGeom prst="line">
            <a:avLst/>
          </a:prstGeom>
          <a:noFill/>
          <a:ln w="12700">
            <a:solidFill>
              <a:srgbClr val="000000"/>
            </a:solidFill>
            <a:prstDash val="solid"/>
          </a:ln>
        </p:spPr>
        <p:txBody>
          <a:bodyPr/>
          <a:lstStyle/>
          <a:p>
            <a:endParaRPr lang="en-SG"/>
          </a:p>
        </p:txBody>
      </p:sp>
      <p:sp>
        <p:nvSpPr>
          <p:cNvPr id="16" name="Shape 13"/>
          <p:cNvSpPr/>
          <p:nvPr/>
        </p:nvSpPr>
        <p:spPr>
          <a:xfrm>
            <a:off x="3841750" y="2764792"/>
            <a:ext cx="0" cy="571500"/>
          </a:xfrm>
          <a:prstGeom prst="line">
            <a:avLst/>
          </a:prstGeom>
          <a:noFill/>
          <a:ln w="12700">
            <a:solidFill>
              <a:srgbClr val="000000"/>
            </a:solidFill>
            <a:prstDash val="solid"/>
          </a:ln>
        </p:spPr>
        <p:txBody>
          <a:bodyPr/>
          <a:lstStyle/>
          <a:p>
            <a:endParaRPr lang="en-SG"/>
          </a:p>
        </p:txBody>
      </p:sp>
      <p:sp>
        <p:nvSpPr>
          <p:cNvPr id="17" name="Text 14"/>
          <p:cNvSpPr/>
          <p:nvPr/>
        </p:nvSpPr>
        <p:spPr>
          <a:xfrm>
            <a:off x="3966210" y="2933702"/>
            <a:ext cx="6922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Median absolute Spearman 0.52; 53% of pairs at 0.5 or above</a:t>
            </a:r>
            <a:endParaRPr lang="en-US" sz="1600"/>
          </a:p>
        </p:txBody>
      </p:sp>
      <p:sp>
        <p:nvSpPr>
          <p:cNvPr id="18" name="Shape 15"/>
          <p:cNvSpPr/>
          <p:nvPr/>
        </p:nvSpPr>
        <p:spPr>
          <a:xfrm>
            <a:off x="533400" y="3342642"/>
            <a:ext cx="3302000" cy="0"/>
          </a:xfrm>
          <a:prstGeom prst="line">
            <a:avLst/>
          </a:prstGeom>
          <a:noFill/>
          <a:ln w="12700">
            <a:solidFill>
              <a:srgbClr val="000000"/>
            </a:solidFill>
            <a:prstDash val="solid"/>
          </a:ln>
        </p:spPr>
        <p:txBody>
          <a:bodyPr/>
          <a:lstStyle/>
          <a:p>
            <a:endParaRPr lang="en-SG"/>
          </a:p>
        </p:txBody>
      </p:sp>
      <p:sp>
        <p:nvSpPr>
          <p:cNvPr id="19" name="Text 16"/>
          <p:cNvSpPr/>
          <p:nvPr/>
        </p:nvSpPr>
        <p:spPr>
          <a:xfrm>
            <a:off x="654050" y="3486152"/>
            <a:ext cx="315252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Clusters</a:t>
            </a:r>
            <a:endParaRPr lang="en-US" sz="1850"/>
          </a:p>
        </p:txBody>
      </p:sp>
      <p:sp>
        <p:nvSpPr>
          <p:cNvPr id="20" name="Shape 17"/>
          <p:cNvSpPr/>
          <p:nvPr/>
        </p:nvSpPr>
        <p:spPr>
          <a:xfrm>
            <a:off x="3835400" y="3342642"/>
            <a:ext cx="6972300" cy="0"/>
          </a:xfrm>
          <a:prstGeom prst="line">
            <a:avLst/>
          </a:prstGeom>
          <a:noFill/>
          <a:ln w="12700">
            <a:solidFill>
              <a:srgbClr val="000000"/>
            </a:solidFill>
            <a:prstDash val="solid"/>
          </a:ln>
        </p:spPr>
        <p:txBody>
          <a:bodyPr/>
          <a:lstStyle/>
          <a:p>
            <a:endParaRPr lang="en-SG"/>
          </a:p>
        </p:txBody>
      </p:sp>
      <p:sp>
        <p:nvSpPr>
          <p:cNvPr id="21" name="Shape 18"/>
          <p:cNvSpPr/>
          <p:nvPr/>
        </p:nvSpPr>
        <p:spPr>
          <a:xfrm>
            <a:off x="3841750" y="3336292"/>
            <a:ext cx="0" cy="571500"/>
          </a:xfrm>
          <a:prstGeom prst="line">
            <a:avLst/>
          </a:prstGeom>
          <a:noFill/>
          <a:ln w="12700">
            <a:solidFill>
              <a:srgbClr val="000000"/>
            </a:solidFill>
            <a:prstDash val="solid"/>
          </a:ln>
        </p:spPr>
        <p:txBody>
          <a:bodyPr/>
          <a:lstStyle/>
          <a:p>
            <a:endParaRPr lang="en-SG"/>
          </a:p>
        </p:txBody>
      </p:sp>
      <p:sp>
        <p:nvSpPr>
          <p:cNvPr id="22" name="Text 19"/>
          <p:cNvSpPr/>
          <p:nvPr/>
        </p:nvSpPr>
        <p:spPr>
          <a:xfrm>
            <a:off x="3966210" y="3505202"/>
            <a:ext cx="6922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15 groups at a distance threshold of 0.25, average linkage</a:t>
            </a:r>
            <a:endParaRPr lang="en-US" sz="1600"/>
          </a:p>
        </p:txBody>
      </p:sp>
      <p:sp>
        <p:nvSpPr>
          <p:cNvPr id="23" name="Shape 20"/>
          <p:cNvSpPr/>
          <p:nvPr/>
        </p:nvSpPr>
        <p:spPr>
          <a:xfrm>
            <a:off x="533400" y="3914142"/>
            <a:ext cx="3302000" cy="0"/>
          </a:xfrm>
          <a:prstGeom prst="line">
            <a:avLst/>
          </a:prstGeom>
          <a:noFill/>
          <a:ln w="12700">
            <a:solidFill>
              <a:srgbClr val="000000"/>
            </a:solidFill>
            <a:prstDash val="solid"/>
          </a:ln>
        </p:spPr>
        <p:txBody>
          <a:bodyPr/>
          <a:lstStyle/>
          <a:p>
            <a:endParaRPr lang="en-SG"/>
          </a:p>
        </p:txBody>
      </p:sp>
      <p:sp>
        <p:nvSpPr>
          <p:cNvPr id="24" name="Text 21"/>
          <p:cNvSpPr/>
          <p:nvPr/>
        </p:nvSpPr>
        <p:spPr>
          <a:xfrm>
            <a:off x="654050" y="4057652"/>
            <a:ext cx="315252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Correlated with trust</a:t>
            </a:r>
            <a:endParaRPr lang="en-US" sz="1850"/>
          </a:p>
        </p:txBody>
      </p:sp>
      <p:sp>
        <p:nvSpPr>
          <p:cNvPr id="25" name="Shape 22"/>
          <p:cNvSpPr/>
          <p:nvPr/>
        </p:nvSpPr>
        <p:spPr>
          <a:xfrm>
            <a:off x="3835400" y="3914142"/>
            <a:ext cx="6972300" cy="0"/>
          </a:xfrm>
          <a:prstGeom prst="line">
            <a:avLst/>
          </a:prstGeom>
          <a:noFill/>
          <a:ln w="12700">
            <a:solidFill>
              <a:srgbClr val="000000"/>
            </a:solidFill>
            <a:prstDash val="solid"/>
          </a:ln>
        </p:spPr>
        <p:txBody>
          <a:bodyPr/>
          <a:lstStyle/>
          <a:p>
            <a:endParaRPr lang="en-SG"/>
          </a:p>
        </p:txBody>
      </p:sp>
      <p:sp>
        <p:nvSpPr>
          <p:cNvPr id="26" name="Shape 23"/>
          <p:cNvSpPr/>
          <p:nvPr/>
        </p:nvSpPr>
        <p:spPr>
          <a:xfrm>
            <a:off x="3841750" y="3907792"/>
            <a:ext cx="0" cy="571500"/>
          </a:xfrm>
          <a:prstGeom prst="line">
            <a:avLst/>
          </a:prstGeom>
          <a:noFill/>
          <a:ln w="12700">
            <a:solidFill>
              <a:srgbClr val="000000"/>
            </a:solidFill>
            <a:prstDash val="solid"/>
          </a:ln>
        </p:spPr>
        <p:txBody>
          <a:bodyPr/>
          <a:lstStyle/>
          <a:p>
            <a:endParaRPr lang="en-SG"/>
          </a:p>
        </p:txBody>
      </p:sp>
      <p:sp>
        <p:nvSpPr>
          <p:cNvPr id="27" name="Text 24"/>
          <p:cNvSpPr/>
          <p:nvPr/>
        </p:nvSpPr>
        <p:spPr>
          <a:xfrm>
            <a:off x="3966210" y="4076702"/>
            <a:ext cx="6922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24 of 36 with absolute Spearman of 0.5 or above and p &lt; 0.01</a:t>
            </a:r>
            <a:endParaRPr lang="en-US" sz="1600"/>
          </a:p>
        </p:txBody>
      </p:sp>
      <p:sp>
        <p:nvSpPr>
          <p:cNvPr id="28" name="Shape 25"/>
          <p:cNvSpPr/>
          <p:nvPr/>
        </p:nvSpPr>
        <p:spPr>
          <a:xfrm>
            <a:off x="533400" y="4485642"/>
            <a:ext cx="3302000" cy="0"/>
          </a:xfrm>
          <a:prstGeom prst="line">
            <a:avLst/>
          </a:prstGeom>
          <a:noFill/>
          <a:ln w="12700">
            <a:solidFill>
              <a:srgbClr val="000000"/>
            </a:solidFill>
            <a:prstDash val="solid"/>
          </a:ln>
        </p:spPr>
        <p:txBody>
          <a:bodyPr/>
          <a:lstStyle/>
          <a:p>
            <a:endParaRPr lang="en-SG"/>
          </a:p>
        </p:txBody>
      </p:sp>
      <p:sp>
        <p:nvSpPr>
          <p:cNvPr id="29" name="Text 26"/>
          <p:cNvSpPr/>
          <p:nvPr/>
        </p:nvSpPr>
        <p:spPr>
          <a:xfrm>
            <a:off x="654050" y="4629152"/>
            <a:ext cx="315252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Maximum VIF</a:t>
            </a:r>
            <a:endParaRPr lang="en-US" sz="1850"/>
          </a:p>
        </p:txBody>
      </p:sp>
      <p:sp>
        <p:nvSpPr>
          <p:cNvPr id="30" name="Shape 27"/>
          <p:cNvSpPr/>
          <p:nvPr/>
        </p:nvSpPr>
        <p:spPr>
          <a:xfrm>
            <a:off x="3835400" y="4485642"/>
            <a:ext cx="6972300" cy="0"/>
          </a:xfrm>
          <a:prstGeom prst="line">
            <a:avLst/>
          </a:prstGeom>
          <a:noFill/>
          <a:ln w="12700">
            <a:solidFill>
              <a:srgbClr val="000000"/>
            </a:solidFill>
            <a:prstDash val="solid"/>
          </a:ln>
        </p:spPr>
        <p:txBody>
          <a:bodyPr/>
          <a:lstStyle/>
          <a:p>
            <a:endParaRPr lang="en-SG"/>
          </a:p>
        </p:txBody>
      </p:sp>
      <p:sp>
        <p:nvSpPr>
          <p:cNvPr id="31" name="Shape 28"/>
          <p:cNvSpPr/>
          <p:nvPr/>
        </p:nvSpPr>
        <p:spPr>
          <a:xfrm>
            <a:off x="3841750" y="4479292"/>
            <a:ext cx="0" cy="571500"/>
          </a:xfrm>
          <a:prstGeom prst="line">
            <a:avLst/>
          </a:prstGeom>
          <a:noFill/>
          <a:ln w="12700">
            <a:solidFill>
              <a:srgbClr val="000000"/>
            </a:solidFill>
            <a:prstDash val="solid"/>
          </a:ln>
        </p:spPr>
        <p:txBody>
          <a:bodyPr/>
          <a:lstStyle/>
          <a:p>
            <a:endParaRPr lang="en-SG"/>
          </a:p>
        </p:txBody>
      </p:sp>
      <p:sp>
        <p:nvSpPr>
          <p:cNvPr id="32" name="Text 29"/>
          <p:cNvSpPr/>
          <p:nvPr/>
        </p:nvSpPr>
        <p:spPr>
          <a:xfrm>
            <a:off x="3966210" y="4648202"/>
            <a:ext cx="692246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About 5.1 for the final inputs, against 167 among the original candidates</a:t>
            </a:r>
            <a:endParaRPr lang="en-US" sz="1600"/>
          </a:p>
        </p:txBody>
      </p:sp>
      <p:sp>
        <p:nvSpPr>
          <p:cNvPr id="33" name="Text 30"/>
          <p:cNvSpPr/>
          <p:nvPr/>
        </p:nvSpPr>
        <p:spPr>
          <a:xfrm>
            <a:off x="654050" y="5177792"/>
            <a:ext cx="10333990" cy="467360"/>
          </a:xfrm>
          <a:prstGeom prst="rect">
            <a:avLst/>
          </a:prstGeom>
          <a:noFill/>
          <a:ln/>
        </p:spPr>
        <p:txBody>
          <a:bodyPr wrap="square" lIns="0" tIns="0" rIns="0" bIns="0" rtlCol="0" anchor="t">
            <a:normAutofit/>
          </a:bodyPr>
          <a:lstStyle/>
          <a:p>
            <a:pPr marL="0" indent="0" algn="l">
              <a:lnSpc>
                <a:spcPts val="1740"/>
              </a:lnSpc>
              <a:buNone/>
            </a:pPr>
            <a:r>
              <a:rPr lang="en-US" sz="1450">
                <a:solidFill>
                  <a:srgbClr val="000000"/>
                </a:solidFill>
                <a:latin typeface="Albert Sans" pitchFamily="34" charset="0"/>
                <a:ea typeface="Albert Sans" pitchFamily="34" charset="-122"/>
                <a:cs typeface="Albert Sans" pitchFamily="34" charset="-120"/>
              </a:rPr>
              <a:t>Excluded from prediction: country names and codes, acceptance, risks outweigh benefits, the sentiment label and region</a:t>
            </a:r>
            <a:endParaRPr lang="en-US" sz="14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27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Other associations</a:t>
            </a:r>
            <a:endParaRPr lang="en-US" sz="4000"/>
          </a:p>
        </p:txBody>
      </p:sp>
      <p:sp>
        <p:nvSpPr>
          <p:cNvPr id="5" name="Text 2"/>
          <p:cNvSpPr/>
          <p:nvPr/>
        </p:nvSpPr>
        <p:spPr>
          <a:xfrm>
            <a:off x="654050" y="1771650"/>
            <a:ext cx="432981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Indicator</a:t>
            </a:r>
            <a:endParaRPr lang="en-US" sz="1850"/>
          </a:p>
        </p:txBody>
      </p:sp>
      <p:sp>
        <p:nvSpPr>
          <p:cNvPr id="6" name="Shape 3"/>
          <p:cNvSpPr/>
          <p:nvPr/>
        </p:nvSpPr>
        <p:spPr>
          <a:xfrm>
            <a:off x="4984750" y="1631950"/>
            <a:ext cx="0" cy="561340"/>
          </a:xfrm>
          <a:prstGeom prst="line">
            <a:avLst/>
          </a:prstGeom>
          <a:noFill/>
          <a:ln w="12700">
            <a:solidFill>
              <a:srgbClr val="000000"/>
            </a:solidFill>
            <a:prstDash val="solid"/>
          </a:ln>
        </p:spPr>
        <p:txBody>
          <a:bodyPr/>
          <a:lstStyle/>
          <a:p>
            <a:endParaRPr lang="en-SG"/>
          </a:p>
        </p:txBody>
      </p:sp>
      <p:sp>
        <p:nvSpPr>
          <p:cNvPr id="7" name="Text 4"/>
          <p:cNvSpPr/>
          <p:nvPr/>
        </p:nvSpPr>
        <p:spPr>
          <a:xfrm>
            <a:off x="5078692" y="1771650"/>
            <a:ext cx="2095576" cy="307340"/>
          </a:xfrm>
          <a:prstGeom prst="rect">
            <a:avLst/>
          </a:prstGeom>
          <a:noFill/>
          <a:ln/>
        </p:spPr>
        <p:txBody>
          <a:bodyPr wrap="square" lIns="0" tIns="0" rIns="0" bIns="0" rtlCol="0" anchor="t">
            <a:normAutofit/>
          </a:bodyPr>
          <a:lstStyle/>
          <a:p>
            <a:pPr marL="0" indent="0" algn="ctr">
              <a:lnSpc>
                <a:spcPts val="2220"/>
              </a:lnSpc>
              <a:buNone/>
            </a:pPr>
            <a:r>
              <a:rPr lang="en-US" sz="1850" b="1">
                <a:solidFill>
                  <a:srgbClr val="000000"/>
                </a:solidFill>
                <a:latin typeface="Anybody" pitchFamily="34" charset="0"/>
                <a:ea typeface="Anybody" pitchFamily="34" charset="-122"/>
                <a:cs typeface="Anybody" pitchFamily="34" charset="-120"/>
              </a:rPr>
              <a:t>Correlation</a:t>
            </a:r>
            <a:endParaRPr lang="en-US" sz="1850"/>
          </a:p>
        </p:txBody>
      </p:sp>
      <p:sp>
        <p:nvSpPr>
          <p:cNvPr id="8" name="Shape 5"/>
          <p:cNvSpPr/>
          <p:nvPr/>
        </p:nvSpPr>
        <p:spPr>
          <a:xfrm>
            <a:off x="7270750" y="1631950"/>
            <a:ext cx="0" cy="561340"/>
          </a:xfrm>
          <a:prstGeom prst="line">
            <a:avLst/>
          </a:prstGeom>
          <a:noFill/>
          <a:ln w="12700">
            <a:solidFill>
              <a:srgbClr val="000000"/>
            </a:solidFill>
            <a:prstDash val="solid"/>
          </a:ln>
        </p:spPr>
        <p:txBody>
          <a:bodyPr/>
          <a:lstStyle/>
          <a:p>
            <a:endParaRPr lang="en-SG"/>
          </a:p>
        </p:txBody>
      </p:sp>
      <p:sp>
        <p:nvSpPr>
          <p:cNvPr id="9" name="Text 6"/>
          <p:cNvSpPr/>
          <p:nvPr/>
        </p:nvSpPr>
        <p:spPr>
          <a:xfrm>
            <a:off x="7395210" y="1771650"/>
            <a:ext cx="3390595"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Reading</a:t>
            </a:r>
            <a:endParaRPr lang="en-US" sz="1850"/>
          </a:p>
        </p:txBody>
      </p:sp>
      <p:sp>
        <p:nvSpPr>
          <p:cNvPr id="10" name="Shape 7"/>
          <p:cNvSpPr/>
          <p:nvPr/>
        </p:nvSpPr>
        <p:spPr>
          <a:xfrm>
            <a:off x="533400" y="2199642"/>
            <a:ext cx="4445000" cy="0"/>
          </a:xfrm>
          <a:prstGeom prst="line">
            <a:avLst/>
          </a:prstGeom>
          <a:noFill/>
          <a:ln w="12700">
            <a:solidFill>
              <a:srgbClr val="000000"/>
            </a:solidFill>
            <a:prstDash val="solid"/>
          </a:ln>
        </p:spPr>
        <p:txBody>
          <a:bodyPr/>
          <a:lstStyle/>
          <a:p>
            <a:endParaRPr lang="en-SG"/>
          </a:p>
        </p:txBody>
      </p:sp>
      <p:sp>
        <p:nvSpPr>
          <p:cNvPr id="11" name="Text 8"/>
          <p:cNvSpPr/>
          <p:nvPr/>
        </p:nvSpPr>
        <p:spPr>
          <a:xfrm>
            <a:off x="654050" y="2343152"/>
            <a:ext cx="432981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Expected benefits</a:t>
            </a:r>
            <a:endParaRPr lang="en-US" sz="1850"/>
          </a:p>
        </p:txBody>
      </p:sp>
      <p:sp>
        <p:nvSpPr>
          <p:cNvPr id="12" name="Shape 9"/>
          <p:cNvSpPr/>
          <p:nvPr/>
        </p:nvSpPr>
        <p:spPr>
          <a:xfrm>
            <a:off x="4978400" y="2199642"/>
            <a:ext cx="2286000" cy="0"/>
          </a:xfrm>
          <a:prstGeom prst="line">
            <a:avLst/>
          </a:prstGeom>
          <a:noFill/>
          <a:ln w="12700">
            <a:solidFill>
              <a:srgbClr val="000000"/>
            </a:solidFill>
            <a:prstDash val="solid"/>
          </a:ln>
        </p:spPr>
        <p:txBody>
          <a:bodyPr/>
          <a:lstStyle/>
          <a:p>
            <a:endParaRPr lang="en-SG"/>
          </a:p>
        </p:txBody>
      </p:sp>
      <p:sp>
        <p:nvSpPr>
          <p:cNvPr id="13" name="Shape 10"/>
          <p:cNvSpPr/>
          <p:nvPr/>
        </p:nvSpPr>
        <p:spPr>
          <a:xfrm>
            <a:off x="4984750" y="2193292"/>
            <a:ext cx="0" cy="571500"/>
          </a:xfrm>
          <a:prstGeom prst="line">
            <a:avLst/>
          </a:prstGeom>
          <a:noFill/>
          <a:ln w="12700">
            <a:solidFill>
              <a:srgbClr val="000000"/>
            </a:solidFill>
            <a:prstDash val="solid"/>
          </a:ln>
        </p:spPr>
        <p:txBody>
          <a:bodyPr/>
          <a:lstStyle/>
          <a:p>
            <a:endParaRPr lang="en-SG"/>
          </a:p>
        </p:txBody>
      </p:sp>
      <p:sp>
        <p:nvSpPr>
          <p:cNvPr id="14" name="Text 11"/>
          <p:cNvSpPr/>
          <p:nvPr/>
        </p:nvSpPr>
        <p:spPr>
          <a:xfrm>
            <a:off x="5078692" y="2362202"/>
            <a:ext cx="2095576"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0.692 (Spearman)</a:t>
            </a:r>
            <a:endParaRPr lang="en-US" sz="1600"/>
          </a:p>
        </p:txBody>
      </p:sp>
      <p:sp>
        <p:nvSpPr>
          <p:cNvPr id="15" name="Shape 12"/>
          <p:cNvSpPr/>
          <p:nvPr/>
        </p:nvSpPr>
        <p:spPr>
          <a:xfrm>
            <a:off x="7264400" y="2199642"/>
            <a:ext cx="3543300" cy="0"/>
          </a:xfrm>
          <a:prstGeom prst="line">
            <a:avLst/>
          </a:prstGeom>
          <a:noFill/>
          <a:ln w="12700">
            <a:solidFill>
              <a:srgbClr val="000000"/>
            </a:solidFill>
            <a:prstDash val="solid"/>
          </a:ln>
        </p:spPr>
        <p:txBody>
          <a:bodyPr/>
          <a:lstStyle/>
          <a:p>
            <a:endParaRPr lang="en-SG"/>
          </a:p>
        </p:txBody>
      </p:sp>
      <p:sp>
        <p:nvSpPr>
          <p:cNvPr id="16" name="Shape 13"/>
          <p:cNvSpPr/>
          <p:nvPr/>
        </p:nvSpPr>
        <p:spPr>
          <a:xfrm>
            <a:off x="7270750" y="2193292"/>
            <a:ext cx="0" cy="571500"/>
          </a:xfrm>
          <a:prstGeom prst="line">
            <a:avLst/>
          </a:prstGeom>
          <a:noFill/>
          <a:ln w="12700">
            <a:solidFill>
              <a:srgbClr val="000000"/>
            </a:solidFill>
            <a:prstDash val="solid"/>
          </a:ln>
        </p:spPr>
        <p:txBody>
          <a:bodyPr/>
          <a:lstStyle/>
          <a:p>
            <a:endParaRPr lang="en-SG"/>
          </a:p>
        </p:txBody>
      </p:sp>
      <p:sp>
        <p:nvSpPr>
          <p:cNvPr id="17" name="Text 14"/>
          <p:cNvSpPr/>
          <p:nvPr/>
        </p:nvSpPr>
        <p:spPr>
          <a:xfrm>
            <a:off x="7395210" y="2362202"/>
            <a:ext cx="339059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Positive</a:t>
            </a:r>
            <a:endParaRPr lang="en-US" sz="1600"/>
          </a:p>
        </p:txBody>
      </p:sp>
      <p:sp>
        <p:nvSpPr>
          <p:cNvPr id="18" name="Shape 15"/>
          <p:cNvSpPr/>
          <p:nvPr/>
        </p:nvSpPr>
        <p:spPr>
          <a:xfrm>
            <a:off x="533400" y="2771142"/>
            <a:ext cx="4445000" cy="0"/>
          </a:xfrm>
          <a:prstGeom prst="line">
            <a:avLst/>
          </a:prstGeom>
          <a:noFill/>
          <a:ln w="12700">
            <a:solidFill>
              <a:srgbClr val="000000"/>
            </a:solidFill>
            <a:prstDash val="solid"/>
          </a:ln>
        </p:spPr>
        <p:txBody>
          <a:bodyPr/>
          <a:lstStyle/>
          <a:p>
            <a:endParaRPr lang="en-SG"/>
          </a:p>
        </p:txBody>
      </p:sp>
      <p:sp>
        <p:nvSpPr>
          <p:cNvPr id="19" name="Text 16"/>
          <p:cNvSpPr/>
          <p:nvPr/>
        </p:nvSpPr>
        <p:spPr>
          <a:xfrm>
            <a:off x="654050" y="2914652"/>
            <a:ext cx="432981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Experienced benefits</a:t>
            </a:r>
            <a:endParaRPr lang="en-US" sz="1850"/>
          </a:p>
        </p:txBody>
      </p:sp>
      <p:sp>
        <p:nvSpPr>
          <p:cNvPr id="20" name="Shape 17"/>
          <p:cNvSpPr/>
          <p:nvPr/>
        </p:nvSpPr>
        <p:spPr>
          <a:xfrm>
            <a:off x="4978400" y="2771142"/>
            <a:ext cx="2286000" cy="0"/>
          </a:xfrm>
          <a:prstGeom prst="line">
            <a:avLst/>
          </a:prstGeom>
          <a:noFill/>
          <a:ln w="12700">
            <a:solidFill>
              <a:srgbClr val="000000"/>
            </a:solidFill>
            <a:prstDash val="solid"/>
          </a:ln>
        </p:spPr>
        <p:txBody>
          <a:bodyPr/>
          <a:lstStyle/>
          <a:p>
            <a:endParaRPr lang="en-SG"/>
          </a:p>
        </p:txBody>
      </p:sp>
      <p:sp>
        <p:nvSpPr>
          <p:cNvPr id="21" name="Shape 18"/>
          <p:cNvSpPr/>
          <p:nvPr/>
        </p:nvSpPr>
        <p:spPr>
          <a:xfrm>
            <a:off x="4984750" y="2764792"/>
            <a:ext cx="0" cy="571500"/>
          </a:xfrm>
          <a:prstGeom prst="line">
            <a:avLst/>
          </a:prstGeom>
          <a:noFill/>
          <a:ln w="12700">
            <a:solidFill>
              <a:srgbClr val="000000"/>
            </a:solidFill>
            <a:prstDash val="solid"/>
          </a:ln>
        </p:spPr>
        <p:txBody>
          <a:bodyPr/>
          <a:lstStyle/>
          <a:p>
            <a:endParaRPr lang="en-SG"/>
          </a:p>
        </p:txBody>
      </p:sp>
      <p:sp>
        <p:nvSpPr>
          <p:cNvPr id="22" name="Text 19"/>
          <p:cNvSpPr/>
          <p:nvPr/>
        </p:nvSpPr>
        <p:spPr>
          <a:xfrm>
            <a:off x="5078692" y="2933702"/>
            <a:ext cx="2095576"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0.739 (Spearman)</a:t>
            </a:r>
            <a:endParaRPr lang="en-US" sz="1600"/>
          </a:p>
        </p:txBody>
      </p:sp>
      <p:sp>
        <p:nvSpPr>
          <p:cNvPr id="23" name="Shape 20"/>
          <p:cNvSpPr/>
          <p:nvPr/>
        </p:nvSpPr>
        <p:spPr>
          <a:xfrm>
            <a:off x="7264400" y="2771142"/>
            <a:ext cx="3543300" cy="0"/>
          </a:xfrm>
          <a:prstGeom prst="line">
            <a:avLst/>
          </a:prstGeom>
          <a:noFill/>
          <a:ln w="12700">
            <a:solidFill>
              <a:srgbClr val="000000"/>
            </a:solidFill>
            <a:prstDash val="solid"/>
          </a:ln>
        </p:spPr>
        <p:txBody>
          <a:bodyPr/>
          <a:lstStyle/>
          <a:p>
            <a:endParaRPr lang="en-SG"/>
          </a:p>
        </p:txBody>
      </p:sp>
      <p:sp>
        <p:nvSpPr>
          <p:cNvPr id="24" name="Shape 21"/>
          <p:cNvSpPr/>
          <p:nvPr/>
        </p:nvSpPr>
        <p:spPr>
          <a:xfrm>
            <a:off x="7270750" y="2764792"/>
            <a:ext cx="0" cy="571500"/>
          </a:xfrm>
          <a:prstGeom prst="line">
            <a:avLst/>
          </a:prstGeom>
          <a:noFill/>
          <a:ln w="12700">
            <a:solidFill>
              <a:srgbClr val="000000"/>
            </a:solidFill>
            <a:prstDash val="solid"/>
          </a:ln>
        </p:spPr>
        <p:txBody>
          <a:bodyPr/>
          <a:lstStyle/>
          <a:p>
            <a:endParaRPr lang="en-SG"/>
          </a:p>
        </p:txBody>
      </p:sp>
      <p:sp>
        <p:nvSpPr>
          <p:cNvPr id="25" name="Text 22"/>
          <p:cNvSpPr/>
          <p:nvPr/>
        </p:nvSpPr>
        <p:spPr>
          <a:xfrm>
            <a:off x="7395210" y="2933702"/>
            <a:ext cx="339059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Positive</a:t>
            </a:r>
            <a:endParaRPr lang="en-US" sz="1600"/>
          </a:p>
        </p:txBody>
      </p:sp>
      <p:sp>
        <p:nvSpPr>
          <p:cNvPr id="26" name="Shape 23"/>
          <p:cNvSpPr/>
          <p:nvPr/>
        </p:nvSpPr>
        <p:spPr>
          <a:xfrm>
            <a:off x="533400" y="3342642"/>
            <a:ext cx="4445000" cy="0"/>
          </a:xfrm>
          <a:prstGeom prst="line">
            <a:avLst/>
          </a:prstGeom>
          <a:noFill/>
          <a:ln w="12700">
            <a:solidFill>
              <a:srgbClr val="000000"/>
            </a:solidFill>
            <a:prstDash val="solid"/>
          </a:ln>
        </p:spPr>
        <p:txBody>
          <a:bodyPr/>
          <a:lstStyle/>
          <a:p>
            <a:endParaRPr lang="en-SG"/>
          </a:p>
        </p:txBody>
      </p:sp>
      <p:sp>
        <p:nvSpPr>
          <p:cNvPr id="27" name="Text 24"/>
          <p:cNvSpPr/>
          <p:nvPr/>
        </p:nvSpPr>
        <p:spPr>
          <a:xfrm>
            <a:off x="654050" y="3486152"/>
            <a:ext cx="432981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GDP per capita</a:t>
            </a:r>
            <a:endParaRPr lang="en-US" sz="1850"/>
          </a:p>
        </p:txBody>
      </p:sp>
      <p:sp>
        <p:nvSpPr>
          <p:cNvPr id="28" name="Shape 25"/>
          <p:cNvSpPr/>
          <p:nvPr/>
        </p:nvSpPr>
        <p:spPr>
          <a:xfrm>
            <a:off x="4978400" y="3342642"/>
            <a:ext cx="2286000" cy="0"/>
          </a:xfrm>
          <a:prstGeom prst="line">
            <a:avLst/>
          </a:prstGeom>
          <a:noFill/>
          <a:ln w="12700">
            <a:solidFill>
              <a:srgbClr val="000000"/>
            </a:solidFill>
            <a:prstDash val="solid"/>
          </a:ln>
        </p:spPr>
        <p:txBody>
          <a:bodyPr/>
          <a:lstStyle/>
          <a:p>
            <a:endParaRPr lang="en-SG"/>
          </a:p>
        </p:txBody>
      </p:sp>
      <p:sp>
        <p:nvSpPr>
          <p:cNvPr id="29" name="Shape 26"/>
          <p:cNvSpPr/>
          <p:nvPr/>
        </p:nvSpPr>
        <p:spPr>
          <a:xfrm>
            <a:off x="4984750" y="3336292"/>
            <a:ext cx="0" cy="571500"/>
          </a:xfrm>
          <a:prstGeom prst="line">
            <a:avLst/>
          </a:prstGeom>
          <a:noFill/>
          <a:ln w="12700">
            <a:solidFill>
              <a:srgbClr val="000000"/>
            </a:solidFill>
            <a:prstDash val="solid"/>
          </a:ln>
        </p:spPr>
        <p:txBody>
          <a:bodyPr/>
          <a:lstStyle/>
          <a:p>
            <a:endParaRPr lang="en-SG"/>
          </a:p>
        </p:txBody>
      </p:sp>
      <p:sp>
        <p:nvSpPr>
          <p:cNvPr id="30" name="Text 27"/>
          <p:cNvSpPr/>
          <p:nvPr/>
        </p:nvSpPr>
        <p:spPr>
          <a:xfrm>
            <a:off x="5078692" y="3505202"/>
            <a:ext cx="2095576"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−0.514 (Spearman)</a:t>
            </a:r>
            <a:endParaRPr lang="en-US" sz="1600"/>
          </a:p>
        </p:txBody>
      </p:sp>
      <p:sp>
        <p:nvSpPr>
          <p:cNvPr id="31" name="Shape 28"/>
          <p:cNvSpPr/>
          <p:nvPr/>
        </p:nvSpPr>
        <p:spPr>
          <a:xfrm>
            <a:off x="7264400" y="3342642"/>
            <a:ext cx="3543300" cy="0"/>
          </a:xfrm>
          <a:prstGeom prst="line">
            <a:avLst/>
          </a:prstGeom>
          <a:noFill/>
          <a:ln w="12700">
            <a:solidFill>
              <a:srgbClr val="000000"/>
            </a:solidFill>
            <a:prstDash val="solid"/>
          </a:ln>
        </p:spPr>
        <p:txBody>
          <a:bodyPr/>
          <a:lstStyle/>
          <a:p>
            <a:endParaRPr lang="en-SG"/>
          </a:p>
        </p:txBody>
      </p:sp>
      <p:sp>
        <p:nvSpPr>
          <p:cNvPr id="32" name="Shape 29"/>
          <p:cNvSpPr/>
          <p:nvPr/>
        </p:nvSpPr>
        <p:spPr>
          <a:xfrm>
            <a:off x="7270750" y="3336292"/>
            <a:ext cx="0" cy="571500"/>
          </a:xfrm>
          <a:prstGeom prst="line">
            <a:avLst/>
          </a:prstGeom>
          <a:noFill/>
          <a:ln w="12700">
            <a:solidFill>
              <a:srgbClr val="000000"/>
            </a:solidFill>
            <a:prstDash val="solid"/>
          </a:ln>
        </p:spPr>
        <p:txBody>
          <a:bodyPr/>
          <a:lstStyle/>
          <a:p>
            <a:endParaRPr lang="en-SG"/>
          </a:p>
        </p:txBody>
      </p:sp>
      <p:sp>
        <p:nvSpPr>
          <p:cNvPr id="33" name="Text 30"/>
          <p:cNvSpPr/>
          <p:nvPr/>
        </p:nvSpPr>
        <p:spPr>
          <a:xfrm>
            <a:off x="7395210" y="3505202"/>
            <a:ext cx="339059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Negative</a:t>
            </a:r>
            <a:endParaRPr lang="en-US" sz="1600"/>
          </a:p>
        </p:txBody>
      </p:sp>
      <p:sp>
        <p:nvSpPr>
          <p:cNvPr id="34" name="Shape 31"/>
          <p:cNvSpPr/>
          <p:nvPr/>
        </p:nvSpPr>
        <p:spPr>
          <a:xfrm>
            <a:off x="533400" y="3914142"/>
            <a:ext cx="4445000" cy="0"/>
          </a:xfrm>
          <a:prstGeom prst="line">
            <a:avLst/>
          </a:prstGeom>
          <a:noFill/>
          <a:ln w="12700">
            <a:solidFill>
              <a:srgbClr val="000000"/>
            </a:solidFill>
            <a:prstDash val="solid"/>
          </a:ln>
        </p:spPr>
        <p:txBody>
          <a:bodyPr/>
          <a:lstStyle/>
          <a:p>
            <a:endParaRPr lang="en-SG"/>
          </a:p>
        </p:txBody>
      </p:sp>
      <p:sp>
        <p:nvSpPr>
          <p:cNvPr id="35" name="Text 32"/>
          <p:cNvSpPr/>
          <p:nvPr/>
        </p:nvSpPr>
        <p:spPr>
          <a:xfrm>
            <a:off x="654050" y="4057652"/>
            <a:ext cx="432981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Worry about negative impacts</a:t>
            </a:r>
            <a:endParaRPr lang="en-US" sz="1850"/>
          </a:p>
        </p:txBody>
      </p:sp>
      <p:sp>
        <p:nvSpPr>
          <p:cNvPr id="36" name="Shape 33"/>
          <p:cNvSpPr/>
          <p:nvPr/>
        </p:nvSpPr>
        <p:spPr>
          <a:xfrm>
            <a:off x="4978400" y="3914142"/>
            <a:ext cx="2286000" cy="0"/>
          </a:xfrm>
          <a:prstGeom prst="line">
            <a:avLst/>
          </a:prstGeom>
          <a:noFill/>
          <a:ln w="12700">
            <a:solidFill>
              <a:srgbClr val="000000"/>
            </a:solidFill>
            <a:prstDash val="solid"/>
          </a:ln>
        </p:spPr>
        <p:txBody>
          <a:bodyPr/>
          <a:lstStyle/>
          <a:p>
            <a:endParaRPr lang="en-SG"/>
          </a:p>
        </p:txBody>
      </p:sp>
      <p:sp>
        <p:nvSpPr>
          <p:cNvPr id="37" name="Shape 34"/>
          <p:cNvSpPr/>
          <p:nvPr/>
        </p:nvSpPr>
        <p:spPr>
          <a:xfrm>
            <a:off x="4984750" y="3907792"/>
            <a:ext cx="0" cy="571500"/>
          </a:xfrm>
          <a:prstGeom prst="line">
            <a:avLst/>
          </a:prstGeom>
          <a:noFill/>
          <a:ln w="12700">
            <a:solidFill>
              <a:srgbClr val="000000"/>
            </a:solidFill>
            <a:prstDash val="solid"/>
          </a:ln>
        </p:spPr>
        <p:txBody>
          <a:bodyPr/>
          <a:lstStyle/>
          <a:p>
            <a:endParaRPr lang="en-SG"/>
          </a:p>
        </p:txBody>
      </p:sp>
      <p:sp>
        <p:nvSpPr>
          <p:cNvPr id="38" name="Text 35"/>
          <p:cNvSpPr/>
          <p:nvPr/>
        </p:nvSpPr>
        <p:spPr>
          <a:xfrm>
            <a:off x="5078692" y="4076702"/>
            <a:ext cx="2095576"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−0.324 (Pearson)</a:t>
            </a:r>
            <a:endParaRPr lang="en-US" sz="1600"/>
          </a:p>
        </p:txBody>
      </p:sp>
      <p:sp>
        <p:nvSpPr>
          <p:cNvPr id="39" name="Shape 36"/>
          <p:cNvSpPr/>
          <p:nvPr/>
        </p:nvSpPr>
        <p:spPr>
          <a:xfrm>
            <a:off x="7264400" y="3914142"/>
            <a:ext cx="3543300" cy="0"/>
          </a:xfrm>
          <a:prstGeom prst="line">
            <a:avLst/>
          </a:prstGeom>
          <a:noFill/>
          <a:ln w="12700">
            <a:solidFill>
              <a:srgbClr val="000000"/>
            </a:solidFill>
            <a:prstDash val="solid"/>
          </a:ln>
        </p:spPr>
        <p:txBody>
          <a:bodyPr/>
          <a:lstStyle/>
          <a:p>
            <a:endParaRPr lang="en-SG"/>
          </a:p>
        </p:txBody>
      </p:sp>
      <p:sp>
        <p:nvSpPr>
          <p:cNvPr id="40" name="Shape 37"/>
          <p:cNvSpPr/>
          <p:nvPr/>
        </p:nvSpPr>
        <p:spPr>
          <a:xfrm>
            <a:off x="7270750" y="3907792"/>
            <a:ext cx="0" cy="571500"/>
          </a:xfrm>
          <a:prstGeom prst="line">
            <a:avLst/>
          </a:prstGeom>
          <a:noFill/>
          <a:ln w="12700">
            <a:solidFill>
              <a:srgbClr val="000000"/>
            </a:solidFill>
            <a:prstDash val="solid"/>
          </a:ln>
        </p:spPr>
        <p:txBody>
          <a:bodyPr/>
          <a:lstStyle/>
          <a:p>
            <a:endParaRPr lang="en-SG"/>
          </a:p>
        </p:txBody>
      </p:sp>
      <p:sp>
        <p:nvSpPr>
          <p:cNvPr id="41" name="Text 38"/>
          <p:cNvSpPr/>
          <p:nvPr/>
        </p:nvSpPr>
        <p:spPr>
          <a:xfrm>
            <a:off x="7395210" y="4076702"/>
            <a:ext cx="339059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Not robust: Spearman −0.162</a:t>
            </a:r>
            <a:endParaRPr lang="en-US" sz="1600"/>
          </a:p>
        </p:txBody>
      </p:sp>
      <p:sp>
        <p:nvSpPr>
          <p:cNvPr id="42" name="Shape 39"/>
          <p:cNvSpPr/>
          <p:nvPr/>
        </p:nvSpPr>
        <p:spPr>
          <a:xfrm>
            <a:off x="533400" y="4485642"/>
            <a:ext cx="4445000" cy="0"/>
          </a:xfrm>
          <a:prstGeom prst="line">
            <a:avLst/>
          </a:prstGeom>
          <a:noFill/>
          <a:ln w="12700">
            <a:solidFill>
              <a:srgbClr val="000000"/>
            </a:solidFill>
            <a:prstDash val="solid"/>
          </a:ln>
        </p:spPr>
        <p:txBody>
          <a:bodyPr/>
          <a:lstStyle/>
          <a:p>
            <a:endParaRPr lang="en-SG"/>
          </a:p>
        </p:txBody>
      </p:sp>
      <p:sp>
        <p:nvSpPr>
          <p:cNvPr id="43" name="Text 40"/>
          <p:cNvSpPr/>
          <p:nvPr/>
        </p:nvSpPr>
        <p:spPr>
          <a:xfrm>
            <a:off x="654050" y="4629152"/>
            <a:ext cx="4329811" cy="307340"/>
          </a:xfrm>
          <a:prstGeom prst="rect">
            <a:avLst/>
          </a:prstGeom>
          <a:noFill/>
          <a:ln/>
        </p:spPr>
        <p:txBody>
          <a:bodyPr wrap="square" lIns="0" tIns="0" rIns="0" bIns="0" rtlCol="0" anchor="t">
            <a:normAutofit/>
          </a:bodyPr>
          <a:lstStyle/>
          <a:p>
            <a:pPr marL="0" indent="0" algn="l">
              <a:lnSpc>
                <a:spcPts val="2220"/>
              </a:lnSpc>
              <a:buNone/>
            </a:pPr>
            <a:r>
              <a:rPr lang="en-US" sz="1850" b="1">
                <a:solidFill>
                  <a:srgbClr val="000000"/>
                </a:solidFill>
                <a:latin typeface="Anybody" pitchFamily="34" charset="0"/>
                <a:ea typeface="Anybody" pitchFamily="34" charset="-122"/>
                <a:cs typeface="Anybody" pitchFamily="34" charset="-120"/>
              </a:rPr>
              <a:t>Problematic AI use</a:t>
            </a:r>
            <a:endParaRPr lang="en-US" sz="1850"/>
          </a:p>
        </p:txBody>
      </p:sp>
      <p:sp>
        <p:nvSpPr>
          <p:cNvPr id="44" name="Shape 41"/>
          <p:cNvSpPr/>
          <p:nvPr/>
        </p:nvSpPr>
        <p:spPr>
          <a:xfrm>
            <a:off x="4978400" y="4485642"/>
            <a:ext cx="2286000" cy="0"/>
          </a:xfrm>
          <a:prstGeom prst="line">
            <a:avLst/>
          </a:prstGeom>
          <a:noFill/>
          <a:ln w="12700">
            <a:solidFill>
              <a:srgbClr val="000000"/>
            </a:solidFill>
            <a:prstDash val="solid"/>
          </a:ln>
        </p:spPr>
        <p:txBody>
          <a:bodyPr/>
          <a:lstStyle/>
          <a:p>
            <a:endParaRPr lang="en-SG"/>
          </a:p>
        </p:txBody>
      </p:sp>
      <p:sp>
        <p:nvSpPr>
          <p:cNvPr id="45" name="Shape 42"/>
          <p:cNvSpPr/>
          <p:nvPr/>
        </p:nvSpPr>
        <p:spPr>
          <a:xfrm>
            <a:off x="4984750" y="4479292"/>
            <a:ext cx="0" cy="571500"/>
          </a:xfrm>
          <a:prstGeom prst="line">
            <a:avLst/>
          </a:prstGeom>
          <a:noFill/>
          <a:ln w="12700">
            <a:solidFill>
              <a:srgbClr val="000000"/>
            </a:solidFill>
            <a:prstDash val="solid"/>
          </a:ln>
        </p:spPr>
        <p:txBody>
          <a:bodyPr/>
          <a:lstStyle/>
          <a:p>
            <a:endParaRPr lang="en-SG"/>
          </a:p>
        </p:txBody>
      </p:sp>
      <p:sp>
        <p:nvSpPr>
          <p:cNvPr id="46" name="Text 43"/>
          <p:cNvSpPr/>
          <p:nvPr/>
        </p:nvSpPr>
        <p:spPr>
          <a:xfrm>
            <a:off x="5078692" y="4648202"/>
            <a:ext cx="2095576" cy="269240"/>
          </a:xfrm>
          <a:prstGeom prst="rect">
            <a:avLst/>
          </a:prstGeom>
          <a:noFill/>
          <a:ln/>
        </p:spPr>
        <p:txBody>
          <a:bodyPr wrap="square" lIns="0" tIns="0" rIns="0" bIns="0" rtlCol="0" anchor="t">
            <a:normAutofit/>
          </a:bodyPr>
          <a:lstStyle/>
          <a:p>
            <a:pPr marL="0" indent="0" algn="ctr">
              <a:lnSpc>
                <a:spcPts val="1920"/>
              </a:lnSpc>
              <a:buNone/>
            </a:pPr>
            <a:r>
              <a:rPr lang="en-US" sz="1600">
                <a:solidFill>
                  <a:srgbClr val="000000"/>
                </a:solidFill>
                <a:latin typeface="Albert Sans" pitchFamily="34" charset="0"/>
                <a:ea typeface="Albert Sans" pitchFamily="34" charset="-122"/>
                <a:cs typeface="Albert Sans" pitchFamily="34" charset="-120"/>
              </a:rPr>
              <a:t>+0.614 (Pearson)</a:t>
            </a:r>
            <a:endParaRPr lang="en-US" sz="1600"/>
          </a:p>
        </p:txBody>
      </p:sp>
      <p:sp>
        <p:nvSpPr>
          <p:cNvPr id="47" name="Shape 44"/>
          <p:cNvSpPr/>
          <p:nvPr/>
        </p:nvSpPr>
        <p:spPr>
          <a:xfrm>
            <a:off x="7264400" y="4485642"/>
            <a:ext cx="3543300" cy="0"/>
          </a:xfrm>
          <a:prstGeom prst="line">
            <a:avLst/>
          </a:prstGeom>
          <a:noFill/>
          <a:ln w="12700">
            <a:solidFill>
              <a:srgbClr val="000000"/>
            </a:solidFill>
            <a:prstDash val="solid"/>
          </a:ln>
        </p:spPr>
        <p:txBody>
          <a:bodyPr/>
          <a:lstStyle/>
          <a:p>
            <a:endParaRPr lang="en-SG"/>
          </a:p>
        </p:txBody>
      </p:sp>
      <p:sp>
        <p:nvSpPr>
          <p:cNvPr id="48" name="Shape 45"/>
          <p:cNvSpPr/>
          <p:nvPr/>
        </p:nvSpPr>
        <p:spPr>
          <a:xfrm>
            <a:off x="7270750" y="4479292"/>
            <a:ext cx="0" cy="571500"/>
          </a:xfrm>
          <a:prstGeom prst="line">
            <a:avLst/>
          </a:prstGeom>
          <a:noFill/>
          <a:ln w="12700">
            <a:solidFill>
              <a:srgbClr val="000000"/>
            </a:solidFill>
            <a:prstDash val="solid"/>
          </a:ln>
        </p:spPr>
        <p:txBody>
          <a:bodyPr/>
          <a:lstStyle/>
          <a:p>
            <a:endParaRPr lang="en-SG"/>
          </a:p>
        </p:txBody>
      </p:sp>
      <p:sp>
        <p:nvSpPr>
          <p:cNvPr id="49" name="Text 46"/>
          <p:cNvSpPr/>
          <p:nvPr/>
        </p:nvSpPr>
        <p:spPr>
          <a:xfrm>
            <a:off x="7395210" y="4648202"/>
            <a:ext cx="3390595" cy="269240"/>
          </a:xfrm>
          <a:prstGeom prst="rect">
            <a:avLst/>
          </a:prstGeom>
          <a:noFill/>
          <a:ln/>
        </p:spPr>
        <p:txBody>
          <a:bodyPr wrap="square" lIns="0" tIns="0" rIns="0" bIns="0" rtlCol="0" anchor="t">
            <a:normAutofit/>
          </a:bodyPr>
          <a:lstStyle/>
          <a:p>
            <a:pPr marL="0" indent="0" algn="l">
              <a:lnSpc>
                <a:spcPts val="1920"/>
              </a:lnSpc>
              <a:buNone/>
            </a:pPr>
            <a:r>
              <a:rPr lang="en-US" sz="1600">
                <a:solidFill>
                  <a:srgbClr val="000000"/>
                </a:solidFill>
                <a:latin typeface="Albert Sans" pitchFamily="34" charset="0"/>
                <a:ea typeface="Albert Sans" pitchFamily="34" charset="-122"/>
                <a:cs typeface="Albert Sans" pitchFamily="34" charset="-120"/>
              </a:rPr>
              <a:t>Positive, not causal</a:t>
            </a:r>
            <a:endParaRPr lang="en-US" sz="1600"/>
          </a:p>
        </p:txBody>
      </p:sp>
      <p:sp>
        <p:nvSpPr>
          <p:cNvPr id="50" name="Text 47"/>
          <p:cNvSpPr/>
          <p:nvPr/>
        </p:nvSpPr>
        <p:spPr>
          <a:xfrm>
            <a:off x="654050" y="5177792"/>
            <a:ext cx="10333990" cy="467360"/>
          </a:xfrm>
          <a:prstGeom prst="rect">
            <a:avLst/>
          </a:prstGeom>
          <a:noFill/>
          <a:ln/>
        </p:spPr>
        <p:txBody>
          <a:bodyPr wrap="square" lIns="0" tIns="0" rIns="0" bIns="0" rtlCol="0" anchor="t">
            <a:normAutofit/>
          </a:bodyPr>
          <a:lstStyle/>
          <a:p>
            <a:pPr marL="0" indent="0" algn="l">
              <a:lnSpc>
                <a:spcPts val="1740"/>
              </a:lnSpc>
              <a:buNone/>
            </a:pPr>
            <a:r>
              <a:rPr lang="en-US" sz="1450">
                <a:solidFill>
                  <a:srgbClr val="000000"/>
                </a:solidFill>
                <a:latin typeface="Albert Sans" pitchFamily="34" charset="0"/>
                <a:ea typeface="Albert Sans" pitchFamily="34" charset="-122"/>
                <a:cs typeface="Albert Sans" pitchFamily="34" charset="-120"/>
              </a:rPr>
              <a:t>No significant relationship with trust after correction: concern about elections, uncertainty about online content, demand for misinformation laws and the top-risk indicator</a:t>
            </a:r>
            <a:endParaRPr lang="en-US" sz="145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41100" y="0"/>
            <a:ext cx="850900" cy="6858000"/>
          </a:xfrm>
          <a:prstGeom prst="rect">
            <a:avLst/>
          </a:prstGeom>
          <a:gradFill rotWithShape="1">
            <a:gsLst>
              <a:gs pos="0">
                <a:srgbClr val="207368"/>
              </a:gs>
              <a:gs pos="24000">
                <a:srgbClr val="9EC0BE"/>
              </a:gs>
              <a:gs pos="49000">
                <a:srgbClr val="B185B4"/>
              </a:gs>
              <a:gs pos="75000">
                <a:srgbClr val="FFFFFF"/>
              </a:gs>
              <a:gs pos="100000">
                <a:srgbClr val="207368"/>
              </a:gs>
            </a:gsLst>
            <a:lin ang="18900000" scaled="0"/>
          </a:gradFill>
          <a:ln/>
        </p:spPr>
        <p:txBody>
          <a:bodyPr/>
          <a:lstStyle/>
          <a:p>
            <a:endParaRPr lang="en-SG"/>
          </a:p>
        </p:txBody>
      </p:sp>
      <p:pic>
        <p:nvPicPr>
          <p:cNvPr id="3" name="Image 0" descr="preencoded.png"/>
          <p:cNvPicPr>
            <a:picLocks noChangeAspect="1"/>
          </p:cNvPicPr>
          <p:nvPr/>
        </p:nvPicPr>
        <p:blipFill>
          <a:blip r:embed="rId3"/>
          <a:srcRect t="-649" b="-649"/>
          <a:stretch/>
        </p:blipFill>
        <p:spPr>
          <a:xfrm>
            <a:off x="685800" y="5892800"/>
            <a:ext cx="539750" cy="495300"/>
          </a:xfrm>
          <a:prstGeom prst="rect">
            <a:avLst/>
          </a:prstGeom>
        </p:spPr>
      </p:pic>
      <p:sp>
        <p:nvSpPr>
          <p:cNvPr id="4" name="Text 1"/>
          <p:cNvSpPr>
            <a:spLocks noGrp="1"/>
          </p:cNvSpPr>
          <p:nvPr>
            <p:ph type="title"/>
          </p:nvPr>
        </p:nvSpPr>
        <p:spPr>
          <a:xfrm>
            <a:off x="654050" y="736600"/>
            <a:ext cx="10458260" cy="635000"/>
          </a:xfrm>
          <a:prstGeom prst="rect">
            <a:avLst/>
          </a:prstGeom>
          <a:noFill/>
          <a:ln/>
        </p:spPr>
        <p:txBody>
          <a:bodyPr wrap="square" lIns="0" tIns="0" rIns="0" bIns="0" rtlCol="0" anchor="t">
            <a:normAutofit/>
          </a:bodyPr>
          <a:lstStyle/>
          <a:p>
            <a:pPr marL="0" indent="0" algn="l">
              <a:lnSpc>
                <a:spcPts val="4800"/>
              </a:lnSpc>
              <a:buNone/>
            </a:pPr>
            <a:r>
              <a:rPr lang="en-US" sz="4000" b="1" i="0">
                <a:solidFill>
                  <a:srgbClr val="000000"/>
                </a:solidFill>
                <a:latin typeface="Anybody" pitchFamily="34" charset="0"/>
                <a:ea typeface="Anybody" pitchFamily="34" charset="-122"/>
                <a:cs typeface="Anybody" pitchFamily="34" charset="-120"/>
              </a:rPr>
              <a:t>Work distribution</a:t>
            </a:r>
            <a:endParaRPr lang="en-US" sz="4000"/>
          </a:p>
        </p:txBody>
      </p:sp>
      <p:sp>
        <p:nvSpPr>
          <p:cNvPr id="5" name="Text 2"/>
          <p:cNvSpPr/>
          <p:nvPr/>
        </p:nvSpPr>
        <p:spPr>
          <a:xfrm>
            <a:off x="654050" y="2033277"/>
            <a:ext cx="5042726" cy="35306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Task</a:t>
            </a:r>
            <a:endParaRPr lang="en-US" sz="2150"/>
          </a:p>
        </p:txBody>
      </p:sp>
      <p:sp>
        <p:nvSpPr>
          <p:cNvPr id="6" name="Shape 3"/>
          <p:cNvSpPr/>
          <p:nvPr/>
        </p:nvSpPr>
        <p:spPr>
          <a:xfrm>
            <a:off x="5676900" y="1918977"/>
            <a:ext cx="0" cy="556260"/>
          </a:xfrm>
          <a:prstGeom prst="line">
            <a:avLst/>
          </a:prstGeom>
          <a:noFill/>
          <a:ln w="12700">
            <a:solidFill>
              <a:srgbClr val="000000"/>
            </a:solidFill>
            <a:prstDash val="solid"/>
          </a:ln>
        </p:spPr>
        <p:txBody>
          <a:bodyPr/>
          <a:lstStyle/>
          <a:p>
            <a:endParaRPr lang="en-SG"/>
          </a:p>
        </p:txBody>
      </p:sp>
      <p:sp>
        <p:nvSpPr>
          <p:cNvPr id="7" name="Text 4"/>
          <p:cNvSpPr/>
          <p:nvPr/>
        </p:nvSpPr>
        <p:spPr>
          <a:xfrm>
            <a:off x="5801360" y="2033277"/>
            <a:ext cx="5032261" cy="353060"/>
          </a:xfrm>
          <a:prstGeom prst="rect">
            <a:avLst/>
          </a:prstGeom>
          <a:noFill/>
          <a:ln/>
        </p:spPr>
        <p:txBody>
          <a:bodyPr wrap="square" lIns="0" tIns="0" rIns="0" bIns="0" rtlCol="0" anchor="t">
            <a:normAutofit/>
          </a:bodyPr>
          <a:lstStyle/>
          <a:p>
            <a:pPr marL="0" indent="0" algn="l">
              <a:lnSpc>
                <a:spcPts val="2580"/>
              </a:lnSpc>
              <a:buNone/>
            </a:pPr>
            <a:r>
              <a:rPr lang="en-US" sz="2150" b="1">
                <a:solidFill>
                  <a:srgbClr val="000000"/>
                </a:solidFill>
                <a:latin typeface="Anybody" pitchFamily="34" charset="0"/>
                <a:ea typeface="Anybody" pitchFamily="34" charset="-122"/>
                <a:cs typeface="Anybody" pitchFamily="34" charset="-120"/>
              </a:rPr>
              <a:t>Name</a:t>
            </a:r>
            <a:endParaRPr lang="en-US" sz="2150"/>
          </a:p>
        </p:txBody>
      </p:sp>
      <p:sp>
        <p:nvSpPr>
          <p:cNvPr id="8" name="Shape 5"/>
          <p:cNvSpPr/>
          <p:nvPr/>
        </p:nvSpPr>
        <p:spPr>
          <a:xfrm>
            <a:off x="533400" y="2481585"/>
            <a:ext cx="5137150" cy="0"/>
          </a:xfrm>
          <a:prstGeom prst="line">
            <a:avLst/>
          </a:prstGeom>
          <a:noFill/>
          <a:ln w="12700">
            <a:solidFill>
              <a:srgbClr val="000000"/>
            </a:solidFill>
            <a:prstDash val="solid"/>
          </a:ln>
        </p:spPr>
        <p:txBody>
          <a:bodyPr/>
          <a:lstStyle/>
          <a:p>
            <a:endParaRPr lang="en-SG"/>
          </a:p>
        </p:txBody>
      </p:sp>
      <p:sp>
        <p:nvSpPr>
          <p:cNvPr id="9" name="Text 6"/>
          <p:cNvSpPr/>
          <p:nvPr/>
        </p:nvSpPr>
        <p:spPr>
          <a:xfrm>
            <a:off x="654050" y="2625095"/>
            <a:ext cx="5042726" cy="307340"/>
          </a:xfrm>
          <a:prstGeom prst="rect">
            <a:avLst/>
          </a:prstGeom>
          <a:noFill/>
          <a:ln/>
        </p:spPr>
        <p:txBody>
          <a:bodyPr wrap="square" lIns="0" tIns="0" rIns="0" bIns="0" rtlCol="0" anchor="t">
            <a:normAutofit/>
          </a:bodyPr>
          <a:lstStyle/>
          <a:p>
            <a:pPr marL="0" indent="0" algn="l">
              <a:lnSpc>
                <a:spcPts val="2220"/>
              </a:lnSpc>
              <a:buNone/>
            </a:pPr>
            <a:r>
              <a:rPr lang="en-US" sz="1850">
                <a:solidFill>
                  <a:srgbClr val="000000"/>
                </a:solidFill>
                <a:latin typeface="Albert Sans" pitchFamily="34" charset="0"/>
                <a:ea typeface="Albert Sans" pitchFamily="34" charset="-122"/>
                <a:cs typeface="Albert Sans" pitchFamily="34" charset="-120"/>
              </a:rPr>
              <a:t>Descriptive analysis</a:t>
            </a:r>
            <a:endParaRPr lang="en-US" sz="1850"/>
          </a:p>
        </p:txBody>
      </p:sp>
      <p:sp>
        <p:nvSpPr>
          <p:cNvPr id="10" name="Shape 7"/>
          <p:cNvSpPr/>
          <p:nvPr/>
        </p:nvSpPr>
        <p:spPr>
          <a:xfrm>
            <a:off x="5670550" y="2481585"/>
            <a:ext cx="5137150" cy="0"/>
          </a:xfrm>
          <a:prstGeom prst="line">
            <a:avLst/>
          </a:prstGeom>
          <a:noFill/>
          <a:ln w="12700">
            <a:solidFill>
              <a:srgbClr val="000000"/>
            </a:solidFill>
            <a:prstDash val="solid"/>
          </a:ln>
        </p:spPr>
        <p:txBody>
          <a:bodyPr/>
          <a:lstStyle/>
          <a:p>
            <a:endParaRPr lang="en-SG"/>
          </a:p>
        </p:txBody>
      </p:sp>
      <p:sp>
        <p:nvSpPr>
          <p:cNvPr id="11" name="Shape 8"/>
          <p:cNvSpPr/>
          <p:nvPr/>
        </p:nvSpPr>
        <p:spPr>
          <a:xfrm>
            <a:off x="5676900" y="2475235"/>
            <a:ext cx="0" cy="571500"/>
          </a:xfrm>
          <a:prstGeom prst="line">
            <a:avLst/>
          </a:prstGeom>
          <a:noFill/>
          <a:ln w="12700">
            <a:solidFill>
              <a:srgbClr val="000000"/>
            </a:solidFill>
            <a:prstDash val="solid"/>
          </a:ln>
        </p:spPr>
        <p:txBody>
          <a:bodyPr/>
          <a:lstStyle/>
          <a:p>
            <a:endParaRPr lang="en-SG"/>
          </a:p>
        </p:txBody>
      </p:sp>
      <p:sp>
        <p:nvSpPr>
          <p:cNvPr id="12" name="Text 9"/>
          <p:cNvSpPr/>
          <p:nvPr/>
        </p:nvSpPr>
        <p:spPr>
          <a:xfrm>
            <a:off x="5801360" y="2625095"/>
            <a:ext cx="5032261" cy="307340"/>
          </a:xfrm>
          <a:prstGeom prst="rect">
            <a:avLst/>
          </a:prstGeom>
          <a:noFill/>
          <a:ln/>
        </p:spPr>
        <p:txBody>
          <a:bodyPr wrap="square" lIns="0" tIns="0" rIns="0" bIns="0" rtlCol="0" anchor="t">
            <a:normAutofit/>
          </a:bodyPr>
          <a:lstStyle/>
          <a:p>
            <a:pPr marL="0" indent="0" algn="l">
              <a:lnSpc>
                <a:spcPts val="2220"/>
              </a:lnSpc>
              <a:buNone/>
            </a:pPr>
            <a:r>
              <a:rPr lang="en-US" sz="1850">
                <a:solidFill>
                  <a:srgbClr val="000000"/>
                </a:solidFill>
                <a:latin typeface="Albert Sans" pitchFamily="34" charset="0"/>
                <a:ea typeface="Albert Sans" pitchFamily="34" charset="-122"/>
                <a:cs typeface="Albert Sans" pitchFamily="34" charset="-120"/>
              </a:rPr>
              <a:t>Felda Everyl</a:t>
            </a:r>
            <a:endParaRPr lang="en-US" sz="1850"/>
          </a:p>
        </p:txBody>
      </p:sp>
      <p:sp>
        <p:nvSpPr>
          <p:cNvPr id="13" name="Shape 10"/>
          <p:cNvSpPr/>
          <p:nvPr/>
        </p:nvSpPr>
        <p:spPr>
          <a:xfrm>
            <a:off x="533400" y="3053085"/>
            <a:ext cx="5137150" cy="0"/>
          </a:xfrm>
          <a:prstGeom prst="line">
            <a:avLst/>
          </a:prstGeom>
          <a:noFill/>
          <a:ln w="12700">
            <a:solidFill>
              <a:srgbClr val="000000"/>
            </a:solidFill>
            <a:prstDash val="solid"/>
          </a:ln>
        </p:spPr>
        <p:txBody>
          <a:bodyPr/>
          <a:lstStyle/>
          <a:p>
            <a:endParaRPr lang="en-SG"/>
          </a:p>
        </p:txBody>
      </p:sp>
      <p:sp>
        <p:nvSpPr>
          <p:cNvPr id="14" name="Text 11"/>
          <p:cNvSpPr/>
          <p:nvPr/>
        </p:nvSpPr>
        <p:spPr>
          <a:xfrm>
            <a:off x="654050" y="3196595"/>
            <a:ext cx="5042726" cy="307340"/>
          </a:xfrm>
          <a:prstGeom prst="rect">
            <a:avLst/>
          </a:prstGeom>
          <a:noFill/>
          <a:ln/>
        </p:spPr>
        <p:txBody>
          <a:bodyPr wrap="square" lIns="0" tIns="0" rIns="0" bIns="0" rtlCol="0" anchor="t">
            <a:normAutofit/>
          </a:bodyPr>
          <a:lstStyle/>
          <a:p>
            <a:pPr marL="0" indent="0" algn="l">
              <a:lnSpc>
                <a:spcPts val="2220"/>
              </a:lnSpc>
              <a:buNone/>
            </a:pPr>
            <a:r>
              <a:rPr lang="en-US" sz="1850">
                <a:solidFill>
                  <a:srgbClr val="000000"/>
                </a:solidFill>
                <a:latin typeface="Albert Sans" pitchFamily="34" charset="0"/>
                <a:ea typeface="Albert Sans" pitchFamily="34" charset="-122"/>
                <a:cs typeface="Albert Sans" pitchFamily="34" charset="-120"/>
              </a:rPr>
              <a:t>Feature selection analysis</a:t>
            </a:r>
            <a:endParaRPr lang="en-US" sz="1850"/>
          </a:p>
        </p:txBody>
      </p:sp>
      <p:sp>
        <p:nvSpPr>
          <p:cNvPr id="15" name="Shape 12"/>
          <p:cNvSpPr/>
          <p:nvPr/>
        </p:nvSpPr>
        <p:spPr>
          <a:xfrm>
            <a:off x="5670550" y="3053085"/>
            <a:ext cx="5137150" cy="0"/>
          </a:xfrm>
          <a:prstGeom prst="line">
            <a:avLst/>
          </a:prstGeom>
          <a:noFill/>
          <a:ln w="12700">
            <a:solidFill>
              <a:srgbClr val="000000"/>
            </a:solidFill>
            <a:prstDash val="solid"/>
          </a:ln>
        </p:spPr>
        <p:txBody>
          <a:bodyPr/>
          <a:lstStyle/>
          <a:p>
            <a:endParaRPr lang="en-SG"/>
          </a:p>
        </p:txBody>
      </p:sp>
      <p:sp>
        <p:nvSpPr>
          <p:cNvPr id="16" name="Shape 13"/>
          <p:cNvSpPr/>
          <p:nvPr/>
        </p:nvSpPr>
        <p:spPr>
          <a:xfrm>
            <a:off x="5676900" y="3046735"/>
            <a:ext cx="0" cy="571500"/>
          </a:xfrm>
          <a:prstGeom prst="line">
            <a:avLst/>
          </a:prstGeom>
          <a:noFill/>
          <a:ln w="12700">
            <a:solidFill>
              <a:srgbClr val="000000"/>
            </a:solidFill>
            <a:prstDash val="solid"/>
          </a:ln>
        </p:spPr>
        <p:txBody>
          <a:bodyPr/>
          <a:lstStyle/>
          <a:p>
            <a:endParaRPr lang="en-SG"/>
          </a:p>
        </p:txBody>
      </p:sp>
      <p:sp>
        <p:nvSpPr>
          <p:cNvPr id="17" name="Text 14"/>
          <p:cNvSpPr/>
          <p:nvPr/>
        </p:nvSpPr>
        <p:spPr>
          <a:xfrm>
            <a:off x="5801360" y="3196595"/>
            <a:ext cx="5032261" cy="307340"/>
          </a:xfrm>
          <a:prstGeom prst="rect">
            <a:avLst/>
          </a:prstGeom>
          <a:noFill/>
          <a:ln/>
        </p:spPr>
        <p:txBody>
          <a:bodyPr wrap="square" lIns="0" tIns="0" rIns="0" bIns="0" rtlCol="0" anchor="t">
            <a:normAutofit/>
          </a:bodyPr>
          <a:lstStyle/>
          <a:p>
            <a:pPr marL="0" indent="0" algn="l">
              <a:lnSpc>
                <a:spcPts val="2220"/>
              </a:lnSpc>
              <a:buNone/>
            </a:pPr>
            <a:r>
              <a:rPr lang="en-US" sz="1850">
                <a:solidFill>
                  <a:srgbClr val="000000"/>
                </a:solidFill>
                <a:latin typeface="Albert Sans" pitchFamily="34" charset="0"/>
                <a:ea typeface="Albert Sans" pitchFamily="34" charset="-122"/>
                <a:cs typeface="Albert Sans" pitchFamily="34" charset="-120"/>
              </a:rPr>
              <a:t>Guo Yutong</a:t>
            </a:r>
            <a:endParaRPr lang="en-US" sz="1850"/>
          </a:p>
        </p:txBody>
      </p:sp>
      <p:sp>
        <p:nvSpPr>
          <p:cNvPr id="18" name="Shape 15"/>
          <p:cNvSpPr/>
          <p:nvPr/>
        </p:nvSpPr>
        <p:spPr>
          <a:xfrm>
            <a:off x="533400" y="3624585"/>
            <a:ext cx="5137150" cy="0"/>
          </a:xfrm>
          <a:prstGeom prst="line">
            <a:avLst/>
          </a:prstGeom>
          <a:noFill/>
          <a:ln w="12700">
            <a:solidFill>
              <a:srgbClr val="000000"/>
            </a:solidFill>
            <a:prstDash val="solid"/>
          </a:ln>
        </p:spPr>
        <p:txBody>
          <a:bodyPr/>
          <a:lstStyle/>
          <a:p>
            <a:endParaRPr lang="en-SG"/>
          </a:p>
        </p:txBody>
      </p:sp>
      <p:sp>
        <p:nvSpPr>
          <p:cNvPr id="19" name="Text 16"/>
          <p:cNvSpPr/>
          <p:nvPr/>
        </p:nvSpPr>
        <p:spPr>
          <a:xfrm>
            <a:off x="654050" y="3768095"/>
            <a:ext cx="5042726" cy="307340"/>
          </a:xfrm>
          <a:prstGeom prst="rect">
            <a:avLst/>
          </a:prstGeom>
          <a:noFill/>
          <a:ln/>
        </p:spPr>
        <p:txBody>
          <a:bodyPr wrap="square" lIns="0" tIns="0" rIns="0" bIns="0" rtlCol="0" anchor="t">
            <a:normAutofit/>
          </a:bodyPr>
          <a:lstStyle/>
          <a:p>
            <a:pPr marL="0" indent="0" algn="l">
              <a:lnSpc>
                <a:spcPts val="2220"/>
              </a:lnSpc>
              <a:buNone/>
            </a:pPr>
            <a:r>
              <a:rPr lang="en-US" sz="1850">
                <a:solidFill>
                  <a:srgbClr val="000000"/>
                </a:solidFill>
                <a:latin typeface="Albert Sans" pitchFamily="34" charset="0"/>
                <a:ea typeface="Albert Sans" pitchFamily="34" charset="-122"/>
                <a:cs typeface="Albert Sans" pitchFamily="34" charset="-120"/>
              </a:rPr>
              <a:t>Predictive modeling analysis</a:t>
            </a:r>
            <a:endParaRPr lang="en-US" sz="1850"/>
          </a:p>
        </p:txBody>
      </p:sp>
      <p:sp>
        <p:nvSpPr>
          <p:cNvPr id="20" name="Shape 17"/>
          <p:cNvSpPr/>
          <p:nvPr/>
        </p:nvSpPr>
        <p:spPr>
          <a:xfrm>
            <a:off x="5670550" y="3624585"/>
            <a:ext cx="5137150" cy="0"/>
          </a:xfrm>
          <a:prstGeom prst="line">
            <a:avLst/>
          </a:prstGeom>
          <a:noFill/>
          <a:ln w="12700">
            <a:solidFill>
              <a:srgbClr val="000000"/>
            </a:solidFill>
            <a:prstDash val="solid"/>
          </a:ln>
        </p:spPr>
        <p:txBody>
          <a:bodyPr/>
          <a:lstStyle/>
          <a:p>
            <a:endParaRPr lang="en-SG"/>
          </a:p>
        </p:txBody>
      </p:sp>
      <p:sp>
        <p:nvSpPr>
          <p:cNvPr id="21" name="Shape 18"/>
          <p:cNvSpPr/>
          <p:nvPr/>
        </p:nvSpPr>
        <p:spPr>
          <a:xfrm>
            <a:off x="5676900" y="3618235"/>
            <a:ext cx="0" cy="571500"/>
          </a:xfrm>
          <a:prstGeom prst="line">
            <a:avLst/>
          </a:prstGeom>
          <a:noFill/>
          <a:ln w="12700">
            <a:solidFill>
              <a:srgbClr val="000000"/>
            </a:solidFill>
            <a:prstDash val="solid"/>
          </a:ln>
        </p:spPr>
        <p:txBody>
          <a:bodyPr/>
          <a:lstStyle/>
          <a:p>
            <a:endParaRPr lang="en-SG"/>
          </a:p>
        </p:txBody>
      </p:sp>
      <p:sp>
        <p:nvSpPr>
          <p:cNvPr id="22" name="Text 19"/>
          <p:cNvSpPr/>
          <p:nvPr/>
        </p:nvSpPr>
        <p:spPr>
          <a:xfrm>
            <a:off x="5801360" y="3768095"/>
            <a:ext cx="5032261" cy="307340"/>
          </a:xfrm>
          <a:prstGeom prst="rect">
            <a:avLst/>
          </a:prstGeom>
          <a:noFill/>
          <a:ln/>
        </p:spPr>
        <p:txBody>
          <a:bodyPr wrap="square" lIns="0" tIns="0" rIns="0" bIns="0" rtlCol="0" anchor="t">
            <a:normAutofit/>
          </a:bodyPr>
          <a:lstStyle/>
          <a:p>
            <a:pPr marL="0" indent="0" algn="l">
              <a:lnSpc>
                <a:spcPts val="2220"/>
              </a:lnSpc>
              <a:buNone/>
            </a:pPr>
            <a:r>
              <a:rPr lang="en-US" sz="1850">
                <a:solidFill>
                  <a:srgbClr val="000000"/>
                </a:solidFill>
                <a:latin typeface="Albert Sans" pitchFamily="34" charset="0"/>
                <a:ea typeface="Albert Sans" pitchFamily="34" charset="-122"/>
                <a:cs typeface="Albert Sans" pitchFamily="34" charset="-120"/>
              </a:rPr>
              <a:t>Kaitwatcharachai Onnicha</a:t>
            </a:r>
            <a:endParaRPr lang="en-US" sz="1850"/>
          </a:p>
        </p:txBody>
      </p:sp>
      <p:sp>
        <p:nvSpPr>
          <p:cNvPr id="23" name="Shape 20"/>
          <p:cNvSpPr/>
          <p:nvPr/>
        </p:nvSpPr>
        <p:spPr>
          <a:xfrm>
            <a:off x="533400" y="4196085"/>
            <a:ext cx="5137150" cy="0"/>
          </a:xfrm>
          <a:prstGeom prst="line">
            <a:avLst/>
          </a:prstGeom>
          <a:noFill/>
          <a:ln w="12700">
            <a:solidFill>
              <a:srgbClr val="000000"/>
            </a:solidFill>
            <a:prstDash val="solid"/>
          </a:ln>
        </p:spPr>
        <p:txBody>
          <a:bodyPr/>
          <a:lstStyle/>
          <a:p>
            <a:endParaRPr lang="en-SG"/>
          </a:p>
        </p:txBody>
      </p:sp>
      <p:sp>
        <p:nvSpPr>
          <p:cNvPr id="24" name="Text 21"/>
          <p:cNvSpPr/>
          <p:nvPr/>
        </p:nvSpPr>
        <p:spPr>
          <a:xfrm>
            <a:off x="654050" y="4339595"/>
            <a:ext cx="5042726" cy="307340"/>
          </a:xfrm>
          <a:prstGeom prst="rect">
            <a:avLst/>
          </a:prstGeom>
          <a:noFill/>
          <a:ln/>
        </p:spPr>
        <p:txBody>
          <a:bodyPr wrap="square" lIns="0" tIns="0" rIns="0" bIns="0" rtlCol="0" anchor="t">
            <a:normAutofit/>
          </a:bodyPr>
          <a:lstStyle/>
          <a:p>
            <a:pPr marL="0" indent="0" algn="l">
              <a:lnSpc>
                <a:spcPts val="2220"/>
              </a:lnSpc>
              <a:buNone/>
            </a:pPr>
            <a:r>
              <a:rPr lang="en-US" sz="1850">
                <a:solidFill>
                  <a:srgbClr val="000000"/>
                </a:solidFill>
                <a:latin typeface="Albert Sans" pitchFamily="34" charset="0"/>
                <a:ea typeface="Albert Sans" pitchFamily="34" charset="-122"/>
                <a:cs typeface="Albert Sans" pitchFamily="34" charset="-120"/>
              </a:rPr>
              <a:t>Report</a:t>
            </a:r>
            <a:endParaRPr lang="en-US" sz="1850"/>
          </a:p>
        </p:txBody>
      </p:sp>
      <p:sp>
        <p:nvSpPr>
          <p:cNvPr id="25" name="Shape 22"/>
          <p:cNvSpPr/>
          <p:nvPr/>
        </p:nvSpPr>
        <p:spPr>
          <a:xfrm>
            <a:off x="5670550" y="4196085"/>
            <a:ext cx="5137150" cy="0"/>
          </a:xfrm>
          <a:prstGeom prst="line">
            <a:avLst/>
          </a:prstGeom>
          <a:noFill/>
          <a:ln w="12700">
            <a:solidFill>
              <a:srgbClr val="000000"/>
            </a:solidFill>
            <a:prstDash val="solid"/>
          </a:ln>
        </p:spPr>
        <p:txBody>
          <a:bodyPr/>
          <a:lstStyle/>
          <a:p>
            <a:endParaRPr lang="en-SG"/>
          </a:p>
        </p:txBody>
      </p:sp>
      <p:sp>
        <p:nvSpPr>
          <p:cNvPr id="26" name="Shape 23"/>
          <p:cNvSpPr/>
          <p:nvPr/>
        </p:nvSpPr>
        <p:spPr>
          <a:xfrm>
            <a:off x="5676900" y="4189735"/>
            <a:ext cx="0" cy="571500"/>
          </a:xfrm>
          <a:prstGeom prst="line">
            <a:avLst/>
          </a:prstGeom>
          <a:noFill/>
          <a:ln w="12700">
            <a:solidFill>
              <a:srgbClr val="000000"/>
            </a:solidFill>
            <a:prstDash val="solid"/>
          </a:ln>
        </p:spPr>
        <p:txBody>
          <a:bodyPr/>
          <a:lstStyle/>
          <a:p>
            <a:endParaRPr lang="en-SG"/>
          </a:p>
        </p:txBody>
      </p:sp>
      <p:sp>
        <p:nvSpPr>
          <p:cNvPr id="27" name="Text 24"/>
          <p:cNvSpPr/>
          <p:nvPr/>
        </p:nvSpPr>
        <p:spPr>
          <a:xfrm>
            <a:off x="5801360" y="4339595"/>
            <a:ext cx="5032261" cy="307340"/>
          </a:xfrm>
          <a:prstGeom prst="rect">
            <a:avLst/>
          </a:prstGeom>
          <a:noFill/>
          <a:ln/>
        </p:spPr>
        <p:txBody>
          <a:bodyPr wrap="square" lIns="0" tIns="0" rIns="0" bIns="0" rtlCol="0" anchor="t">
            <a:normAutofit/>
          </a:bodyPr>
          <a:lstStyle/>
          <a:p>
            <a:pPr marL="0" indent="0" algn="l">
              <a:lnSpc>
                <a:spcPts val="2220"/>
              </a:lnSpc>
              <a:buNone/>
            </a:pPr>
            <a:r>
              <a:rPr lang="en-US" sz="1850" dirty="0">
                <a:solidFill>
                  <a:srgbClr val="000000"/>
                </a:solidFill>
                <a:latin typeface="Albert Sans" pitchFamily="34" charset="0"/>
                <a:ea typeface="Albert Sans" pitchFamily="34" charset="-122"/>
                <a:cs typeface="Albert Sans" pitchFamily="34" charset="-120"/>
              </a:rPr>
              <a:t> Quek</a:t>
            </a:r>
            <a:endParaRPr lang="en-US" sz="1850" dirty="0"/>
          </a:p>
        </p:txBody>
      </p:sp>
      <p:sp>
        <p:nvSpPr>
          <p:cNvPr id="28" name="Shape 25"/>
          <p:cNvSpPr/>
          <p:nvPr/>
        </p:nvSpPr>
        <p:spPr>
          <a:xfrm>
            <a:off x="533400" y="4767585"/>
            <a:ext cx="5137150" cy="0"/>
          </a:xfrm>
          <a:prstGeom prst="line">
            <a:avLst/>
          </a:prstGeom>
          <a:noFill/>
          <a:ln w="12700">
            <a:solidFill>
              <a:srgbClr val="000000"/>
            </a:solidFill>
            <a:prstDash val="solid"/>
          </a:ln>
        </p:spPr>
        <p:txBody>
          <a:bodyPr/>
          <a:lstStyle/>
          <a:p>
            <a:endParaRPr lang="en-SG"/>
          </a:p>
        </p:txBody>
      </p:sp>
      <p:sp>
        <p:nvSpPr>
          <p:cNvPr id="29" name="Text 26"/>
          <p:cNvSpPr/>
          <p:nvPr/>
        </p:nvSpPr>
        <p:spPr>
          <a:xfrm>
            <a:off x="654050" y="4911095"/>
            <a:ext cx="5042726" cy="307340"/>
          </a:xfrm>
          <a:prstGeom prst="rect">
            <a:avLst/>
          </a:prstGeom>
          <a:noFill/>
          <a:ln/>
        </p:spPr>
        <p:txBody>
          <a:bodyPr wrap="square" lIns="0" tIns="0" rIns="0" bIns="0" rtlCol="0" anchor="t">
            <a:normAutofit/>
          </a:bodyPr>
          <a:lstStyle/>
          <a:p>
            <a:pPr marL="0" indent="0" algn="l">
              <a:lnSpc>
                <a:spcPts val="2220"/>
              </a:lnSpc>
              <a:buNone/>
            </a:pPr>
            <a:r>
              <a:rPr lang="en-US" sz="1850">
                <a:solidFill>
                  <a:srgbClr val="000000"/>
                </a:solidFill>
                <a:latin typeface="Albert Sans" pitchFamily="34" charset="0"/>
                <a:ea typeface="Albert Sans" pitchFamily="34" charset="-122"/>
                <a:cs typeface="Albert Sans" pitchFamily="34" charset="-120"/>
              </a:rPr>
              <a:t>E-poster &amp; slides</a:t>
            </a:r>
            <a:endParaRPr lang="en-US" sz="1850"/>
          </a:p>
        </p:txBody>
      </p:sp>
      <p:sp>
        <p:nvSpPr>
          <p:cNvPr id="30" name="Shape 27"/>
          <p:cNvSpPr/>
          <p:nvPr/>
        </p:nvSpPr>
        <p:spPr>
          <a:xfrm>
            <a:off x="5670550" y="4767585"/>
            <a:ext cx="5137150" cy="0"/>
          </a:xfrm>
          <a:prstGeom prst="line">
            <a:avLst/>
          </a:prstGeom>
          <a:noFill/>
          <a:ln w="12700">
            <a:solidFill>
              <a:srgbClr val="000000"/>
            </a:solidFill>
            <a:prstDash val="solid"/>
          </a:ln>
        </p:spPr>
        <p:txBody>
          <a:bodyPr/>
          <a:lstStyle/>
          <a:p>
            <a:endParaRPr lang="en-SG"/>
          </a:p>
        </p:txBody>
      </p:sp>
      <p:sp>
        <p:nvSpPr>
          <p:cNvPr id="31" name="Shape 28"/>
          <p:cNvSpPr/>
          <p:nvPr/>
        </p:nvSpPr>
        <p:spPr>
          <a:xfrm>
            <a:off x="5676900" y="4761235"/>
            <a:ext cx="0" cy="571500"/>
          </a:xfrm>
          <a:prstGeom prst="line">
            <a:avLst/>
          </a:prstGeom>
          <a:noFill/>
          <a:ln w="12700">
            <a:solidFill>
              <a:srgbClr val="000000"/>
            </a:solidFill>
            <a:prstDash val="solid"/>
          </a:ln>
        </p:spPr>
        <p:txBody>
          <a:bodyPr/>
          <a:lstStyle/>
          <a:p>
            <a:endParaRPr lang="en-SG"/>
          </a:p>
        </p:txBody>
      </p:sp>
      <p:sp>
        <p:nvSpPr>
          <p:cNvPr id="32" name="Text 29"/>
          <p:cNvSpPr/>
          <p:nvPr/>
        </p:nvSpPr>
        <p:spPr>
          <a:xfrm>
            <a:off x="5801360" y="4911095"/>
            <a:ext cx="5032261" cy="307340"/>
          </a:xfrm>
          <a:prstGeom prst="rect">
            <a:avLst/>
          </a:prstGeom>
          <a:noFill/>
          <a:ln/>
        </p:spPr>
        <p:txBody>
          <a:bodyPr wrap="square" lIns="0" tIns="0" rIns="0" bIns="0" rtlCol="0" anchor="t">
            <a:normAutofit/>
          </a:bodyPr>
          <a:lstStyle/>
          <a:p>
            <a:pPr marL="0" indent="0" algn="l">
              <a:lnSpc>
                <a:spcPts val="2220"/>
              </a:lnSpc>
              <a:buNone/>
            </a:pPr>
            <a:r>
              <a:rPr lang="en-US" sz="1850">
                <a:solidFill>
                  <a:srgbClr val="000000"/>
                </a:solidFill>
                <a:latin typeface="Albert Sans" pitchFamily="34" charset="0"/>
                <a:ea typeface="Albert Sans" pitchFamily="34" charset="-122"/>
                <a:cs typeface="Albert Sans" pitchFamily="34" charset="-120"/>
              </a:rPr>
              <a:t>Ang Wei Hao Welthan</a:t>
            </a:r>
            <a:endParaRPr lang="en-US" sz="1850"/>
          </a:p>
        </p:txBody>
      </p:sp>
    </p:spTree>
  </p:cSld>
  <p:clrMapOvr>
    <a:masterClrMapping/>
  </p:clrMapOvr>
</p:sld>
</file>

<file path=ppt/theme/theme1.xml><?xml version="1.0" encoding="utf-8"?>
<a:theme xmlns:a="http://schemas.openxmlformats.org/drawingml/2006/main" name="Global AI Trust and Attitudes">
  <a:themeElements>
    <a:clrScheme name="Global AI Trust and Attitudes">
      <a:dk1>
        <a:srgbClr val="000000"/>
      </a:dk1>
      <a:lt1>
        <a:srgbClr val="FFFFFF"/>
      </a:lt1>
      <a:dk2>
        <a:srgbClr val="404040"/>
      </a:dk2>
      <a:lt2>
        <a:srgbClr val="E6E6E6"/>
      </a:lt2>
      <a:accent1>
        <a:srgbClr val="207368"/>
      </a:accent1>
      <a:accent2>
        <a:srgbClr val="B185B4"/>
      </a:accent2>
      <a:accent3>
        <a:srgbClr val="A6C1D8"/>
      </a:accent3>
      <a:accent4>
        <a:srgbClr val="9EC0BE"/>
      </a:accent4>
      <a:accent5>
        <a:srgbClr val="E3E8E8"/>
      </a:accent5>
      <a:accent6>
        <a:srgbClr val="9AA0A6"/>
      </a:accent6>
      <a:hlink>
        <a:srgbClr val="0563C1"/>
      </a:hlink>
      <a:folHlink>
        <a:srgbClr val="954F72"/>
      </a:folHlink>
    </a:clrScheme>
    <a:fontScheme name="Global AI Trust and Attitudes">
      <a:majorFont>
        <a:latin typeface="Anybod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ber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otalTime>7</TotalTime>
  <Words>4858</Words>
  <Application>Microsoft Office PowerPoint</Application>
  <PresentationFormat>Widescreen</PresentationFormat>
  <Paragraphs>552</Paragraphs>
  <Slides>28</Slides>
  <Notes>28</Notes>
  <HiddenSlides>10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Albert Sans</vt:lpstr>
      <vt:lpstr>Anybody</vt:lpstr>
      <vt:lpstr>Arial</vt:lpstr>
      <vt:lpstr>Global AI Trust and Attitudes</vt:lpstr>
      <vt:lpstr>Global AI Trust &amp; Attitudes</vt:lpstr>
      <vt:lpstr>Table of contents</vt:lpstr>
      <vt:lpstr>Context &amp; data</vt:lpstr>
      <vt:lpstr>The aim: Calibrated trust</vt:lpstr>
      <vt:lpstr>Four research questions</vt:lpstr>
      <vt:lpstr>Data &amp; approach</vt:lpstr>
      <vt:lpstr>What we found</vt:lpstr>
      <vt:lpstr>Trust by country</vt:lpstr>
      <vt:lpstr>Mean Trust by Economy type &amp; region</vt:lpstr>
      <vt:lpstr>Acceptance vs trust</vt:lpstr>
      <vt:lpstr>Factors linked to trust</vt:lpstr>
      <vt:lpstr>Why we narrowed the inputs</vt:lpstr>
      <vt:lpstr>Choosing inputs</vt:lpstr>
      <vt:lpstr>Can these factors predict trust in AI? </vt:lpstr>
      <vt:lpstr>Prediction accuracy</vt:lpstr>
      <vt:lpstr>Is perception of AI becoming more positive?</vt:lpstr>
      <vt:lpstr>Implications &amp; limits</vt:lpstr>
      <vt:lpstr>Insights for Companies</vt:lpstr>
      <vt:lpstr>Limits &amp; further work</vt:lpstr>
      <vt:lpstr>Conclusion</vt:lpstr>
      <vt:lpstr>Thank you</vt:lpstr>
      <vt:lpstr>References</vt:lpstr>
      <vt:lpstr>Appendix</vt:lpstr>
      <vt:lpstr>Fitted model: Coefficients</vt:lpstr>
      <vt:lpstr>Evaluation design</vt:lpstr>
      <vt:lpstr>Feature selection: Detail</vt:lpstr>
      <vt:lpstr>Other associations</vt:lpstr>
      <vt:lpstr>Work distribution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AI Trust and Attitudes</dc:title>
  <dc:subject/>
  <dc:creator>Welthan Ang</dc:creator>
  <cp:lastModifiedBy>Welthan Ang</cp:lastModifiedBy>
  <cp:revision>2</cp:revision>
  <dcterms:created xsi:type="dcterms:W3CDTF">2026-10-10T07:55:14Z</dcterms:created>
  <dcterms:modified xsi:type="dcterms:W3CDTF">2026-10-12T11:42:16Z</dcterms:modified>
</cp:coreProperties>
</file>