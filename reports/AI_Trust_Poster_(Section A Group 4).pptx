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57" r:id="rId5"/>
    <p:sldId id="258" r:id="rId6"/>
  </p:sldIdLst>
  <p:sldSz cx="21386800" cy="30279975"/>
  <p:notesSz cx="6858000" cy="9144000"/>
  <p:defaultText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7">
          <p15:clr>
            <a:srgbClr val="A4A3A4"/>
          </p15:clr>
        </p15:guide>
        <p15:guide id="2" pos="67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F8F8"/>
    <a:srgbClr val="0A3C83"/>
    <a:srgbClr val="F1607C"/>
    <a:srgbClr val="FEC054"/>
    <a:srgbClr val="00B6F1"/>
    <a:srgbClr val="57004E"/>
    <a:srgbClr val="58595B"/>
    <a:srgbClr val="BBCB27"/>
    <a:srgbClr val="7ACC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416A82-6EAF-4E74-8E7B-A112EDCB7209}" v="16" dt="2026-10-11T08:23:39.6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45" autoAdjust="0"/>
    <p:restoredTop sz="93842" autoAdjust="0"/>
  </p:normalViewPr>
  <p:slideViewPr>
    <p:cSldViewPr>
      <p:cViewPr varScale="1">
        <p:scale>
          <a:sx n="24" d="100"/>
          <a:sy n="24" d="100"/>
        </p:scale>
        <p:origin x="3204" y="114"/>
      </p:cViewPr>
      <p:guideLst>
        <p:guide orient="horz" pos="9537"/>
        <p:guide pos="6736"/>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lthan Ang" userId="4d7a8c4131a718d2" providerId="LiveId" clId="{E4C0A9F5-59A8-4BF5-B5A3-C130E9CD0FE2}"/>
    <pc:docChg chg="undo custSel modSld">
      <pc:chgData name="Welthan Ang" userId="4d7a8c4131a718d2" providerId="LiveId" clId="{E4C0A9F5-59A8-4BF5-B5A3-C130E9CD0FE2}" dt="2026-10-11T08:23:39.614" v="177" actId="1035"/>
      <pc:docMkLst>
        <pc:docMk/>
      </pc:docMkLst>
      <pc:sldChg chg="modSp mod">
        <pc:chgData name="Welthan Ang" userId="4d7a8c4131a718d2" providerId="LiveId" clId="{E4C0A9F5-59A8-4BF5-B5A3-C130E9CD0FE2}" dt="2026-10-11T08:10:11.409" v="52" actId="1076"/>
        <pc:sldMkLst>
          <pc:docMk/>
          <pc:sldMk cId="2744477780" sldId="257"/>
        </pc:sldMkLst>
        <pc:spChg chg="mod">
          <ac:chgData name="Welthan Ang" userId="4d7a8c4131a718d2" providerId="LiveId" clId="{E4C0A9F5-59A8-4BF5-B5A3-C130E9CD0FE2}" dt="2026-10-11T08:08:42.516" v="24" actId="1076"/>
          <ac:spMkLst>
            <pc:docMk/>
            <pc:sldMk cId="2744477780" sldId="257"/>
            <ac:spMk id="83" creationId="{00000000-0000-0000-0000-000000000000}"/>
          </ac:spMkLst>
        </pc:spChg>
        <pc:spChg chg="mod">
          <ac:chgData name="Welthan Ang" userId="4d7a8c4131a718d2" providerId="LiveId" clId="{E4C0A9F5-59A8-4BF5-B5A3-C130E9CD0FE2}" dt="2026-10-11T08:08:45.985" v="25" actId="1076"/>
          <ac:spMkLst>
            <pc:docMk/>
            <pc:sldMk cId="2744477780" sldId="257"/>
            <ac:spMk id="84" creationId="{00000000-0000-0000-0000-000000000000}"/>
          </ac:spMkLst>
        </pc:spChg>
        <pc:spChg chg="mod">
          <ac:chgData name="Welthan Ang" userId="4d7a8c4131a718d2" providerId="LiveId" clId="{E4C0A9F5-59A8-4BF5-B5A3-C130E9CD0FE2}" dt="2026-10-11T08:07:12.798" v="10" actId="14100"/>
          <ac:spMkLst>
            <pc:docMk/>
            <pc:sldMk cId="2744477780" sldId="257"/>
            <ac:spMk id="86" creationId="{00000000-0000-0000-0000-000000000000}"/>
          </ac:spMkLst>
        </pc:spChg>
        <pc:spChg chg="mod">
          <ac:chgData name="Welthan Ang" userId="4d7a8c4131a718d2" providerId="LiveId" clId="{E4C0A9F5-59A8-4BF5-B5A3-C130E9CD0FE2}" dt="2026-10-11T08:07:45.475" v="23" actId="1076"/>
          <ac:spMkLst>
            <pc:docMk/>
            <pc:sldMk cId="2744477780" sldId="257"/>
            <ac:spMk id="87" creationId="{00000000-0000-0000-0000-000000000000}"/>
          </ac:spMkLst>
        </pc:spChg>
        <pc:spChg chg="mod">
          <ac:chgData name="Welthan Ang" userId="4d7a8c4131a718d2" providerId="LiveId" clId="{E4C0A9F5-59A8-4BF5-B5A3-C130E9CD0FE2}" dt="2026-10-11T08:07:05.182" v="9" actId="1036"/>
          <ac:spMkLst>
            <pc:docMk/>
            <pc:sldMk cId="2744477780" sldId="257"/>
            <ac:spMk id="88" creationId="{00000000-0000-0000-0000-000000000000}"/>
          </ac:spMkLst>
        </pc:spChg>
        <pc:spChg chg="mod">
          <ac:chgData name="Welthan Ang" userId="4d7a8c4131a718d2" providerId="LiveId" clId="{E4C0A9F5-59A8-4BF5-B5A3-C130E9CD0FE2}" dt="2026-10-11T08:07:40.199" v="22" actId="1035"/>
          <ac:spMkLst>
            <pc:docMk/>
            <pc:sldMk cId="2744477780" sldId="257"/>
            <ac:spMk id="89" creationId="{00000000-0000-0000-0000-000000000000}"/>
          </ac:spMkLst>
        </pc:spChg>
        <pc:spChg chg="mod">
          <ac:chgData name="Welthan Ang" userId="4d7a8c4131a718d2" providerId="LiveId" clId="{E4C0A9F5-59A8-4BF5-B5A3-C130E9CD0FE2}" dt="2026-10-11T08:07:40.199" v="22" actId="1035"/>
          <ac:spMkLst>
            <pc:docMk/>
            <pc:sldMk cId="2744477780" sldId="257"/>
            <ac:spMk id="90" creationId="{00000000-0000-0000-0000-000000000000}"/>
          </ac:spMkLst>
        </pc:spChg>
        <pc:spChg chg="mod">
          <ac:chgData name="Welthan Ang" userId="4d7a8c4131a718d2" providerId="LiveId" clId="{E4C0A9F5-59A8-4BF5-B5A3-C130E9CD0FE2}" dt="2026-10-11T08:07:40.199" v="22" actId="1035"/>
          <ac:spMkLst>
            <pc:docMk/>
            <pc:sldMk cId="2744477780" sldId="257"/>
            <ac:spMk id="91" creationId="{00000000-0000-0000-0000-000000000000}"/>
          </ac:spMkLst>
        </pc:spChg>
        <pc:spChg chg="mod">
          <ac:chgData name="Welthan Ang" userId="4d7a8c4131a718d2" providerId="LiveId" clId="{E4C0A9F5-59A8-4BF5-B5A3-C130E9CD0FE2}" dt="2026-10-11T08:07:40.199" v="22" actId="1035"/>
          <ac:spMkLst>
            <pc:docMk/>
            <pc:sldMk cId="2744477780" sldId="257"/>
            <ac:spMk id="92" creationId="{00000000-0000-0000-0000-000000000000}"/>
          </ac:spMkLst>
        </pc:spChg>
        <pc:spChg chg="mod">
          <ac:chgData name="Welthan Ang" userId="4d7a8c4131a718d2" providerId="LiveId" clId="{E4C0A9F5-59A8-4BF5-B5A3-C130E9CD0FE2}" dt="2026-10-11T08:07:40.199" v="22" actId="1035"/>
          <ac:spMkLst>
            <pc:docMk/>
            <pc:sldMk cId="2744477780" sldId="257"/>
            <ac:spMk id="93" creationId="{00000000-0000-0000-0000-000000000000}"/>
          </ac:spMkLst>
        </pc:spChg>
        <pc:spChg chg="mod">
          <ac:chgData name="Welthan Ang" userId="4d7a8c4131a718d2" providerId="LiveId" clId="{E4C0A9F5-59A8-4BF5-B5A3-C130E9CD0FE2}" dt="2026-10-11T08:07:40.199" v="22" actId="1035"/>
          <ac:spMkLst>
            <pc:docMk/>
            <pc:sldMk cId="2744477780" sldId="257"/>
            <ac:spMk id="94" creationId="{00000000-0000-0000-0000-000000000000}"/>
          </ac:spMkLst>
        </pc:spChg>
        <pc:spChg chg="mod">
          <ac:chgData name="Welthan Ang" userId="4d7a8c4131a718d2" providerId="LiveId" clId="{E4C0A9F5-59A8-4BF5-B5A3-C130E9CD0FE2}" dt="2026-10-11T08:07:40.199" v="22" actId="1035"/>
          <ac:spMkLst>
            <pc:docMk/>
            <pc:sldMk cId="2744477780" sldId="257"/>
            <ac:spMk id="95" creationId="{00000000-0000-0000-0000-000000000000}"/>
          </ac:spMkLst>
        </pc:spChg>
        <pc:spChg chg="mod">
          <ac:chgData name="Welthan Ang" userId="4d7a8c4131a718d2" providerId="LiveId" clId="{E4C0A9F5-59A8-4BF5-B5A3-C130E9CD0FE2}" dt="2026-10-11T08:07:40.199" v="22" actId="1035"/>
          <ac:spMkLst>
            <pc:docMk/>
            <pc:sldMk cId="2744477780" sldId="257"/>
            <ac:spMk id="96" creationId="{00000000-0000-0000-0000-000000000000}"/>
          </ac:spMkLst>
        </pc:spChg>
        <pc:spChg chg="mod">
          <ac:chgData name="Welthan Ang" userId="4d7a8c4131a718d2" providerId="LiveId" clId="{E4C0A9F5-59A8-4BF5-B5A3-C130E9CD0FE2}" dt="2026-10-11T08:09:39.745" v="41" actId="1035"/>
          <ac:spMkLst>
            <pc:docMk/>
            <pc:sldMk cId="2744477780" sldId="257"/>
            <ac:spMk id="119" creationId="{00000000-0000-0000-0000-000000000000}"/>
          </ac:spMkLst>
        </pc:spChg>
        <pc:spChg chg="mod">
          <ac:chgData name="Welthan Ang" userId="4d7a8c4131a718d2" providerId="LiveId" clId="{E4C0A9F5-59A8-4BF5-B5A3-C130E9CD0FE2}" dt="2026-10-11T08:09:39.745" v="41" actId="1035"/>
          <ac:spMkLst>
            <pc:docMk/>
            <pc:sldMk cId="2744477780" sldId="257"/>
            <ac:spMk id="120" creationId="{00000000-0000-0000-0000-000000000000}"/>
          </ac:spMkLst>
        </pc:spChg>
        <pc:spChg chg="mod">
          <ac:chgData name="Welthan Ang" userId="4d7a8c4131a718d2" providerId="LiveId" clId="{E4C0A9F5-59A8-4BF5-B5A3-C130E9CD0FE2}" dt="2026-10-11T08:10:11.409" v="52" actId="1076"/>
          <ac:spMkLst>
            <pc:docMk/>
            <pc:sldMk cId="2744477780" sldId="257"/>
            <ac:spMk id="121" creationId="{00000000-0000-0000-0000-000000000000}"/>
          </ac:spMkLst>
        </pc:spChg>
        <pc:spChg chg="mod">
          <ac:chgData name="Welthan Ang" userId="4d7a8c4131a718d2" providerId="LiveId" clId="{E4C0A9F5-59A8-4BF5-B5A3-C130E9CD0FE2}" dt="2026-10-11T08:10:00.765" v="51" actId="1035"/>
          <ac:spMkLst>
            <pc:docMk/>
            <pc:sldMk cId="2744477780" sldId="257"/>
            <ac:spMk id="123" creationId="{00000000-0000-0000-0000-000000000000}"/>
          </ac:spMkLst>
        </pc:spChg>
        <pc:spChg chg="mod">
          <ac:chgData name="Welthan Ang" userId="4d7a8c4131a718d2" providerId="LiveId" clId="{E4C0A9F5-59A8-4BF5-B5A3-C130E9CD0FE2}" dt="2026-10-11T08:10:00.765" v="51" actId="1035"/>
          <ac:spMkLst>
            <pc:docMk/>
            <pc:sldMk cId="2744477780" sldId="257"/>
            <ac:spMk id="124" creationId="{00000000-0000-0000-0000-000000000000}"/>
          </ac:spMkLst>
        </pc:spChg>
        <pc:spChg chg="mod">
          <ac:chgData name="Welthan Ang" userId="4d7a8c4131a718d2" providerId="LiveId" clId="{E4C0A9F5-59A8-4BF5-B5A3-C130E9CD0FE2}" dt="2026-10-11T08:10:00.765" v="51" actId="1035"/>
          <ac:spMkLst>
            <pc:docMk/>
            <pc:sldMk cId="2744477780" sldId="257"/>
            <ac:spMk id="126" creationId="{00000000-0000-0000-0000-000000000000}"/>
          </ac:spMkLst>
        </pc:spChg>
        <pc:spChg chg="mod">
          <ac:chgData name="Welthan Ang" userId="4d7a8c4131a718d2" providerId="LiveId" clId="{E4C0A9F5-59A8-4BF5-B5A3-C130E9CD0FE2}" dt="2026-10-11T08:10:00.765" v="51" actId="1035"/>
          <ac:spMkLst>
            <pc:docMk/>
            <pc:sldMk cId="2744477780" sldId="257"/>
            <ac:spMk id="127" creationId="{00000000-0000-0000-0000-000000000000}"/>
          </ac:spMkLst>
        </pc:spChg>
        <pc:picChg chg="mod">
          <ac:chgData name="Welthan Ang" userId="4d7a8c4131a718d2" providerId="LiveId" clId="{E4C0A9F5-59A8-4BF5-B5A3-C130E9CD0FE2}" dt="2026-10-11T08:09:39.745" v="41" actId="1035"/>
          <ac:picMkLst>
            <pc:docMk/>
            <pc:sldMk cId="2744477780" sldId="257"/>
            <ac:picMk id="118" creationId="{00000000-0000-0000-0000-000000000000}"/>
          </ac:picMkLst>
        </pc:picChg>
        <pc:picChg chg="mod">
          <ac:chgData name="Welthan Ang" userId="4d7a8c4131a718d2" providerId="LiveId" clId="{E4C0A9F5-59A8-4BF5-B5A3-C130E9CD0FE2}" dt="2026-10-11T08:10:00.765" v="51" actId="1035"/>
          <ac:picMkLst>
            <pc:docMk/>
            <pc:sldMk cId="2744477780" sldId="257"/>
            <ac:picMk id="122" creationId="{00000000-0000-0000-0000-000000000000}"/>
          </ac:picMkLst>
        </pc:picChg>
        <pc:picChg chg="mod">
          <ac:chgData name="Welthan Ang" userId="4d7a8c4131a718d2" providerId="LiveId" clId="{E4C0A9F5-59A8-4BF5-B5A3-C130E9CD0FE2}" dt="2026-10-11T08:10:00.765" v="51" actId="1035"/>
          <ac:picMkLst>
            <pc:docMk/>
            <pc:sldMk cId="2744477780" sldId="257"/>
            <ac:picMk id="125" creationId="{00000000-0000-0000-0000-000000000000}"/>
          </ac:picMkLst>
        </pc:picChg>
      </pc:sldChg>
      <pc:sldChg chg="modSp mod">
        <pc:chgData name="Welthan Ang" userId="4d7a8c4131a718d2" providerId="LiveId" clId="{E4C0A9F5-59A8-4BF5-B5A3-C130E9CD0FE2}" dt="2026-10-11T08:23:39.614" v="177" actId="1035"/>
        <pc:sldMkLst>
          <pc:docMk/>
          <pc:sldMk cId="3227380509" sldId="258"/>
        </pc:sldMkLst>
        <pc:spChg chg="mod">
          <ac:chgData name="Welthan Ang" userId="4d7a8c4131a718d2" providerId="LiveId" clId="{E4C0A9F5-59A8-4BF5-B5A3-C130E9CD0FE2}" dt="2026-10-11T08:10:53.015" v="57" actId="1076"/>
          <ac:spMkLst>
            <pc:docMk/>
            <pc:sldMk cId="3227380509" sldId="258"/>
            <ac:spMk id="83" creationId="{00000000-0000-0000-0000-000000000000}"/>
          </ac:spMkLst>
        </pc:spChg>
        <pc:spChg chg="mod">
          <ac:chgData name="Welthan Ang" userId="4d7a8c4131a718d2" providerId="LiveId" clId="{E4C0A9F5-59A8-4BF5-B5A3-C130E9CD0FE2}" dt="2026-10-11T08:23:39.614" v="177" actId="1035"/>
          <ac:spMkLst>
            <pc:docMk/>
            <pc:sldMk cId="3227380509" sldId="258"/>
            <ac:spMk id="84" creationId="{00000000-0000-0000-0000-000000000000}"/>
          </ac:spMkLst>
        </pc:spChg>
        <pc:spChg chg="mod">
          <ac:chgData name="Welthan Ang" userId="4d7a8c4131a718d2" providerId="LiveId" clId="{E4C0A9F5-59A8-4BF5-B5A3-C130E9CD0FE2}" dt="2026-10-11T08:13:52.858" v="88" actId="14100"/>
          <ac:spMkLst>
            <pc:docMk/>
            <pc:sldMk cId="3227380509" sldId="258"/>
            <ac:spMk id="86" creationId="{00000000-0000-0000-0000-000000000000}"/>
          </ac:spMkLst>
        </pc:spChg>
        <pc:spChg chg="mod">
          <ac:chgData name="Welthan Ang" userId="4d7a8c4131a718d2" providerId="LiveId" clId="{E4C0A9F5-59A8-4BF5-B5A3-C130E9CD0FE2}" dt="2026-10-11T08:13:48.044" v="87" actId="1076"/>
          <ac:spMkLst>
            <pc:docMk/>
            <pc:sldMk cId="3227380509" sldId="258"/>
            <ac:spMk id="87" creationId="{00000000-0000-0000-0000-000000000000}"/>
          </ac:spMkLst>
        </pc:spChg>
        <pc:spChg chg="mod">
          <ac:chgData name="Welthan Ang" userId="4d7a8c4131a718d2" providerId="LiveId" clId="{E4C0A9F5-59A8-4BF5-B5A3-C130E9CD0FE2}" dt="2026-10-11T08:13:48.044" v="87" actId="1076"/>
          <ac:spMkLst>
            <pc:docMk/>
            <pc:sldMk cId="3227380509" sldId="258"/>
            <ac:spMk id="88" creationId="{00000000-0000-0000-0000-000000000000}"/>
          </ac:spMkLst>
        </pc:spChg>
        <pc:spChg chg="mod">
          <ac:chgData name="Welthan Ang" userId="4d7a8c4131a718d2" providerId="LiveId" clId="{E4C0A9F5-59A8-4BF5-B5A3-C130E9CD0FE2}" dt="2026-10-11T08:14:29.755" v="91" actId="14100"/>
          <ac:spMkLst>
            <pc:docMk/>
            <pc:sldMk cId="3227380509" sldId="258"/>
            <ac:spMk id="90" creationId="{00000000-0000-0000-0000-000000000000}"/>
          </ac:spMkLst>
        </pc:spChg>
        <pc:spChg chg="mod">
          <ac:chgData name="Welthan Ang" userId="4d7a8c4131a718d2" providerId="LiveId" clId="{E4C0A9F5-59A8-4BF5-B5A3-C130E9CD0FE2}" dt="2026-10-11T08:13:48.044" v="87" actId="1076"/>
          <ac:spMkLst>
            <pc:docMk/>
            <pc:sldMk cId="3227380509" sldId="258"/>
            <ac:spMk id="91" creationId="{00000000-0000-0000-0000-000000000000}"/>
          </ac:spMkLst>
        </pc:spChg>
        <pc:spChg chg="mod">
          <ac:chgData name="Welthan Ang" userId="4d7a8c4131a718d2" providerId="LiveId" clId="{E4C0A9F5-59A8-4BF5-B5A3-C130E9CD0FE2}" dt="2026-10-11T08:14:34.052" v="92" actId="14100"/>
          <ac:spMkLst>
            <pc:docMk/>
            <pc:sldMk cId="3227380509" sldId="258"/>
            <ac:spMk id="92" creationId="{00000000-0000-0000-0000-000000000000}"/>
          </ac:spMkLst>
        </pc:spChg>
        <pc:spChg chg="mod">
          <ac:chgData name="Welthan Ang" userId="4d7a8c4131a718d2" providerId="LiveId" clId="{E4C0A9F5-59A8-4BF5-B5A3-C130E9CD0FE2}" dt="2026-10-11T08:11:52.350" v="65" actId="20577"/>
          <ac:spMkLst>
            <pc:docMk/>
            <pc:sldMk cId="3227380509" sldId="258"/>
            <ac:spMk id="93" creationId="{00000000-0000-0000-0000-000000000000}"/>
          </ac:spMkLst>
        </pc:spChg>
        <pc:spChg chg="mod">
          <ac:chgData name="Welthan Ang" userId="4d7a8c4131a718d2" providerId="LiveId" clId="{E4C0A9F5-59A8-4BF5-B5A3-C130E9CD0FE2}" dt="2026-10-11T08:14:39.957" v="93" actId="14100"/>
          <ac:spMkLst>
            <pc:docMk/>
            <pc:sldMk cId="3227380509" sldId="258"/>
            <ac:spMk id="94" creationId="{00000000-0000-0000-0000-000000000000}"/>
          </ac:spMkLst>
        </pc:spChg>
        <pc:spChg chg="mod">
          <ac:chgData name="Welthan Ang" userId="4d7a8c4131a718d2" providerId="LiveId" clId="{E4C0A9F5-59A8-4BF5-B5A3-C130E9CD0FE2}" dt="2026-10-11T08:15:28.646" v="121" actId="20577"/>
          <ac:spMkLst>
            <pc:docMk/>
            <pc:sldMk cId="3227380509" sldId="258"/>
            <ac:spMk id="95" creationId="{00000000-0000-0000-0000-000000000000}"/>
          </ac:spMkLst>
        </pc:spChg>
        <pc:spChg chg="mod">
          <ac:chgData name="Welthan Ang" userId="4d7a8c4131a718d2" providerId="LiveId" clId="{E4C0A9F5-59A8-4BF5-B5A3-C130E9CD0FE2}" dt="2026-10-11T08:14:43.252" v="94" actId="14100"/>
          <ac:spMkLst>
            <pc:docMk/>
            <pc:sldMk cId="3227380509" sldId="258"/>
            <ac:spMk id="96" creationId="{00000000-0000-0000-0000-000000000000}"/>
          </ac:spMkLst>
        </pc:spChg>
        <pc:spChg chg="mod">
          <ac:chgData name="Welthan Ang" userId="4d7a8c4131a718d2" providerId="LiveId" clId="{E4C0A9F5-59A8-4BF5-B5A3-C130E9CD0FE2}" dt="2026-10-11T08:21:08.348" v="163" actId="20577"/>
          <ac:spMkLst>
            <pc:docMk/>
            <pc:sldMk cId="3227380509" sldId="258"/>
            <ac:spMk id="97" creationId="{00000000-0000-0000-0000-000000000000}"/>
          </ac:spMkLst>
        </pc:spChg>
        <pc:spChg chg="mod">
          <ac:chgData name="Welthan Ang" userId="4d7a8c4131a718d2" providerId="LiveId" clId="{E4C0A9F5-59A8-4BF5-B5A3-C130E9CD0FE2}" dt="2026-10-11T08:21:40.080" v="164" actId="14100"/>
          <ac:spMkLst>
            <pc:docMk/>
            <pc:sldMk cId="3227380509" sldId="258"/>
            <ac:spMk id="98" creationId="{00000000-0000-0000-0000-000000000000}"/>
          </ac:spMkLst>
        </pc:spChg>
        <pc:spChg chg="mod">
          <ac:chgData name="Welthan Ang" userId="4d7a8c4131a718d2" providerId="LiveId" clId="{E4C0A9F5-59A8-4BF5-B5A3-C130E9CD0FE2}" dt="2026-10-11T08:18:29.381" v="147" actId="1076"/>
          <ac:spMkLst>
            <pc:docMk/>
            <pc:sldMk cId="3227380509" sldId="258"/>
            <ac:spMk id="101" creationId="{00000000-0000-0000-0000-000000000000}"/>
          </ac:spMkLst>
        </pc:spChg>
        <pc:spChg chg="mod">
          <ac:chgData name="Welthan Ang" userId="4d7a8c4131a718d2" providerId="LiveId" clId="{E4C0A9F5-59A8-4BF5-B5A3-C130E9CD0FE2}" dt="2026-10-11T08:17:05.506" v="128" actId="12"/>
          <ac:spMkLst>
            <pc:docMk/>
            <pc:sldMk cId="3227380509" sldId="258"/>
            <ac:spMk id="107" creationId="{00000000-0000-0000-0000-000000000000}"/>
          </ac:spMkLst>
        </pc:spChg>
        <pc:spChg chg="mod">
          <ac:chgData name="Welthan Ang" userId="4d7a8c4131a718d2" providerId="LiveId" clId="{E4C0A9F5-59A8-4BF5-B5A3-C130E9CD0FE2}" dt="2026-10-11T08:18:40.557" v="149" actId="1076"/>
          <ac:spMkLst>
            <pc:docMk/>
            <pc:sldMk cId="3227380509" sldId="258"/>
            <ac:spMk id="111" creationId="{00000000-0000-0000-0000-000000000000}"/>
          </ac:spMkLst>
        </pc:spChg>
        <pc:spChg chg="mod">
          <ac:chgData name="Welthan Ang" userId="4d7a8c4131a718d2" providerId="LiveId" clId="{E4C0A9F5-59A8-4BF5-B5A3-C130E9CD0FE2}" dt="2026-10-11T08:19:17.541" v="154" actId="1076"/>
          <ac:spMkLst>
            <pc:docMk/>
            <pc:sldMk cId="3227380509" sldId="258"/>
            <ac:spMk id="112" creationId="{00000000-0000-0000-0000-000000000000}"/>
          </ac:spMkLst>
        </pc:spChg>
        <pc:spChg chg="mod">
          <ac:chgData name="Welthan Ang" userId="4d7a8c4131a718d2" providerId="LiveId" clId="{E4C0A9F5-59A8-4BF5-B5A3-C130E9CD0FE2}" dt="2026-10-11T08:19:33.273" v="157" actId="20577"/>
          <ac:spMkLst>
            <pc:docMk/>
            <pc:sldMk cId="3227380509" sldId="258"/>
            <ac:spMk id="113" creationId="{00000000-0000-0000-0000-000000000000}"/>
          </ac:spMkLst>
        </pc:spChg>
        <pc:spChg chg="mod">
          <ac:chgData name="Welthan Ang" userId="4d7a8c4131a718d2" providerId="LiveId" clId="{E4C0A9F5-59A8-4BF5-B5A3-C130E9CD0FE2}" dt="2026-10-11T08:21:58.074" v="170" actId="14100"/>
          <ac:spMkLst>
            <pc:docMk/>
            <pc:sldMk cId="3227380509" sldId="258"/>
            <ac:spMk id="114" creationId="{00000000-0000-0000-0000-000000000000}"/>
          </ac:spMkLst>
        </pc:spChg>
        <pc:spChg chg="mod">
          <ac:chgData name="Welthan Ang" userId="4d7a8c4131a718d2" providerId="LiveId" clId="{E4C0A9F5-59A8-4BF5-B5A3-C130E9CD0FE2}" dt="2026-10-11T08:21:48.818" v="169" actId="1036"/>
          <ac:spMkLst>
            <pc:docMk/>
            <pc:sldMk cId="3227380509" sldId="258"/>
            <ac:spMk id="115" creationId="{00000000-0000-0000-0000-000000000000}"/>
          </ac:spMkLst>
        </pc:spChg>
        <pc:spChg chg="mod">
          <ac:chgData name="Welthan Ang" userId="4d7a8c4131a718d2" providerId="LiveId" clId="{E4C0A9F5-59A8-4BF5-B5A3-C130E9CD0FE2}" dt="2026-10-11T08:21:48.818" v="169" actId="1036"/>
          <ac:spMkLst>
            <pc:docMk/>
            <pc:sldMk cId="3227380509" sldId="258"/>
            <ac:spMk id="116" creationId="{00000000-0000-0000-0000-000000000000}"/>
          </ac:spMkLst>
        </pc:spChg>
        <pc:spChg chg="mod">
          <ac:chgData name="Welthan Ang" userId="4d7a8c4131a718d2" providerId="LiveId" clId="{E4C0A9F5-59A8-4BF5-B5A3-C130E9CD0FE2}" dt="2026-10-11T08:21:48.818" v="169" actId="1036"/>
          <ac:spMkLst>
            <pc:docMk/>
            <pc:sldMk cId="3227380509" sldId="258"/>
            <ac:spMk id="117" creationId="{00000000-0000-0000-0000-000000000000}"/>
          </ac:spMkLst>
        </pc:spChg>
        <pc:spChg chg="mod">
          <ac:chgData name="Welthan Ang" userId="4d7a8c4131a718d2" providerId="LiveId" clId="{E4C0A9F5-59A8-4BF5-B5A3-C130E9CD0FE2}" dt="2026-10-11T08:21:48.818" v="169" actId="1036"/>
          <ac:spMkLst>
            <pc:docMk/>
            <pc:sldMk cId="3227380509" sldId="258"/>
            <ac:spMk id="118" creationId="{00000000-0000-0000-0000-000000000000}"/>
          </ac:spMkLst>
        </pc:spChg>
        <pc:spChg chg="mod">
          <ac:chgData name="Welthan Ang" userId="4d7a8c4131a718d2" providerId="LiveId" clId="{E4C0A9F5-59A8-4BF5-B5A3-C130E9CD0FE2}" dt="2026-10-11T08:21:48.818" v="169" actId="1036"/>
          <ac:spMkLst>
            <pc:docMk/>
            <pc:sldMk cId="3227380509" sldId="258"/>
            <ac:spMk id="120" creationId="{00000000-0000-0000-0000-000000000000}"/>
          </ac:spMkLst>
        </pc:spChg>
        <pc:spChg chg="mod">
          <ac:chgData name="Welthan Ang" userId="4d7a8c4131a718d2" providerId="LiveId" clId="{E4C0A9F5-59A8-4BF5-B5A3-C130E9CD0FE2}" dt="2026-10-11T08:21:48.818" v="169" actId="1036"/>
          <ac:spMkLst>
            <pc:docMk/>
            <pc:sldMk cId="3227380509" sldId="258"/>
            <ac:spMk id="121" creationId="{00000000-0000-0000-0000-000000000000}"/>
          </ac:spMkLst>
        </pc:spChg>
        <pc:spChg chg="mod">
          <ac:chgData name="Welthan Ang" userId="4d7a8c4131a718d2" providerId="LiveId" clId="{E4C0A9F5-59A8-4BF5-B5A3-C130E9CD0FE2}" dt="2026-10-11T08:21:48.818" v="169" actId="1036"/>
          <ac:spMkLst>
            <pc:docMk/>
            <pc:sldMk cId="3227380509" sldId="258"/>
            <ac:spMk id="122" creationId="{00000000-0000-0000-0000-000000000000}"/>
          </ac:spMkLst>
        </pc:spChg>
        <pc:spChg chg="mod">
          <ac:chgData name="Welthan Ang" userId="4d7a8c4131a718d2" providerId="LiveId" clId="{E4C0A9F5-59A8-4BF5-B5A3-C130E9CD0FE2}" dt="2026-10-11T08:21:48.818" v="169" actId="1036"/>
          <ac:spMkLst>
            <pc:docMk/>
            <pc:sldMk cId="3227380509" sldId="258"/>
            <ac:spMk id="123" creationId="{00000000-0000-0000-0000-000000000000}"/>
          </ac:spMkLst>
        </pc:spChg>
        <pc:spChg chg="mod">
          <ac:chgData name="Welthan Ang" userId="4d7a8c4131a718d2" providerId="LiveId" clId="{E4C0A9F5-59A8-4BF5-B5A3-C130E9CD0FE2}" dt="2026-10-11T08:21:48.818" v="169" actId="1036"/>
          <ac:spMkLst>
            <pc:docMk/>
            <pc:sldMk cId="3227380509" sldId="258"/>
            <ac:spMk id="124" creationId="{00000000-0000-0000-0000-000000000000}"/>
          </ac:spMkLst>
        </pc:spChg>
        <pc:spChg chg="mod">
          <ac:chgData name="Welthan Ang" userId="4d7a8c4131a718d2" providerId="LiveId" clId="{E4C0A9F5-59A8-4BF5-B5A3-C130E9CD0FE2}" dt="2026-10-11T08:21:48.818" v="169" actId="1036"/>
          <ac:spMkLst>
            <pc:docMk/>
            <pc:sldMk cId="3227380509" sldId="258"/>
            <ac:spMk id="126" creationId="{00000000-0000-0000-0000-000000000000}"/>
          </ac:spMkLst>
        </pc:spChg>
        <pc:spChg chg="mod">
          <ac:chgData name="Welthan Ang" userId="4d7a8c4131a718d2" providerId="LiveId" clId="{E4C0A9F5-59A8-4BF5-B5A3-C130E9CD0FE2}" dt="2026-10-11T08:20:46.849" v="160" actId="1076"/>
          <ac:spMkLst>
            <pc:docMk/>
            <pc:sldMk cId="3227380509" sldId="258"/>
            <ac:spMk id="127" creationId="{00000000-0000-0000-0000-000000000000}"/>
          </ac:spMkLst>
        </pc:spChg>
        <pc:spChg chg="mod">
          <ac:chgData name="Welthan Ang" userId="4d7a8c4131a718d2" providerId="LiveId" clId="{E4C0A9F5-59A8-4BF5-B5A3-C130E9CD0FE2}" dt="2026-10-11T08:22:10.907" v="173" actId="1036"/>
          <ac:spMkLst>
            <pc:docMk/>
            <pc:sldMk cId="3227380509" sldId="258"/>
            <ac:spMk id="151" creationId="{00000000-0000-0000-0000-000000000000}"/>
          </ac:spMkLst>
        </pc:spChg>
        <pc:spChg chg="mod">
          <ac:chgData name="Welthan Ang" userId="4d7a8c4131a718d2" providerId="LiveId" clId="{E4C0A9F5-59A8-4BF5-B5A3-C130E9CD0FE2}" dt="2026-10-11T08:22:10.907" v="173" actId="1036"/>
          <ac:spMkLst>
            <pc:docMk/>
            <pc:sldMk cId="3227380509" sldId="258"/>
            <ac:spMk id="152" creationId="{00000000-0000-0000-0000-000000000000}"/>
          </ac:spMkLst>
        </pc:spChg>
        <pc:graphicFrameChg chg="mod modGraphic">
          <ac:chgData name="Welthan Ang" userId="4d7a8c4131a718d2" providerId="LiveId" clId="{E4C0A9F5-59A8-4BF5-B5A3-C130E9CD0FE2}" dt="2026-10-11T08:17:44.170" v="138" actId="14734"/>
          <ac:graphicFrameMkLst>
            <pc:docMk/>
            <pc:sldMk cId="3227380509" sldId="258"/>
            <ac:graphicFrameMk id="103" creationId="{00000000-0000-0000-0000-000000000000}"/>
          </ac:graphicFrameMkLst>
        </pc:graphicFrameChg>
        <pc:picChg chg="mod">
          <ac:chgData name="Welthan Ang" userId="4d7a8c4131a718d2" providerId="LiveId" clId="{E4C0A9F5-59A8-4BF5-B5A3-C130E9CD0FE2}" dt="2026-10-11T08:19:59.961" v="158" actId="14100"/>
          <ac:picMkLst>
            <pc:docMk/>
            <pc:sldMk cId="3227380509" sldId="258"/>
            <ac:picMk id="108" creationId="{00000000-0000-0000-0000-000000000000}"/>
          </ac:picMkLst>
        </pc:picChg>
        <pc:picChg chg="mod">
          <ac:chgData name="Welthan Ang" userId="4d7a8c4131a718d2" providerId="LiveId" clId="{E4C0A9F5-59A8-4BF5-B5A3-C130E9CD0FE2}" dt="2026-10-11T08:18:44.588" v="150" actId="1076"/>
          <ac:picMkLst>
            <pc:docMk/>
            <pc:sldMk cId="3227380509" sldId="258"/>
            <ac:picMk id="110" creationId="{00000000-0000-0000-0000-000000000000}"/>
          </ac:picMkLst>
        </pc:picChg>
      </pc:sldChg>
    </pc:docChg>
  </pc:docChgLst>
  <pc:docChgLst>
    <pc:chgData name="Nguwi Yok Yen (Dr)" userId="23d1ce12-ec48-4e36-872a-07df5206eee7" providerId="ADAL" clId="{82407CED-64C4-45EC-8F80-2E4F67E40698}"/>
    <pc:docChg chg="modSld">
      <pc:chgData name="Nguwi Yok Yen (Dr)" userId="23d1ce12-ec48-4e36-872a-07df5206eee7" providerId="ADAL" clId="{82407CED-64C4-45EC-8F80-2E4F67E40698}" dt="2026-10-07T08:51:32.515" v="20" actId="20577"/>
      <pc:docMkLst>
        <pc:docMk/>
      </pc:docMkLst>
      <pc:sldChg chg="modSp mod">
        <pc:chgData name="Nguwi Yok Yen (Dr)" userId="23d1ce12-ec48-4e36-872a-07df5206eee7" providerId="ADAL" clId="{82407CED-64C4-45EC-8F80-2E4F67E40698}" dt="2026-10-07T08:51:19.739" v="6" actId="20577"/>
        <pc:sldMkLst>
          <pc:docMk/>
          <pc:sldMk cId="2744477780" sldId="257"/>
        </pc:sldMkLst>
        <pc:spChg chg="mod">
          <ac:chgData name="Nguwi Yok Yen (Dr)" userId="23d1ce12-ec48-4e36-872a-07df5206eee7" providerId="ADAL" clId="{82407CED-64C4-45EC-8F80-2E4F67E40698}" dt="2026-10-07T08:51:19.739" v="6" actId="20577"/>
          <ac:spMkLst>
            <pc:docMk/>
            <pc:sldMk cId="2744477780" sldId="257"/>
            <ac:spMk id="12" creationId="{3553373E-F7B3-4291-8CC9-CFA3085C0DED}"/>
          </ac:spMkLst>
        </pc:spChg>
      </pc:sldChg>
      <pc:sldChg chg="modSp mod">
        <pc:chgData name="Nguwi Yok Yen (Dr)" userId="23d1ce12-ec48-4e36-872a-07df5206eee7" providerId="ADAL" clId="{82407CED-64C4-45EC-8F80-2E4F67E40698}" dt="2026-10-07T08:51:32.515" v="20" actId="20577"/>
        <pc:sldMkLst>
          <pc:docMk/>
          <pc:sldMk cId="3227380509" sldId="258"/>
        </pc:sldMkLst>
        <pc:spChg chg="mod">
          <ac:chgData name="Nguwi Yok Yen (Dr)" userId="23d1ce12-ec48-4e36-872a-07df5206eee7" providerId="ADAL" clId="{82407CED-64C4-45EC-8F80-2E4F67E40698}" dt="2026-10-07T08:51:32.515" v="20" actId="20577"/>
          <ac:spMkLst>
            <pc:docMk/>
            <pc:sldMk cId="3227380509" sldId="258"/>
            <ac:spMk id="12" creationId="{3553373E-F7B3-4291-8CC9-CFA3085C0D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6B6A40-DE7B-449B-9E54-14CB95103D42}" type="datetimeFigureOut">
              <a:rPr lang="en-SG" smtClean="0"/>
              <a:t>11/10/2026</a:t>
            </a:fld>
            <a:endParaRPr lang="en-SG"/>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953E6D-CD41-4758-B693-33696431605C}" type="slidenum">
              <a:rPr lang="en-SG" smtClean="0"/>
              <a:t>‹#›</a:t>
            </a:fld>
            <a:endParaRPr lang="en-SG"/>
          </a:p>
        </p:txBody>
      </p:sp>
    </p:spTree>
    <p:extLst>
      <p:ext uri="{BB962C8B-B14F-4D97-AF65-F5344CB8AC3E}">
        <p14:creationId xmlns:p14="http://schemas.microsoft.com/office/powerpoint/2010/main" val="2508294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Implementing sentiment analysis: flow chart?</a:t>
            </a:r>
          </a:p>
          <a:p>
            <a:r>
              <a:rPr lang="en-SG" dirty="0"/>
              <a:t>Drawbacks: Pie chart?</a:t>
            </a:r>
          </a:p>
          <a:p>
            <a:r>
              <a:rPr lang="en-SG" dirty="0"/>
              <a:t>Results: Line/Bar chart?</a:t>
            </a:r>
          </a:p>
          <a:p>
            <a:endParaRPr lang="en-SG" dirty="0"/>
          </a:p>
          <a:p>
            <a:r>
              <a:rPr lang="en-SG" dirty="0"/>
              <a:t>SCRAPE TWITTER BEAUTIFUL SOUP </a:t>
            </a:r>
          </a:p>
          <a:p>
            <a:r>
              <a:rPr lang="en-SG" dirty="0"/>
              <a:t>Proposed model, financial events studied, discussion. </a:t>
            </a:r>
          </a:p>
        </p:txBody>
      </p:sp>
      <p:sp>
        <p:nvSpPr>
          <p:cNvPr id="4" name="Slide Number Placeholder 3"/>
          <p:cNvSpPr>
            <a:spLocks noGrp="1"/>
          </p:cNvSpPr>
          <p:nvPr>
            <p:ph type="sldNum" sz="quarter" idx="5"/>
          </p:nvPr>
        </p:nvSpPr>
        <p:spPr/>
        <p:txBody>
          <a:bodyPr/>
          <a:lstStyle/>
          <a:p>
            <a:fld id="{3B953E6D-CD41-4758-B693-33696431605C}" type="slidenum">
              <a:rPr lang="en-SG" smtClean="0"/>
              <a:t>1</a:t>
            </a:fld>
            <a:endParaRPr lang="en-SG"/>
          </a:p>
        </p:txBody>
      </p:sp>
    </p:spTree>
    <p:extLst>
      <p:ext uri="{BB962C8B-B14F-4D97-AF65-F5344CB8AC3E}">
        <p14:creationId xmlns:p14="http://schemas.microsoft.com/office/powerpoint/2010/main" val="691927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Implementing sentiment analysis: flow chart?</a:t>
            </a:r>
          </a:p>
          <a:p>
            <a:r>
              <a:rPr lang="en-SG" dirty="0"/>
              <a:t>Drawbacks: Pie chart?</a:t>
            </a:r>
          </a:p>
          <a:p>
            <a:r>
              <a:rPr lang="en-SG" dirty="0"/>
              <a:t>Results: Line/Bar chart?</a:t>
            </a:r>
          </a:p>
          <a:p>
            <a:endParaRPr lang="en-SG" dirty="0"/>
          </a:p>
          <a:p>
            <a:r>
              <a:rPr lang="en-SG" dirty="0"/>
              <a:t>SCRAPE TWITTER BEAUTIFUL SOUP </a:t>
            </a:r>
          </a:p>
          <a:p>
            <a:r>
              <a:rPr lang="en-SG" dirty="0"/>
              <a:t>Proposed model, financial events studied, discussion. </a:t>
            </a:r>
          </a:p>
        </p:txBody>
      </p:sp>
      <p:sp>
        <p:nvSpPr>
          <p:cNvPr id="4" name="Slide Number Placeholder 3"/>
          <p:cNvSpPr>
            <a:spLocks noGrp="1"/>
          </p:cNvSpPr>
          <p:nvPr>
            <p:ph type="sldNum" sz="quarter" idx="5"/>
          </p:nvPr>
        </p:nvSpPr>
        <p:spPr/>
        <p:txBody>
          <a:bodyPr/>
          <a:lstStyle/>
          <a:p>
            <a:fld id="{3B953E6D-CD41-4758-B693-33696431605C}" type="slidenum">
              <a:rPr lang="en-SG" smtClean="0"/>
              <a:t>2</a:t>
            </a:fld>
            <a:endParaRPr lang="en-SG"/>
          </a:p>
        </p:txBody>
      </p:sp>
    </p:spTree>
    <p:extLst>
      <p:ext uri="{BB962C8B-B14F-4D97-AF65-F5344CB8AC3E}">
        <p14:creationId xmlns:p14="http://schemas.microsoft.com/office/powerpoint/2010/main" val="1668266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010" y="9406424"/>
            <a:ext cx="18178780" cy="6490568"/>
          </a:xfrm>
        </p:spPr>
        <p:txBody>
          <a:bodyPr/>
          <a:lstStyle/>
          <a:p>
            <a:r>
              <a:rPr lang="en-US"/>
              <a:t>Click to edit Master title style</a:t>
            </a:r>
            <a:endParaRPr lang="en-SG"/>
          </a:p>
        </p:txBody>
      </p:sp>
      <p:sp>
        <p:nvSpPr>
          <p:cNvPr id="3" name="Subtitle 2"/>
          <p:cNvSpPr>
            <a:spLocks noGrp="1"/>
          </p:cNvSpPr>
          <p:nvPr>
            <p:ph type="subTitle" idx="1"/>
          </p:nvPr>
        </p:nvSpPr>
        <p:spPr>
          <a:xfrm>
            <a:off x="3208020" y="17158652"/>
            <a:ext cx="14970760" cy="7738216"/>
          </a:xfrm>
        </p:spPr>
        <p:txBody>
          <a:bodyPr/>
          <a:lstStyle>
            <a:lvl1pPr marL="0" indent="0" algn="ctr">
              <a:buNone/>
              <a:defRPr>
                <a:solidFill>
                  <a:schemeClr val="tx1">
                    <a:tint val="75000"/>
                  </a:schemeClr>
                </a:solidFill>
              </a:defRPr>
            </a:lvl1pPr>
            <a:lvl2pPr marL="1476162" indent="0" algn="ctr">
              <a:buNone/>
              <a:defRPr>
                <a:solidFill>
                  <a:schemeClr val="tx1">
                    <a:tint val="75000"/>
                  </a:schemeClr>
                </a:solidFill>
              </a:defRPr>
            </a:lvl2pPr>
            <a:lvl3pPr marL="2952323" indent="0" algn="ctr">
              <a:buNone/>
              <a:defRPr>
                <a:solidFill>
                  <a:schemeClr val="tx1">
                    <a:tint val="75000"/>
                  </a:schemeClr>
                </a:solidFill>
              </a:defRPr>
            </a:lvl3pPr>
            <a:lvl4pPr marL="4428485" indent="0" algn="ctr">
              <a:buNone/>
              <a:defRPr>
                <a:solidFill>
                  <a:schemeClr val="tx1">
                    <a:tint val="75000"/>
                  </a:schemeClr>
                </a:solidFill>
              </a:defRPr>
            </a:lvl4pPr>
            <a:lvl5pPr marL="5904647" indent="0" algn="ctr">
              <a:buNone/>
              <a:defRPr>
                <a:solidFill>
                  <a:schemeClr val="tx1">
                    <a:tint val="75000"/>
                  </a:schemeClr>
                </a:solidFill>
              </a:defRPr>
            </a:lvl5pPr>
            <a:lvl6pPr marL="7380808" indent="0" algn="ctr">
              <a:buNone/>
              <a:defRPr>
                <a:solidFill>
                  <a:schemeClr val="tx1">
                    <a:tint val="75000"/>
                  </a:schemeClr>
                </a:solidFill>
              </a:defRPr>
            </a:lvl6pPr>
            <a:lvl7pPr marL="8856970" indent="0" algn="ctr">
              <a:buNone/>
              <a:defRPr>
                <a:solidFill>
                  <a:schemeClr val="tx1">
                    <a:tint val="75000"/>
                  </a:schemeClr>
                </a:solidFill>
              </a:defRPr>
            </a:lvl7pPr>
            <a:lvl8pPr marL="10333131" indent="0" algn="ctr">
              <a:buNone/>
              <a:defRPr>
                <a:solidFill>
                  <a:schemeClr val="tx1">
                    <a:tint val="75000"/>
                  </a:schemeClr>
                </a:solidFill>
              </a:defRPr>
            </a:lvl8pPr>
            <a:lvl9pPr marL="11809293" indent="0" algn="ctr">
              <a:buNone/>
              <a:defRPr>
                <a:solidFill>
                  <a:schemeClr val="tx1">
                    <a:tint val="75000"/>
                  </a:schemeClr>
                </a:solidFill>
              </a:defRPr>
            </a:lvl9pPr>
          </a:lstStyle>
          <a:p>
            <a:r>
              <a:rPr lang="en-US"/>
              <a:t>Click to edit Master subtitle style</a:t>
            </a:r>
            <a:endParaRPr lang="en-SG"/>
          </a:p>
        </p:txBody>
      </p:sp>
      <p:sp>
        <p:nvSpPr>
          <p:cNvPr id="4" name="Date Placeholder 3"/>
          <p:cNvSpPr>
            <a:spLocks noGrp="1"/>
          </p:cNvSpPr>
          <p:nvPr>
            <p:ph type="dt" sz="half" idx="10"/>
          </p:nvPr>
        </p:nvSpPr>
        <p:spPr/>
        <p:txBody>
          <a:bodyPr/>
          <a:lstStyle/>
          <a:p>
            <a:fld id="{4A77F9EA-1D9E-425C-8BD4-F896BB670254}" type="datetimeFigureOut">
              <a:rPr lang="en-SG" smtClean="0"/>
              <a:t>11/10/2026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3091013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4A77F9EA-1D9E-425C-8BD4-F896BB670254}" type="datetimeFigureOut">
              <a:rPr lang="en-SG" smtClean="0"/>
              <a:t>11/10/2026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1573820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9411" y="19457689"/>
            <a:ext cx="18178780" cy="6013939"/>
          </a:xfrm>
        </p:spPr>
        <p:txBody>
          <a:bodyPr anchor="t"/>
          <a:lstStyle>
            <a:lvl1pPr algn="l">
              <a:defRPr sz="12900" b="1" cap="all"/>
            </a:lvl1pPr>
          </a:lstStyle>
          <a:p>
            <a:r>
              <a:rPr lang="en-US"/>
              <a:t>Click to edit Master title style</a:t>
            </a:r>
            <a:endParaRPr lang="en-SG"/>
          </a:p>
        </p:txBody>
      </p:sp>
      <p:sp>
        <p:nvSpPr>
          <p:cNvPr id="3" name="Text Placeholder 2"/>
          <p:cNvSpPr>
            <a:spLocks noGrp="1"/>
          </p:cNvSpPr>
          <p:nvPr>
            <p:ph type="body" idx="1"/>
          </p:nvPr>
        </p:nvSpPr>
        <p:spPr>
          <a:xfrm>
            <a:off x="1689411" y="12833949"/>
            <a:ext cx="18178780" cy="6623741"/>
          </a:xfrm>
        </p:spPr>
        <p:txBody>
          <a:bodyPr anchor="b"/>
          <a:lstStyle>
            <a:lvl1pPr marL="0" indent="0">
              <a:buNone/>
              <a:defRPr sz="6500">
                <a:solidFill>
                  <a:schemeClr val="tx1">
                    <a:tint val="75000"/>
                  </a:schemeClr>
                </a:solidFill>
              </a:defRPr>
            </a:lvl1pPr>
            <a:lvl2pPr marL="1476162" indent="0">
              <a:buNone/>
              <a:defRPr sz="5800">
                <a:solidFill>
                  <a:schemeClr val="tx1">
                    <a:tint val="75000"/>
                  </a:schemeClr>
                </a:solidFill>
              </a:defRPr>
            </a:lvl2pPr>
            <a:lvl3pPr marL="2952323" indent="0">
              <a:buNone/>
              <a:defRPr sz="5200">
                <a:solidFill>
                  <a:schemeClr val="tx1">
                    <a:tint val="75000"/>
                  </a:schemeClr>
                </a:solidFill>
              </a:defRPr>
            </a:lvl3pPr>
            <a:lvl4pPr marL="4428485" indent="0">
              <a:buNone/>
              <a:defRPr sz="4500">
                <a:solidFill>
                  <a:schemeClr val="tx1">
                    <a:tint val="75000"/>
                  </a:schemeClr>
                </a:solidFill>
              </a:defRPr>
            </a:lvl4pPr>
            <a:lvl5pPr marL="5904647" indent="0">
              <a:buNone/>
              <a:defRPr sz="4500">
                <a:solidFill>
                  <a:schemeClr val="tx1">
                    <a:tint val="75000"/>
                  </a:schemeClr>
                </a:solidFill>
              </a:defRPr>
            </a:lvl5pPr>
            <a:lvl6pPr marL="7380808" indent="0">
              <a:buNone/>
              <a:defRPr sz="4500">
                <a:solidFill>
                  <a:schemeClr val="tx1">
                    <a:tint val="75000"/>
                  </a:schemeClr>
                </a:solidFill>
              </a:defRPr>
            </a:lvl6pPr>
            <a:lvl7pPr marL="8856970" indent="0">
              <a:buNone/>
              <a:defRPr sz="4500">
                <a:solidFill>
                  <a:schemeClr val="tx1">
                    <a:tint val="75000"/>
                  </a:schemeClr>
                </a:solidFill>
              </a:defRPr>
            </a:lvl7pPr>
            <a:lvl8pPr marL="10333131" indent="0">
              <a:buNone/>
              <a:defRPr sz="4500">
                <a:solidFill>
                  <a:schemeClr val="tx1">
                    <a:tint val="75000"/>
                  </a:schemeClr>
                </a:solidFill>
              </a:defRPr>
            </a:lvl8pPr>
            <a:lvl9pPr marL="11809293" indent="0">
              <a:buNone/>
              <a:defRPr sz="4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7F9EA-1D9E-425C-8BD4-F896BB670254}" type="datetimeFigureOut">
              <a:rPr lang="en-SG" smtClean="0"/>
              <a:t>11/10/2026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2075474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1069340" y="7065332"/>
            <a:ext cx="9445837" cy="19983383"/>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10871623" y="7065332"/>
            <a:ext cx="9445837" cy="19983383"/>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p:txBody>
          <a:bodyPr/>
          <a:lstStyle/>
          <a:p>
            <a:fld id="{4A77F9EA-1D9E-425C-8BD4-F896BB670254}" type="datetimeFigureOut">
              <a:rPr lang="en-SG" smtClean="0"/>
              <a:t>11/10/2026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50462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1069341" y="6777949"/>
            <a:ext cx="9449551"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4" name="Content Placeholder 3"/>
          <p:cNvSpPr>
            <a:spLocks noGrp="1"/>
          </p:cNvSpPr>
          <p:nvPr>
            <p:ph sz="half" idx="2"/>
          </p:nvPr>
        </p:nvSpPr>
        <p:spPr>
          <a:xfrm>
            <a:off x="1069341" y="9602676"/>
            <a:ext cx="9449551"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10864200" y="6777949"/>
            <a:ext cx="9453262"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6" name="Content Placeholder 5"/>
          <p:cNvSpPr>
            <a:spLocks noGrp="1"/>
          </p:cNvSpPr>
          <p:nvPr>
            <p:ph sz="quarter" idx="4"/>
          </p:nvPr>
        </p:nvSpPr>
        <p:spPr>
          <a:xfrm>
            <a:off x="10864200" y="9602676"/>
            <a:ext cx="9453262"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p:txBody>
          <a:bodyPr/>
          <a:lstStyle/>
          <a:p>
            <a:fld id="{4A77F9EA-1D9E-425C-8BD4-F896BB670254}" type="datetimeFigureOut">
              <a:rPr lang="en-SG" smtClean="0"/>
              <a:t>11/10/2026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342343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p:txBody>
          <a:bodyPr/>
          <a:lstStyle/>
          <a:p>
            <a:fld id="{4A77F9EA-1D9E-425C-8BD4-F896BB670254}" type="datetimeFigureOut">
              <a:rPr lang="en-SG" smtClean="0"/>
              <a:t>11/10/2026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2536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7F9EA-1D9E-425C-8BD4-F896BB670254}" type="datetimeFigureOut">
              <a:rPr lang="en-SG" smtClean="0"/>
              <a:t>11/10/2026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162371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41" y="1205592"/>
            <a:ext cx="7036111" cy="5130774"/>
          </a:xfrm>
        </p:spPr>
        <p:txBody>
          <a:bodyPr anchor="b"/>
          <a:lstStyle>
            <a:lvl1pPr algn="l">
              <a:defRPr sz="6500" b="1"/>
            </a:lvl1pPr>
          </a:lstStyle>
          <a:p>
            <a:r>
              <a:rPr lang="en-US"/>
              <a:t>Click to edit Master title style</a:t>
            </a:r>
            <a:endParaRPr lang="en-SG"/>
          </a:p>
        </p:txBody>
      </p:sp>
      <p:sp>
        <p:nvSpPr>
          <p:cNvPr id="3" name="Content Placeholder 2"/>
          <p:cNvSpPr>
            <a:spLocks noGrp="1"/>
          </p:cNvSpPr>
          <p:nvPr>
            <p:ph idx="1"/>
          </p:nvPr>
        </p:nvSpPr>
        <p:spPr>
          <a:xfrm>
            <a:off x="8361645" y="1205594"/>
            <a:ext cx="11955817" cy="25843121"/>
          </a:xfrm>
        </p:spPr>
        <p:txBody>
          <a:bodyPr/>
          <a:lstStyle>
            <a:lvl1pPr>
              <a:defRPr sz="10300"/>
            </a:lvl1pPr>
            <a:lvl2pPr>
              <a:defRPr sz="9000"/>
            </a:lvl2pPr>
            <a:lvl3pPr>
              <a:defRPr sz="7700"/>
            </a:lvl3pPr>
            <a:lvl4pPr>
              <a:defRPr sz="6500"/>
            </a:lvl4pPr>
            <a:lvl5pPr>
              <a:defRPr sz="6500"/>
            </a:lvl5pPr>
            <a:lvl6pPr>
              <a:defRPr sz="6500"/>
            </a:lvl6pPr>
            <a:lvl7pPr>
              <a:defRPr sz="6500"/>
            </a:lvl7pPr>
            <a:lvl8pPr>
              <a:defRPr sz="6500"/>
            </a:lvl8pPr>
            <a:lvl9pPr>
              <a:defRPr sz="6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1069341" y="6336368"/>
            <a:ext cx="7036111" cy="20712347"/>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p:txBody>
          <a:bodyPr/>
          <a:lstStyle/>
          <a:p>
            <a:fld id="{4A77F9EA-1D9E-425C-8BD4-F896BB670254}" type="datetimeFigureOut">
              <a:rPr lang="en-SG" smtClean="0"/>
              <a:t>11/10/2026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3721246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962" y="21195984"/>
            <a:ext cx="12832080" cy="2502307"/>
          </a:xfrm>
        </p:spPr>
        <p:txBody>
          <a:bodyPr anchor="b"/>
          <a:lstStyle>
            <a:lvl1pPr algn="l">
              <a:defRPr sz="6500" b="1"/>
            </a:lvl1pPr>
          </a:lstStyle>
          <a:p>
            <a:r>
              <a:rPr lang="en-US"/>
              <a:t>Click to edit Master title style</a:t>
            </a:r>
            <a:endParaRPr lang="en-SG"/>
          </a:p>
        </p:txBody>
      </p:sp>
      <p:sp>
        <p:nvSpPr>
          <p:cNvPr id="3" name="Picture Placeholder 2"/>
          <p:cNvSpPr>
            <a:spLocks noGrp="1"/>
          </p:cNvSpPr>
          <p:nvPr>
            <p:ph type="pic" idx="1"/>
          </p:nvPr>
        </p:nvSpPr>
        <p:spPr>
          <a:xfrm>
            <a:off x="4191962" y="2705571"/>
            <a:ext cx="12832080" cy="18167985"/>
          </a:xfrm>
        </p:spPr>
        <p:txBody>
          <a:bodyPr/>
          <a:lstStyle>
            <a:lvl1pPr marL="0" indent="0">
              <a:buNone/>
              <a:defRPr sz="10300"/>
            </a:lvl1pPr>
            <a:lvl2pPr marL="1476162" indent="0">
              <a:buNone/>
              <a:defRPr sz="9000"/>
            </a:lvl2pPr>
            <a:lvl3pPr marL="2952323" indent="0">
              <a:buNone/>
              <a:defRPr sz="7700"/>
            </a:lvl3pPr>
            <a:lvl4pPr marL="4428485" indent="0">
              <a:buNone/>
              <a:defRPr sz="6500"/>
            </a:lvl4pPr>
            <a:lvl5pPr marL="5904647" indent="0">
              <a:buNone/>
              <a:defRPr sz="6500"/>
            </a:lvl5pPr>
            <a:lvl6pPr marL="7380808" indent="0">
              <a:buNone/>
              <a:defRPr sz="6500"/>
            </a:lvl6pPr>
            <a:lvl7pPr marL="8856970" indent="0">
              <a:buNone/>
              <a:defRPr sz="6500"/>
            </a:lvl7pPr>
            <a:lvl8pPr marL="10333131" indent="0">
              <a:buNone/>
              <a:defRPr sz="6500"/>
            </a:lvl8pPr>
            <a:lvl9pPr marL="11809293" indent="0">
              <a:buNone/>
              <a:defRPr sz="6500"/>
            </a:lvl9pPr>
          </a:lstStyle>
          <a:p>
            <a:endParaRPr lang="en-SG"/>
          </a:p>
        </p:txBody>
      </p:sp>
      <p:sp>
        <p:nvSpPr>
          <p:cNvPr id="4" name="Text Placeholder 3"/>
          <p:cNvSpPr>
            <a:spLocks noGrp="1"/>
          </p:cNvSpPr>
          <p:nvPr>
            <p:ph type="body" sz="half" idx="2"/>
          </p:nvPr>
        </p:nvSpPr>
        <p:spPr>
          <a:xfrm>
            <a:off x="4191962" y="23698291"/>
            <a:ext cx="12832080" cy="3553688"/>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p:txBody>
          <a:bodyPr/>
          <a:lstStyle/>
          <a:p>
            <a:fld id="{4A77F9EA-1D9E-425C-8BD4-F896BB670254}" type="datetimeFigureOut">
              <a:rPr lang="en-SG" smtClean="0"/>
              <a:t>11/10/2026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3530377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4A77F9EA-1D9E-425C-8BD4-F896BB670254}" type="datetimeFigureOut">
              <a:rPr lang="en-SG" smtClean="0"/>
              <a:t>11/10/2026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4112667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05430" y="1212608"/>
            <a:ext cx="4812030" cy="25836107"/>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1069340" y="1212608"/>
            <a:ext cx="14079643" cy="25836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p:txBody>
          <a:bodyPr/>
          <a:lstStyle/>
          <a:p>
            <a:fld id="{4A77F9EA-1D9E-425C-8BD4-F896BB670254}" type="datetimeFigureOut">
              <a:rPr lang="en-SG" smtClean="0"/>
              <a:t>11/10/2026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A84C55DD-22BD-4FD6-A39F-7C28C896861D}" type="slidenum">
              <a:rPr lang="en-SG" smtClean="0"/>
              <a:t>‹#›</a:t>
            </a:fld>
            <a:endParaRPr lang="en-SG"/>
          </a:p>
        </p:txBody>
      </p:sp>
    </p:spTree>
    <p:extLst>
      <p:ext uri="{BB962C8B-B14F-4D97-AF65-F5344CB8AC3E}">
        <p14:creationId xmlns:p14="http://schemas.microsoft.com/office/powerpoint/2010/main" val="686952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340" y="1212603"/>
            <a:ext cx="19248120" cy="5046663"/>
          </a:xfrm>
          <a:prstGeom prst="rect">
            <a:avLst/>
          </a:prstGeom>
        </p:spPr>
        <p:txBody>
          <a:bodyPr vert="horz" lIns="295232" tIns="147616" rIns="295232" bIns="147616" rtlCol="0" anchor="ctr">
            <a:normAutofit/>
          </a:bodyPr>
          <a:lstStyle/>
          <a:p>
            <a:r>
              <a:rPr lang="en-US"/>
              <a:t>Click to edit Master title style</a:t>
            </a:r>
            <a:endParaRPr lang="en-SG"/>
          </a:p>
        </p:txBody>
      </p:sp>
      <p:sp>
        <p:nvSpPr>
          <p:cNvPr id="3" name="Text Placeholder 2"/>
          <p:cNvSpPr>
            <a:spLocks noGrp="1"/>
          </p:cNvSpPr>
          <p:nvPr>
            <p:ph type="body" idx="1"/>
          </p:nvPr>
        </p:nvSpPr>
        <p:spPr>
          <a:xfrm>
            <a:off x="1069340" y="7065332"/>
            <a:ext cx="19248120" cy="19983383"/>
          </a:xfrm>
          <a:prstGeom prst="rect">
            <a:avLst/>
          </a:prstGeom>
        </p:spPr>
        <p:txBody>
          <a:bodyPr vert="horz" lIns="295232" tIns="147616" rIns="295232" bIns="14761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2"/>
          </p:nvPr>
        </p:nvSpPr>
        <p:spPr>
          <a:xfrm>
            <a:off x="1069340" y="28065055"/>
            <a:ext cx="4990253" cy="1612127"/>
          </a:xfrm>
          <a:prstGeom prst="rect">
            <a:avLst/>
          </a:prstGeom>
        </p:spPr>
        <p:txBody>
          <a:bodyPr vert="horz" lIns="295232" tIns="147616" rIns="295232" bIns="147616" rtlCol="0" anchor="ctr"/>
          <a:lstStyle>
            <a:lvl1pPr algn="l">
              <a:defRPr sz="3900">
                <a:solidFill>
                  <a:schemeClr val="tx1">
                    <a:tint val="75000"/>
                  </a:schemeClr>
                </a:solidFill>
              </a:defRPr>
            </a:lvl1pPr>
          </a:lstStyle>
          <a:p>
            <a:fld id="{4A77F9EA-1D9E-425C-8BD4-F896BB670254}" type="datetimeFigureOut">
              <a:rPr lang="en-SG" smtClean="0"/>
              <a:t>11/10/2026</a:t>
            </a:fld>
            <a:endParaRPr lang="en-SG"/>
          </a:p>
        </p:txBody>
      </p:sp>
      <p:sp>
        <p:nvSpPr>
          <p:cNvPr id="5" name="Footer Placeholder 4"/>
          <p:cNvSpPr>
            <a:spLocks noGrp="1"/>
          </p:cNvSpPr>
          <p:nvPr>
            <p:ph type="ftr" sz="quarter" idx="3"/>
          </p:nvPr>
        </p:nvSpPr>
        <p:spPr>
          <a:xfrm>
            <a:off x="7307157" y="28065055"/>
            <a:ext cx="6772487" cy="1612127"/>
          </a:xfrm>
          <a:prstGeom prst="rect">
            <a:avLst/>
          </a:prstGeom>
        </p:spPr>
        <p:txBody>
          <a:bodyPr vert="horz" lIns="295232" tIns="147616" rIns="295232" bIns="147616" rtlCol="0" anchor="ctr"/>
          <a:lstStyle>
            <a:lvl1pPr algn="ctr">
              <a:defRPr sz="3900">
                <a:solidFill>
                  <a:schemeClr val="tx1">
                    <a:tint val="75000"/>
                  </a:schemeClr>
                </a:solidFill>
              </a:defRPr>
            </a:lvl1pPr>
          </a:lstStyle>
          <a:p>
            <a:endParaRPr lang="en-SG"/>
          </a:p>
        </p:txBody>
      </p:sp>
      <p:sp>
        <p:nvSpPr>
          <p:cNvPr id="6" name="Slide Number Placeholder 5"/>
          <p:cNvSpPr>
            <a:spLocks noGrp="1"/>
          </p:cNvSpPr>
          <p:nvPr>
            <p:ph type="sldNum" sz="quarter" idx="4"/>
          </p:nvPr>
        </p:nvSpPr>
        <p:spPr>
          <a:xfrm>
            <a:off x="15327207" y="28065055"/>
            <a:ext cx="4990253" cy="1612127"/>
          </a:xfrm>
          <a:prstGeom prst="rect">
            <a:avLst/>
          </a:prstGeom>
        </p:spPr>
        <p:txBody>
          <a:bodyPr vert="horz" lIns="295232" tIns="147616" rIns="295232" bIns="147616" rtlCol="0" anchor="ctr"/>
          <a:lstStyle>
            <a:lvl1pPr algn="r">
              <a:defRPr sz="3900">
                <a:solidFill>
                  <a:schemeClr val="tx1">
                    <a:tint val="75000"/>
                  </a:schemeClr>
                </a:solidFill>
              </a:defRPr>
            </a:lvl1pPr>
          </a:lstStyle>
          <a:p>
            <a:fld id="{A84C55DD-22BD-4FD6-A39F-7C28C896861D}" type="slidenum">
              <a:rPr lang="en-SG" smtClean="0"/>
              <a:t>‹#›</a:t>
            </a:fld>
            <a:endParaRPr lang="en-SG"/>
          </a:p>
        </p:txBody>
      </p:sp>
    </p:spTree>
    <p:extLst>
      <p:ext uri="{BB962C8B-B14F-4D97-AF65-F5344CB8AC3E}">
        <p14:creationId xmlns:p14="http://schemas.microsoft.com/office/powerpoint/2010/main" val="843382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952323" rtl="0" eaLnBrk="1" latinLnBrk="0" hangingPunct="1">
        <a:spcBef>
          <a:spcPct val="0"/>
        </a:spcBef>
        <a:buNone/>
        <a:defRPr sz="14200" kern="1200">
          <a:solidFill>
            <a:schemeClr val="tx1"/>
          </a:solidFill>
          <a:latin typeface="+mj-lt"/>
          <a:ea typeface="+mj-ea"/>
          <a:cs typeface="+mj-cs"/>
        </a:defRPr>
      </a:lvl1pPr>
    </p:titleStyle>
    <p:bodyStyle>
      <a:lvl1pPr marL="1107121" indent="-1107121" algn="l" defTabSz="2952323" rtl="0" eaLnBrk="1" latinLnBrk="0" hangingPunct="1">
        <a:spcBef>
          <a:spcPct val="20000"/>
        </a:spcBef>
        <a:buFont typeface="Arial" panose="020B0604020202020204" pitchFamily="34" charset="0"/>
        <a:buChar char="•"/>
        <a:defRPr sz="10300" kern="1200">
          <a:solidFill>
            <a:schemeClr val="tx1"/>
          </a:solidFill>
          <a:latin typeface="+mn-lt"/>
          <a:ea typeface="+mn-ea"/>
          <a:cs typeface="+mn-cs"/>
        </a:defRPr>
      </a:lvl1pPr>
      <a:lvl2pPr marL="2398763" indent="-922601" algn="l" defTabSz="2952323"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2pPr>
      <a:lvl3pPr marL="3690404" indent="-738081" algn="l" defTabSz="2952323" rtl="0" eaLnBrk="1" latinLnBrk="0" hangingPunct="1">
        <a:spcBef>
          <a:spcPct val="20000"/>
        </a:spcBef>
        <a:buFont typeface="Arial" panose="020B0604020202020204" pitchFamily="34" charset="0"/>
        <a:buChar char="•"/>
        <a:defRPr sz="7700" kern="1200">
          <a:solidFill>
            <a:schemeClr val="tx1"/>
          </a:solidFill>
          <a:latin typeface="+mn-lt"/>
          <a:ea typeface="+mn-ea"/>
          <a:cs typeface="+mn-cs"/>
        </a:defRPr>
      </a:lvl3pPr>
      <a:lvl4pPr marL="5166566"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4pPr>
      <a:lvl5pPr marL="6642727"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5pPr>
      <a:lvl6pPr marL="8118889"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6pPr>
      <a:lvl7pPr marL="9595051"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7pPr>
      <a:lvl8pPr marL="11071212"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8pPr>
      <a:lvl9pPr marL="12547374"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9pPr>
    </p:bodyStyle>
    <p:other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Rectangle 5"/>
          <p:cNvSpPr txBox="1">
            <a:spLocks noChangeArrowheads="1"/>
          </p:cNvSpPr>
          <p:nvPr/>
        </p:nvSpPr>
        <p:spPr bwMode="auto">
          <a:xfrm>
            <a:off x="451575" y="3335799"/>
            <a:ext cx="20801074"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79" tIns="47890" rIns="95779" bIns="47890" numCol="1" anchor="ctr" anchorCtr="0" compatLnSpc="1">
            <a:prstTxWarp prst="textNoShape">
              <a:avLst/>
            </a:prstTxWarp>
          </a:bodyPr>
          <a:lstStyle>
            <a:lvl1pPr algn="ctr" defTabSz="957263" rtl="0" fontAlgn="base">
              <a:spcBef>
                <a:spcPct val="0"/>
              </a:spcBef>
              <a:spcAft>
                <a:spcPct val="0"/>
              </a:spcAft>
              <a:defRPr sz="4600" kern="1200">
                <a:solidFill>
                  <a:schemeClr val="tx1"/>
                </a:solidFill>
                <a:latin typeface="+mj-lt"/>
                <a:ea typeface="+mj-ea"/>
                <a:cs typeface="+mj-cs"/>
              </a:defRPr>
            </a:lvl1pPr>
            <a:lvl2pPr algn="ctr" defTabSz="957263" rtl="0" fontAlgn="base">
              <a:spcBef>
                <a:spcPct val="0"/>
              </a:spcBef>
              <a:spcAft>
                <a:spcPct val="0"/>
              </a:spcAft>
              <a:defRPr sz="4600">
                <a:solidFill>
                  <a:schemeClr val="tx1"/>
                </a:solidFill>
                <a:latin typeface="Calibri" pitchFamily="34" charset="0"/>
              </a:defRPr>
            </a:lvl2pPr>
            <a:lvl3pPr algn="ctr" defTabSz="957263" rtl="0" fontAlgn="base">
              <a:spcBef>
                <a:spcPct val="0"/>
              </a:spcBef>
              <a:spcAft>
                <a:spcPct val="0"/>
              </a:spcAft>
              <a:defRPr sz="4600">
                <a:solidFill>
                  <a:schemeClr val="tx1"/>
                </a:solidFill>
                <a:latin typeface="Calibri" pitchFamily="34" charset="0"/>
              </a:defRPr>
            </a:lvl3pPr>
            <a:lvl4pPr algn="ctr" defTabSz="957263" rtl="0" fontAlgn="base">
              <a:spcBef>
                <a:spcPct val="0"/>
              </a:spcBef>
              <a:spcAft>
                <a:spcPct val="0"/>
              </a:spcAft>
              <a:defRPr sz="4600">
                <a:solidFill>
                  <a:schemeClr val="tx1"/>
                </a:solidFill>
                <a:latin typeface="Calibri" pitchFamily="34" charset="0"/>
              </a:defRPr>
            </a:lvl4pPr>
            <a:lvl5pPr algn="ctr" defTabSz="957263" rtl="0" fontAlgn="base">
              <a:spcBef>
                <a:spcPct val="0"/>
              </a:spcBef>
              <a:spcAft>
                <a:spcPct val="0"/>
              </a:spcAft>
              <a:defRPr sz="4600">
                <a:solidFill>
                  <a:schemeClr val="tx1"/>
                </a:solidFill>
                <a:latin typeface="Calibri" pitchFamily="34" charset="0"/>
              </a:defRPr>
            </a:lvl5pPr>
            <a:lvl6pPr marL="457200" algn="ctr" defTabSz="957263" rtl="0" fontAlgn="base">
              <a:spcBef>
                <a:spcPct val="0"/>
              </a:spcBef>
              <a:spcAft>
                <a:spcPct val="0"/>
              </a:spcAft>
              <a:defRPr sz="4600">
                <a:solidFill>
                  <a:schemeClr val="tx1"/>
                </a:solidFill>
                <a:latin typeface="Calibri" pitchFamily="34" charset="0"/>
              </a:defRPr>
            </a:lvl6pPr>
            <a:lvl7pPr marL="914400" algn="ctr" defTabSz="957263" rtl="0" fontAlgn="base">
              <a:spcBef>
                <a:spcPct val="0"/>
              </a:spcBef>
              <a:spcAft>
                <a:spcPct val="0"/>
              </a:spcAft>
              <a:defRPr sz="4600">
                <a:solidFill>
                  <a:schemeClr val="tx1"/>
                </a:solidFill>
                <a:latin typeface="Calibri" pitchFamily="34" charset="0"/>
              </a:defRPr>
            </a:lvl7pPr>
            <a:lvl8pPr marL="1371600" algn="ctr" defTabSz="957263" rtl="0" fontAlgn="base">
              <a:spcBef>
                <a:spcPct val="0"/>
              </a:spcBef>
              <a:spcAft>
                <a:spcPct val="0"/>
              </a:spcAft>
              <a:defRPr sz="4600">
                <a:solidFill>
                  <a:schemeClr val="tx1"/>
                </a:solidFill>
                <a:latin typeface="Calibri" pitchFamily="34" charset="0"/>
              </a:defRPr>
            </a:lvl8pPr>
            <a:lvl9pPr marL="1828800" algn="ctr" defTabSz="957263" rtl="0" fontAlgn="base">
              <a:spcBef>
                <a:spcPct val="0"/>
              </a:spcBef>
              <a:spcAft>
                <a:spcPct val="0"/>
              </a:spcAft>
              <a:defRPr sz="4600">
                <a:solidFill>
                  <a:schemeClr val="tx1"/>
                </a:solidFill>
                <a:latin typeface="Calibri" pitchFamily="34" charset="0"/>
              </a:defRPr>
            </a:lvl9pPr>
          </a:lstStyle>
          <a:p>
            <a:pPr algn="l"/>
            <a:r>
              <a:rPr lang="en-US" altLang="en-US" sz="6000" b="1" dirty="0">
                <a:solidFill>
                  <a:srgbClr val="C60C30"/>
                </a:solidFill>
                <a:latin typeface="Arial" panose="020B0604020202020204" pitchFamily="34" charset="0"/>
                <a:cs typeface="Arial" panose="020B0604020202020204" pitchFamily="34" charset="0"/>
              </a:rPr>
              <a:t>Global AI Trust and Attitudes</a:t>
            </a:r>
          </a:p>
        </p:txBody>
      </p:sp>
      <p:sp>
        <p:nvSpPr>
          <p:cNvPr id="84" name="Rectangle 6"/>
          <p:cNvSpPr txBox="1">
            <a:spLocks noChangeArrowheads="1"/>
          </p:cNvSpPr>
          <p:nvPr/>
        </p:nvSpPr>
        <p:spPr bwMode="auto">
          <a:xfrm>
            <a:off x="451575" y="4479617"/>
            <a:ext cx="197008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Helvetica Neue Light"/>
                <a:ea typeface="ＭＳ Ｐゴシック" pitchFamily="34" charset="-128"/>
              </a:defRPr>
            </a:lvl1pPr>
            <a:lvl2pPr marL="742950" indent="-285750" eaLnBrk="0" hangingPunct="0">
              <a:spcBef>
                <a:spcPct val="20000"/>
              </a:spcBef>
              <a:buChar char="–"/>
              <a:defRPr sz="2800">
                <a:solidFill>
                  <a:schemeClr val="tx1"/>
                </a:solidFill>
                <a:latin typeface="Helvetica Neue Light"/>
                <a:ea typeface="ＭＳ Ｐゴシック" pitchFamily="34" charset="-128"/>
              </a:defRPr>
            </a:lvl2pPr>
            <a:lvl3pPr marL="1143000" indent="-228600" eaLnBrk="0" hangingPunct="0">
              <a:spcBef>
                <a:spcPct val="20000"/>
              </a:spcBef>
              <a:buChar char="•"/>
              <a:defRPr sz="2400">
                <a:solidFill>
                  <a:schemeClr val="tx1"/>
                </a:solidFill>
                <a:latin typeface="Helvetica Neue Light"/>
                <a:ea typeface="ＭＳ Ｐゴシック" pitchFamily="34" charset="-128"/>
              </a:defRPr>
            </a:lvl3pPr>
            <a:lvl4pPr marL="1600200" indent="-228600" eaLnBrk="0" hangingPunct="0">
              <a:spcBef>
                <a:spcPct val="20000"/>
              </a:spcBef>
              <a:buChar char="–"/>
              <a:defRPr sz="2000">
                <a:solidFill>
                  <a:schemeClr val="tx1"/>
                </a:solidFill>
                <a:latin typeface="Helvetica Neue Light"/>
                <a:ea typeface="ＭＳ Ｐゴシック" pitchFamily="34" charset="-128"/>
              </a:defRPr>
            </a:lvl4pPr>
            <a:lvl5pPr marL="2057400" indent="-228600" eaLnBrk="0" hangingPunct="0">
              <a:spcBef>
                <a:spcPct val="20000"/>
              </a:spcBef>
              <a:buChar char="»"/>
              <a:defRPr sz="2000">
                <a:solidFill>
                  <a:schemeClr val="tx1"/>
                </a:solidFill>
                <a:latin typeface="Helvetica Neue Light"/>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9pPr>
          </a:lstStyle>
          <a:p>
            <a:pPr marL="0" indent="0">
              <a:buNone/>
            </a:pPr>
            <a:r>
              <a:rPr lang="en-SG" altLang="en-US" sz="4000" b="1" dirty="0">
                <a:solidFill>
                  <a:schemeClr val="tx2"/>
                </a:solidFill>
                <a:latin typeface="Arial" panose="020B0604020202020204" pitchFamily="34" charset="0"/>
                <a:cs typeface="Arial" panose="020B0604020202020204" pitchFamily="34" charset="0"/>
              </a:rPr>
              <a:t>What drives public trust in AI across 47 countries, and can we predict it?</a:t>
            </a:r>
            <a:endParaRPr lang="en-US" altLang="en-US" sz="4000" b="1" dirty="0">
              <a:solidFill>
                <a:schemeClr val="tx2"/>
              </a:solidFill>
              <a:latin typeface="Arial" panose="020B0604020202020204" pitchFamily="34" charset="0"/>
              <a:cs typeface="Arial" panose="020B0604020202020204" pitchFamily="34" charset="0"/>
            </a:endParaRPr>
          </a:p>
          <a:p>
            <a:pPr eaLnBrk="1" hangingPunct="1">
              <a:spcBef>
                <a:spcPct val="0"/>
              </a:spcBef>
              <a:buFontTx/>
              <a:buNone/>
            </a:pPr>
            <a:endParaRPr lang="en-US" altLang="en-US" sz="4000" b="1" baseline="0" dirty="0">
              <a:solidFill>
                <a:srgbClr val="1F497D"/>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7D5076B-08C0-49E2-A14D-FFFAEEEA18F7}"/>
              </a:ext>
            </a:extLst>
          </p:cNvPr>
          <p:cNvPicPr>
            <a:picLocks noChangeAspect="1"/>
          </p:cNvPicPr>
          <p:nvPr/>
        </p:nvPicPr>
        <p:blipFill>
          <a:blip r:embed="rId3"/>
          <a:stretch>
            <a:fillRect/>
          </a:stretch>
        </p:blipFill>
        <p:spPr>
          <a:xfrm>
            <a:off x="451575" y="594371"/>
            <a:ext cx="5963078" cy="2736304"/>
          </a:xfrm>
          <a:prstGeom prst="rect">
            <a:avLst/>
          </a:prstGeom>
        </p:spPr>
      </p:pic>
      <p:pic>
        <p:nvPicPr>
          <p:cNvPr id="5" name="Picture 4">
            <a:extLst>
              <a:ext uri="{FF2B5EF4-FFF2-40B4-BE49-F238E27FC236}">
                <a16:creationId xmlns:a16="http://schemas.microsoft.com/office/drawing/2014/main" id="{56B80432-DCC8-4AA6-AC86-321F9E4A24AA}"/>
              </a:ext>
            </a:extLst>
          </p:cNvPr>
          <p:cNvPicPr>
            <a:picLocks noChangeAspect="1"/>
          </p:cNvPicPr>
          <p:nvPr/>
        </p:nvPicPr>
        <p:blipFill>
          <a:blip r:embed="rId4"/>
          <a:stretch>
            <a:fillRect/>
          </a:stretch>
        </p:blipFill>
        <p:spPr>
          <a:xfrm>
            <a:off x="29192" y="28473213"/>
            <a:ext cx="21357608" cy="1877437"/>
          </a:xfrm>
          <a:prstGeom prst="rect">
            <a:avLst/>
          </a:prstGeom>
        </p:spPr>
      </p:pic>
      <p:sp>
        <p:nvSpPr>
          <p:cNvPr id="12" name="TextBox 11">
            <a:extLst>
              <a:ext uri="{FF2B5EF4-FFF2-40B4-BE49-F238E27FC236}">
                <a16:creationId xmlns:a16="http://schemas.microsoft.com/office/drawing/2014/main" id="{3553373E-F7B3-4291-8CC9-CFA3085C0DED}"/>
              </a:ext>
            </a:extLst>
          </p:cNvPr>
          <p:cNvSpPr txBox="1"/>
          <p:nvPr/>
        </p:nvSpPr>
        <p:spPr>
          <a:xfrm>
            <a:off x="2754157" y="28402538"/>
            <a:ext cx="16195909" cy="1877437"/>
          </a:xfrm>
          <a:prstGeom prst="rect">
            <a:avLst/>
          </a:prstGeom>
          <a:noFill/>
        </p:spPr>
        <p:txBody>
          <a:bodyPr wrap="none" rtlCol="0">
            <a:spAutoFit/>
          </a:bodyPr>
          <a:lstStyle/>
          <a:p>
            <a:pPr algn="ctr"/>
            <a:r>
              <a:rPr lang="en-SG" b="1" dirty="0">
                <a:solidFill>
                  <a:schemeClr val="bg1"/>
                </a:solidFill>
              </a:rPr>
              <a:t>2026 T1</a:t>
            </a:r>
          </a:p>
          <a:p>
            <a:pPr algn="ctr"/>
            <a:r>
              <a:rPr lang="en-SG" b="1" dirty="0">
                <a:solidFill>
                  <a:schemeClr val="bg1"/>
                </a:solidFill>
              </a:rPr>
              <a:t>AN6002 Analytics and Machine Learning in Business</a:t>
            </a:r>
          </a:p>
        </p:txBody>
      </p:sp>
      <p:sp>
        <p:nvSpPr>
          <p:cNvPr id="85" name="TextBox 84"/>
          <p:cNvSpPr txBox="1"/>
          <p:nvPr/>
        </p:nvSpPr>
        <p:spPr>
          <a:xfrm>
            <a:off x="7920000" y="936000"/>
            <a:ext cx="12960000" cy="2232000"/>
          </a:xfrm>
          <a:prstGeom prst="rect">
            <a:avLst/>
          </a:prstGeom>
          <a:noFill/>
        </p:spPr>
        <p:txBody>
          <a:bodyPr wrap="square" lIns="0" tIns="0" rIns="0" bIns="0" anchor="t">
            <a:spAutoFit/>
          </a:bodyPr>
          <a:lstStyle/>
          <a:p>
            <a:pPr algn="r">
              <a:lnSpc>
                <a:spcPct val="112000"/>
              </a:lnSpc>
            </a:pPr>
            <a:r>
              <a:rPr sz="2420" b="1" i="0">
                <a:solidFill>
                  <a:srgbClr val="1D3557"/>
                </a:solidFill>
                <a:latin typeface="Arial"/>
              </a:rPr>
              <a:t>AN6002</a:t>
            </a:r>
            <a:r>
              <a:rPr sz="2420" b="0" i="0">
                <a:solidFill>
                  <a:srgbClr val="1D3557"/>
                </a:solidFill>
                <a:latin typeface="Arial"/>
              </a:rPr>
              <a:t> Analytics and Machine Learning in Business</a:t>
            </a:r>
          </a:p>
          <a:p>
            <a:pPr algn="r">
              <a:lnSpc>
                <a:spcPct val="112000"/>
              </a:lnSpc>
              <a:spcBef>
                <a:spcPts val="425"/>
              </a:spcBef>
            </a:pPr>
            <a:r>
              <a:rPr sz="2420" b="1" i="0">
                <a:solidFill>
                  <a:srgbClr val="1D3557"/>
                </a:solidFill>
                <a:latin typeface="Arial"/>
              </a:rPr>
              <a:t>Section A, Group 4</a:t>
            </a:r>
          </a:p>
          <a:p>
            <a:pPr algn="r">
              <a:lnSpc>
                <a:spcPct val="112000"/>
              </a:lnSpc>
              <a:spcBef>
                <a:spcPts val="425"/>
              </a:spcBef>
            </a:pPr>
            <a:r>
              <a:rPr sz="2420" b="0" i="0">
                <a:solidFill>
                  <a:srgbClr val="1D3557"/>
                </a:solidFill>
                <a:latin typeface="Arial"/>
              </a:rPr>
              <a:t>Ang Wei Hao Welthan · Felda Everyl · Guo Yutong</a:t>
            </a:r>
          </a:p>
          <a:p>
            <a:pPr algn="r">
              <a:lnSpc>
                <a:spcPct val="112000"/>
              </a:lnSpc>
              <a:spcBef>
                <a:spcPts val="425"/>
              </a:spcBef>
            </a:pPr>
            <a:r>
              <a:rPr sz="2420" b="0" i="0">
                <a:solidFill>
                  <a:srgbClr val="1D3557"/>
                </a:solidFill>
                <a:latin typeface="Arial"/>
              </a:rPr>
              <a:t>Kaitwatcharachai Onnicha · Joanne Quek</a:t>
            </a:r>
          </a:p>
        </p:txBody>
      </p:sp>
      <p:sp>
        <p:nvSpPr>
          <p:cNvPr id="86" name="Rounded Rectangle 85"/>
          <p:cNvSpPr/>
          <p:nvPr/>
        </p:nvSpPr>
        <p:spPr>
          <a:xfrm>
            <a:off x="468000" y="5416024"/>
            <a:ext cx="20448000" cy="3844224"/>
          </a:xfrm>
          <a:prstGeom prst="roundRect">
            <a:avLst>
              <a:gd name="adj" fmla="val 5000"/>
            </a:avLst>
          </a:prstGeom>
          <a:solidFill>
            <a:srgbClr val="F4F6F9"/>
          </a:solidFill>
          <a:ln>
            <a:noFill/>
          </a:ln>
        </p:spPr>
        <p:txBody>
          <a:bodyPr rtlCol="0" anchor="ctr"/>
          <a:lstStyle/>
          <a:p>
            <a:endParaRPr/>
          </a:p>
        </p:txBody>
      </p:sp>
      <p:sp>
        <p:nvSpPr>
          <p:cNvPr id="87" name="TextBox 86"/>
          <p:cNvSpPr txBox="1"/>
          <p:nvPr/>
        </p:nvSpPr>
        <p:spPr>
          <a:xfrm>
            <a:off x="827999" y="5580024"/>
            <a:ext cx="19728000" cy="432000"/>
          </a:xfrm>
          <a:prstGeom prst="rect">
            <a:avLst/>
          </a:prstGeom>
          <a:noFill/>
        </p:spPr>
        <p:txBody>
          <a:bodyPr wrap="square" lIns="0" tIns="0" rIns="0" bIns="0" anchor="t">
            <a:spAutoFit/>
          </a:bodyPr>
          <a:lstStyle/>
          <a:p>
            <a:pPr algn="l">
              <a:lnSpc>
                <a:spcPct val="112000"/>
              </a:lnSpc>
            </a:pPr>
            <a:r>
              <a:rPr sz="3300" b="1" i="0" dirty="0">
                <a:solidFill>
                  <a:srgbClr val="1D3557"/>
                </a:solidFill>
                <a:latin typeface="Arial"/>
              </a:rPr>
              <a:t>Why calibrated trust matters</a:t>
            </a:r>
          </a:p>
        </p:txBody>
      </p:sp>
      <p:sp>
        <p:nvSpPr>
          <p:cNvPr id="88" name="TextBox 87"/>
          <p:cNvSpPr txBox="1"/>
          <p:nvPr/>
        </p:nvSpPr>
        <p:spPr>
          <a:xfrm>
            <a:off x="827999" y="6172024"/>
            <a:ext cx="19728000" cy="1007999"/>
          </a:xfrm>
          <a:prstGeom prst="rect">
            <a:avLst/>
          </a:prstGeom>
          <a:noFill/>
        </p:spPr>
        <p:txBody>
          <a:bodyPr wrap="square" lIns="0" tIns="0" rIns="0" bIns="0" anchor="t">
            <a:spAutoFit/>
          </a:bodyPr>
          <a:lstStyle/>
          <a:p>
            <a:pPr algn="l">
              <a:lnSpc>
                <a:spcPct val="112000"/>
              </a:lnSpc>
            </a:pPr>
            <a:r>
              <a:rPr sz="2200" b="0" i="0">
                <a:solidFill>
                  <a:srgbClr val="1B2A41"/>
                </a:solidFill>
                <a:latin typeface="Arial"/>
              </a:rPr>
              <a:t>AI increasingly shapes everyday decisions. When trust is too low, useful systems are avoided; when it is too high, errors go unchallenged. The practical aim is </a:t>
            </a:r>
            <a:r>
              <a:rPr sz="2200" b="1" i="0">
                <a:solidFill>
                  <a:srgbClr val="1B2A41"/>
                </a:solidFill>
                <a:latin typeface="Arial"/>
              </a:rPr>
              <a:t>calibrated trust</a:t>
            </a:r>
            <a:r>
              <a:rPr sz="2200" b="0" i="0">
                <a:solidFill>
                  <a:srgbClr val="1B2A41"/>
                </a:solidFill>
                <a:latin typeface="Arial"/>
              </a:rPr>
              <a:t>: reliance that reflects what an AI system can reliably do, with awareness of when its output must be questioned. We examine global AI trust through country comparisons, statistical relationships and supervised regression, guided by four questions.</a:t>
            </a:r>
          </a:p>
        </p:txBody>
      </p:sp>
      <p:sp>
        <p:nvSpPr>
          <p:cNvPr id="89" name="Rounded Rectangle 88"/>
          <p:cNvSpPr/>
          <p:nvPr/>
        </p:nvSpPr>
        <p:spPr>
          <a:xfrm>
            <a:off x="827999" y="7519109"/>
            <a:ext cx="4770000" cy="1405976"/>
          </a:xfrm>
          <a:prstGeom prst="roundRect">
            <a:avLst>
              <a:gd name="adj" fmla="val 8000"/>
            </a:avLst>
          </a:prstGeom>
          <a:solidFill>
            <a:srgbClr val="E3F2F0"/>
          </a:solidFill>
          <a:ln>
            <a:noFill/>
          </a:ln>
        </p:spPr>
        <p:txBody>
          <a:bodyPr rtlCol="0" anchor="ctr"/>
          <a:lstStyle/>
          <a:p>
            <a:endParaRPr/>
          </a:p>
        </p:txBody>
      </p:sp>
      <p:sp>
        <p:nvSpPr>
          <p:cNvPr id="90" name="TextBox 89"/>
          <p:cNvSpPr txBox="1"/>
          <p:nvPr/>
        </p:nvSpPr>
        <p:spPr>
          <a:xfrm>
            <a:off x="1007999" y="7627110"/>
            <a:ext cx="4410000" cy="1044000"/>
          </a:xfrm>
          <a:prstGeom prst="rect">
            <a:avLst/>
          </a:prstGeom>
          <a:noFill/>
        </p:spPr>
        <p:txBody>
          <a:bodyPr wrap="square" lIns="0" tIns="0" rIns="0" bIns="0" anchor="t">
            <a:spAutoFit/>
          </a:bodyPr>
          <a:lstStyle/>
          <a:p>
            <a:pPr algn="l">
              <a:lnSpc>
                <a:spcPct val="112000"/>
              </a:lnSpc>
            </a:pPr>
            <a:r>
              <a:rPr sz="2200" b="1" i="0">
                <a:solidFill>
                  <a:srgbClr val="2A9D8F"/>
                </a:solidFill>
                <a:latin typeface="Arial"/>
              </a:rPr>
              <a:t>Q1 · Where</a:t>
            </a:r>
          </a:p>
          <a:p>
            <a:pPr algn="l">
              <a:lnSpc>
                <a:spcPct val="112000"/>
              </a:lnSpc>
              <a:spcBef>
                <a:spcPts val="283"/>
              </a:spcBef>
            </a:pPr>
            <a:r>
              <a:rPr sz="2200" b="1" i="0">
                <a:solidFill>
                  <a:srgbClr val="1B2A41"/>
                </a:solidFill>
                <a:latin typeface="Arial"/>
              </a:rPr>
              <a:t>How does trust in AI differ across countries and regions?</a:t>
            </a:r>
          </a:p>
        </p:txBody>
      </p:sp>
      <p:sp>
        <p:nvSpPr>
          <p:cNvPr id="91" name="Rounded Rectangle 90"/>
          <p:cNvSpPr/>
          <p:nvPr/>
        </p:nvSpPr>
        <p:spPr>
          <a:xfrm>
            <a:off x="5813999" y="7519108"/>
            <a:ext cx="4770000" cy="1405975"/>
          </a:xfrm>
          <a:prstGeom prst="roundRect">
            <a:avLst>
              <a:gd name="adj" fmla="val 8000"/>
            </a:avLst>
          </a:prstGeom>
          <a:solidFill>
            <a:srgbClr val="E3F2F0"/>
          </a:solidFill>
          <a:ln>
            <a:noFill/>
          </a:ln>
        </p:spPr>
        <p:txBody>
          <a:bodyPr rtlCol="0" anchor="ctr"/>
          <a:lstStyle/>
          <a:p>
            <a:endParaRPr/>
          </a:p>
        </p:txBody>
      </p:sp>
      <p:sp>
        <p:nvSpPr>
          <p:cNvPr id="92" name="TextBox 91"/>
          <p:cNvSpPr txBox="1"/>
          <p:nvPr/>
        </p:nvSpPr>
        <p:spPr>
          <a:xfrm>
            <a:off x="5993999" y="7627110"/>
            <a:ext cx="4410000" cy="1044000"/>
          </a:xfrm>
          <a:prstGeom prst="rect">
            <a:avLst/>
          </a:prstGeom>
          <a:noFill/>
        </p:spPr>
        <p:txBody>
          <a:bodyPr wrap="square" lIns="0" tIns="0" rIns="0" bIns="0" anchor="t">
            <a:spAutoFit/>
          </a:bodyPr>
          <a:lstStyle/>
          <a:p>
            <a:pPr algn="l">
              <a:lnSpc>
                <a:spcPct val="112000"/>
              </a:lnSpc>
            </a:pPr>
            <a:r>
              <a:rPr sz="2200" b="1" i="0" dirty="0">
                <a:solidFill>
                  <a:srgbClr val="2A9D8F"/>
                </a:solidFill>
                <a:latin typeface="Arial"/>
              </a:rPr>
              <a:t>Q2 · What</a:t>
            </a:r>
          </a:p>
          <a:p>
            <a:pPr algn="l">
              <a:lnSpc>
                <a:spcPct val="112000"/>
              </a:lnSpc>
              <a:spcBef>
                <a:spcPts val="283"/>
              </a:spcBef>
            </a:pPr>
            <a:r>
              <a:rPr sz="2200" b="1" i="0" dirty="0">
                <a:solidFill>
                  <a:srgbClr val="1B2A41"/>
                </a:solidFill>
                <a:latin typeface="Arial"/>
              </a:rPr>
              <a:t>What factors seem to be related to AI trust?</a:t>
            </a:r>
          </a:p>
        </p:txBody>
      </p:sp>
      <p:sp>
        <p:nvSpPr>
          <p:cNvPr id="93" name="Rounded Rectangle 92"/>
          <p:cNvSpPr/>
          <p:nvPr/>
        </p:nvSpPr>
        <p:spPr>
          <a:xfrm>
            <a:off x="10800000" y="7519109"/>
            <a:ext cx="4770000" cy="1405974"/>
          </a:xfrm>
          <a:prstGeom prst="roundRect">
            <a:avLst>
              <a:gd name="adj" fmla="val 8000"/>
            </a:avLst>
          </a:prstGeom>
          <a:solidFill>
            <a:srgbClr val="E3F2F0"/>
          </a:solidFill>
          <a:ln>
            <a:noFill/>
          </a:ln>
        </p:spPr>
        <p:txBody>
          <a:bodyPr rtlCol="0" anchor="ctr"/>
          <a:lstStyle/>
          <a:p>
            <a:endParaRPr/>
          </a:p>
        </p:txBody>
      </p:sp>
      <p:sp>
        <p:nvSpPr>
          <p:cNvPr id="94" name="TextBox 93"/>
          <p:cNvSpPr txBox="1"/>
          <p:nvPr/>
        </p:nvSpPr>
        <p:spPr>
          <a:xfrm>
            <a:off x="10980000" y="7627110"/>
            <a:ext cx="4410000" cy="1044000"/>
          </a:xfrm>
          <a:prstGeom prst="rect">
            <a:avLst/>
          </a:prstGeom>
          <a:noFill/>
        </p:spPr>
        <p:txBody>
          <a:bodyPr wrap="square" lIns="0" tIns="0" rIns="0" bIns="0" anchor="t">
            <a:spAutoFit/>
          </a:bodyPr>
          <a:lstStyle/>
          <a:p>
            <a:pPr algn="l">
              <a:lnSpc>
                <a:spcPct val="112000"/>
              </a:lnSpc>
            </a:pPr>
            <a:r>
              <a:rPr sz="2200" b="1" i="0">
                <a:solidFill>
                  <a:srgbClr val="2A9D8F"/>
                </a:solidFill>
                <a:latin typeface="Arial"/>
              </a:rPr>
              <a:t>Q3 · Predict</a:t>
            </a:r>
          </a:p>
          <a:p>
            <a:pPr algn="l">
              <a:lnSpc>
                <a:spcPct val="112000"/>
              </a:lnSpc>
              <a:spcBef>
                <a:spcPts val="283"/>
              </a:spcBef>
            </a:pPr>
            <a:r>
              <a:rPr sz="2200" b="1" i="0">
                <a:solidFill>
                  <a:srgbClr val="1B2A41"/>
                </a:solidFill>
                <a:latin typeface="Arial"/>
              </a:rPr>
              <a:t>Can we predict AI trust from these factors?</a:t>
            </a:r>
          </a:p>
        </p:txBody>
      </p:sp>
      <p:sp>
        <p:nvSpPr>
          <p:cNvPr id="95" name="Rounded Rectangle 94"/>
          <p:cNvSpPr/>
          <p:nvPr/>
        </p:nvSpPr>
        <p:spPr>
          <a:xfrm>
            <a:off x="15785999" y="7519109"/>
            <a:ext cx="4770000" cy="1405974"/>
          </a:xfrm>
          <a:prstGeom prst="roundRect">
            <a:avLst>
              <a:gd name="adj" fmla="val 8000"/>
            </a:avLst>
          </a:prstGeom>
          <a:solidFill>
            <a:srgbClr val="E3F2F0"/>
          </a:solidFill>
          <a:ln>
            <a:noFill/>
          </a:ln>
        </p:spPr>
        <p:txBody>
          <a:bodyPr rtlCol="0" anchor="ctr"/>
          <a:lstStyle/>
          <a:p>
            <a:endParaRPr/>
          </a:p>
        </p:txBody>
      </p:sp>
      <p:sp>
        <p:nvSpPr>
          <p:cNvPr id="96" name="TextBox 95"/>
          <p:cNvSpPr txBox="1"/>
          <p:nvPr/>
        </p:nvSpPr>
        <p:spPr>
          <a:xfrm>
            <a:off x="15965999" y="7627110"/>
            <a:ext cx="4410000" cy="1044000"/>
          </a:xfrm>
          <a:prstGeom prst="rect">
            <a:avLst/>
          </a:prstGeom>
          <a:noFill/>
        </p:spPr>
        <p:txBody>
          <a:bodyPr wrap="square" lIns="0" tIns="0" rIns="0" bIns="0" anchor="t">
            <a:spAutoFit/>
          </a:bodyPr>
          <a:lstStyle/>
          <a:p>
            <a:pPr algn="l">
              <a:lnSpc>
                <a:spcPct val="112000"/>
              </a:lnSpc>
            </a:pPr>
            <a:r>
              <a:rPr sz="2200" b="1" i="0">
                <a:solidFill>
                  <a:srgbClr val="2A9D8F"/>
                </a:solidFill>
                <a:latin typeface="Arial"/>
              </a:rPr>
              <a:t>Q4 · Trend</a:t>
            </a:r>
          </a:p>
          <a:p>
            <a:pPr algn="l">
              <a:lnSpc>
                <a:spcPct val="112000"/>
              </a:lnSpc>
              <a:spcBef>
                <a:spcPts val="283"/>
              </a:spcBef>
            </a:pPr>
            <a:r>
              <a:rPr sz="2200" b="1" i="0">
                <a:solidFill>
                  <a:srgbClr val="1B2A41"/>
                </a:solidFill>
                <a:latin typeface="Arial"/>
              </a:rPr>
              <a:t>Is public perception of AI becoming more positive?</a:t>
            </a:r>
          </a:p>
        </p:txBody>
      </p:sp>
      <p:sp>
        <p:nvSpPr>
          <p:cNvPr id="97" name="TextBox 96"/>
          <p:cNvSpPr txBox="1"/>
          <p:nvPr/>
        </p:nvSpPr>
        <p:spPr>
          <a:xfrm>
            <a:off x="468000" y="9468000"/>
            <a:ext cx="20448000" cy="432000"/>
          </a:xfrm>
          <a:prstGeom prst="rect">
            <a:avLst/>
          </a:prstGeom>
          <a:noFill/>
        </p:spPr>
        <p:txBody>
          <a:bodyPr wrap="square" lIns="0" tIns="0" rIns="0" bIns="0" anchor="t">
            <a:spAutoFit/>
          </a:bodyPr>
          <a:lstStyle/>
          <a:p>
            <a:pPr algn="l">
              <a:lnSpc>
                <a:spcPct val="112000"/>
              </a:lnSpc>
            </a:pPr>
            <a:r>
              <a:rPr sz="3300" b="1" i="0">
                <a:solidFill>
                  <a:srgbClr val="1D3557"/>
                </a:solidFill>
                <a:latin typeface="Arial"/>
              </a:rPr>
              <a:t>Data at a glance</a:t>
            </a:r>
          </a:p>
        </p:txBody>
      </p:sp>
      <p:sp>
        <p:nvSpPr>
          <p:cNvPr id="98" name="Rounded Rectangle 97"/>
          <p:cNvSpPr/>
          <p:nvPr/>
        </p:nvSpPr>
        <p:spPr>
          <a:xfrm>
            <a:off x="468000" y="10044000"/>
            <a:ext cx="3916799" cy="1944000"/>
          </a:xfrm>
          <a:prstGeom prst="roundRect">
            <a:avLst>
              <a:gd name="adj" fmla="val 6000"/>
            </a:avLst>
          </a:prstGeom>
          <a:noFill/>
          <a:ln w="21600">
            <a:solidFill>
              <a:srgbClr val="D8DEE6"/>
            </a:solidFill>
          </a:ln>
        </p:spPr>
        <p:txBody>
          <a:bodyPr rtlCol="0" anchor="ctr"/>
          <a:lstStyle/>
          <a:p>
            <a:endParaRPr/>
          </a:p>
        </p:txBody>
      </p:sp>
      <p:sp>
        <p:nvSpPr>
          <p:cNvPr id="99" name="TextBox 98"/>
          <p:cNvSpPr txBox="1"/>
          <p:nvPr/>
        </p:nvSpPr>
        <p:spPr>
          <a:xfrm>
            <a:off x="684000" y="10188000"/>
            <a:ext cx="3484800" cy="540000"/>
          </a:xfrm>
          <a:prstGeom prst="rect">
            <a:avLst/>
          </a:prstGeom>
          <a:noFill/>
        </p:spPr>
        <p:txBody>
          <a:bodyPr wrap="square" lIns="0" tIns="0" rIns="0" bIns="0" anchor="t">
            <a:spAutoFit/>
          </a:bodyPr>
          <a:lstStyle/>
          <a:p>
            <a:pPr algn="l">
              <a:lnSpc>
                <a:spcPct val="112000"/>
              </a:lnSpc>
            </a:pPr>
            <a:r>
              <a:rPr sz="4840" b="1" i="0">
                <a:solidFill>
                  <a:srgbClr val="1D3557"/>
                </a:solidFill>
                <a:latin typeface="Arial"/>
              </a:rPr>
              <a:t>47</a:t>
            </a:r>
          </a:p>
        </p:txBody>
      </p:sp>
      <p:sp>
        <p:nvSpPr>
          <p:cNvPr id="100" name="TextBox 99"/>
          <p:cNvSpPr txBox="1"/>
          <p:nvPr/>
        </p:nvSpPr>
        <p:spPr>
          <a:xfrm>
            <a:off x="684000" y="10854000"/>
            <a:ext cx="3484800" cy="827999"/>
          </a:xfrm>
          <a:prstGeom prst="rect">
            <a:avLst/>
          </a:prstGeom>
          <a:noFill/>
        </p:spPr>
        <p:txBody>
          <a:bodyPr wrap="square" lIns="0" tIns="0" rIns="0" bIns="0" anchor="t">
            <a:spAutoFit/>
          </a:bodyPr>
          <a:lstStyle/>
          <a:p>
            <a:pPr algn="l">
              <a:lnSpc>
                <a:spcPct val="112000"/>
              </a:lnSpc>
            </a:pPr>
            <a:r>
              <a:rPr sz="1870" b="0" i="0">
                <a:solidFill>
                  <a:srgbClr val="44546A"/>
                </a:solidFill>
                <a:latin typeface="Arial"/>
              </a:rPr>
              <a:t>countries in the main dataset; one row per country, not per respondent</a:t>
            </a:r>
          </a:p>
        </p:txBody>
      </p:sp>
      <p:sp>
        <p:nvSpPr>
          <p:cNvPr id="101" name="Rounded Rectangle 100"/>
          <p:cNvSpPr/>
          <p:nvPr/>
        </p:nvSpPr>
        <p:spPr>
          <a:xfrm>
            <a:off x="4600800" y="10044000"/>
            <a:ext cx="3916799" cy="1944000"/>
          </a:xfrm>
          <a:prstGeom prst="roundRect">
            <a:avLst>
              <a:gd name="adj" fmla="val 6000"/>
            </a:avLst>
          </a:prstGeom>
          <a:noFill/>
          <a:ln w="21600">
            <a:solidFill>
              <a:srgbClr val="D8DEE6"/>
            </a:solidFill>
          </a:ln>
        </p:spPr>
        <p:txBody>
          <a:bodyPr rtlCol="0" anchor="ctr"/>
          <a:lstStyle/>
          <a:p>
            <a:endParaRPr/>
          </a:p>
        </p:txBody>
      </p:sp>
      <p:sp>
        <p:nvSpPr>
          <p:cNvPr id="102" name="TextBox 101"/>
          <p:cNvSpPr txBox="1"/>
          <p:nvPr/>
        </p:nvSpPr>
        <p:spPr>
          <a:xfrm>
            <a:off x="4816800" y="10188000"/>
            <a:ext cx="3484800" cy="540000"/>
          </a:xfrm>
          <a:prstGeom prst="rect">
            <a:avLst/>
          </a:prstGeom>
          <a:noFill/>
        </p:spPr>
        <p:txBody>
          <a:bodyPr wrap="square" lIns="0" tIns="0" rIns="0" bIns="0" anchor="t">
            <a:spAutoFit/>
          </a:bodyPr>
          <a:lstStyle/>
          <a:p>
            <a:pPr algn="l">
              <a:lnSpc>
                <a:spcPct val="112000"/>
              </a:lnSpc>
            </a:pPr>
            <a:r>
              <a:rPr sz="4840" b="1" i="0">
                <a:solidFill>
                  <a:srgbClr val="1D3557"/>
                </a:solidFill>
                <a:latin typeface="Arial"/>
              </a:rPr>
              <a:t>43</a:t>
            </a:r>
          </a:p>
        </p:txBody>
      </p:sp>
      <p:sp>
        <p:nvSpPr>
          <p:cNvPr id="103" name="TextBox 102"/>
          <p:cNvSpPr txBox="1"/>
          <p:nvPr/>
        </p:nvSpPr>
        <p:spPr>
          <a:xfrm>
            <a:off x="4816800" y="10854000"/>
            <a:ext cx="3484800" cy="827999"/>
          </a:xfrm>
          <a:prstGeom prst="rect">
            <a:avLst/>
          </a:prstGeom>
          <a:noFill/>
        </p:spPr>
        <p:txBody>
          <a:bodyPr wrap="square" lIns="0" tIns="0" rIns="0" bIns="0" anchor="t">
            <a:spAutoFit/>
          </a:bodyPr>
          <a:lstStyle/>
          <a:p>
            <a:pPr algn="l">
              <a:lnSpc>
                <a:spcPct val="112000"/>
              </a:lnSpc>
            </a:pPr>
            <a:r>
              <a:rPr sz="1870" b="0" i="0">
                <a:solidFill>
                  <a:srgbClr val="44546A"/>
                </a:solidFill>
                <a:latin typeface="Arial"/>
              </a:rPr>
              <a:t>variables: trust, acceptance, benefits, risks, literacy, training, adoption, GDP</a:t>
            </a:r>
          </a:p>
        </p:txBody>
      </p:sp>
      <p:sp>
        <p:nvSpPr>
          <p:cNvPr id="104" name="Rounded Rectangle 103"/>
          <p:cNvSpPr/>
          <p:nvPr/>
        </p:nvSpPr>
        <p:spPr>
          <a:xfrm>
            <a:off x="8733600" y="10044000"/>
            <a:ext cx="3916799" cy="1944000"/>
          </a:xfrm>
          <a:prstGeom prst="roundRect">
            <a:avLst>
              <a:gd name="adj" fmla="val 6000"/>
            </a:avLst>
          </a:prstGeom>
          <a:noFill/>
          <a:ln w="21600">
            <a:solidFill>
              <a:srgbClr val="D8DEE6"/>
            </a:solidFill>
          </a:ln>
        </p:spPr>
        <p:txBody>
          <a:bodyPr rtlCol="0" anchor="ctr"/>
          <a:lstStyle/>
          <a:p>
            <a:endParaRPr/>
          </a:p>
        </p:txBody>
      </p:sp>
      <p:sp>
        <p:nvSpPr>
          <p:cNvPr id="105" name="TextBox 104"/>
          <p:cNvSpPr txBox="1"/>
          <p:nvPr/>
        </p:nvSpPr>
        <p:spPr>
          <a:xfrm>
            <a:off x="8949600" y="10188000"/>
            <a:ext cx="3484800" cy="540000"/>
          </a:xfrm>
          <a:prstGeom prst="rect">
            <a:avLst/>
          </a:prstGeom>
          <a:noFill/>
        </p:spPr>
        <p:txBody>
          <a:bodyPr wrap="square" lIns="0" tIns="0" rIns="0" bIns="0" anchor="t">
            <a:spAutoFit/>
          </a:bodyPr>
          <a:lstStyle/>
          <a:p>
            <a:pPr algn="l">
              <a:lnSpc>
                <a:spcPct val="112000"/>
              </a:lnSpc>
            </a:pPr>
            <a:r>
              <a:rPr sz="4840" b="1" i="0">
                <a:solidFill>
                  <a:srgbClr val="1D3557"/>
                </a:solidFill>
                <a:latin typeface="Arial"/>
              </a:rPr>
              <a:t>0</a:t>
            </a:r>
          </a:p>
        </p:txBody>
      </p:sp>
      <p:sp>
        <p:nvSpPr>
          <p:cNvPr id="106" name="TextBox 105"/>
          <p:cNvSpPr txBox="1"/>
          <p:nvPr/>
        </p:nvSpPr>
        <p:spPr>
          <a:xfrm>
            <a:off x="8949600" y="10854000"/>
            <a:ext cx="3484800" cy="827999"/>
          </a:xfrm>
          <a:prstGeom prst="rect">
            <a:avLst/>
          </a:prstGeom>
          <a:noFill/>
        </p:spPr>
        <p:txBody>
          <a:bodyPr wrap="square" lIns="0" tIns="0" rIns="0" bIns="0" anchor="t">
            <a:spAutoFit/>
          </a:bodyPr>
          <a:lstStyle/>
          <a:p>
            <a:pPr algn="l">
              <a:lnSpc>
                <a:spcPct val="112000"/>
              </a:lnSpc>
            </a:pPr>
            <a:r>
              <a:rPr sz="1870" b="0" i="0">
                <a:solidFill>
                  <a:srgbClr val="44546A"/>
                </a:solidFill>
                <a:latin typeface="Arial"/>
              </a:rPr>
              <a:t>missing values, duplicate rows or duplicate countries in the main dataset</a:t>
            </a:r>
          </a:p>
        </p:txBody>
      </p:sp>
      <p:sp>
        <p:nvSpPr>
          <p:cNvPr id="107" name="Rounded Rectangle 106"/>
          <p:cNvSpPr/>
          <p:nvPr/>
        </p:nvSpPr>
        <p:spPr>
          <a:xfrm>
            <a:off x="12866399" y="10044000"/>
            <a:ext cx="3916799" cy="1944000"/>
          </a:xfrm>
          <a:prstGeom prst="roundRect">
            <a:avLst>
              <a:gd name="adj" fmla="val 6000"/>
            </a:avLst>
          </a:prstGeom>
          <a:noFill/>
          <a:ln w="21600">
            <a:solidFill>
              <a:srgbClr val="D8DEE6"/>
            </a:solidFill>
          </a:ln>
        </p:spPr>
        <p:txBody>
          <a:bodyPr rtlCol="0" anchor="ctr"/>
          <a:lstStyle/>
          <a:p>
            <a:endParaRPr/>
          </a:p>
        </p:txBody>
      </p:sp>
      <p:sp>
        <p:nvSpPr>
          <p:cNvPr id="108" name="TextBox 107"/>
          <p:cNvSpPr txBox="1"/>
          <p:nvPr/>
        </p:nvSpPr>
        <p:spPr>
          <a:xfrm>
            <a:off x="13082399" y="10188000"/>
            <a:ext cx="3484800" cy="540000"/>
          </a:xfrm>
          <a:prstGeom prst="rect">
            <a:avLst/>
          </a:prstGeom>
          <a:noFill/>
        </p:spPr>
        <p:txBody>
          <a:bodyPr wrap="square" lIns="0" tIns="0" rIns="0" bIns="0" anchor="t">
            <a:spAutoFit/>
          </a:bodyPr>
          <a:lstStyle/>
          <a:p>
            <a:pPr algn="l">
              <a:lnSpc>
                <a:spcPct val="112000"/>
              </a:lnSpc>
            </a:pPr>
            <a:r>
              <a:rPr sz="4840" b="1" i="0">
                <a:solidFill>
                  <a:srgbClr val="1D3557"/>
                </a:solidFill>
                <a:latin typeface="Arial"/>
              </a:rPr>
              <a:t>25–79%</a:t>
            </a:r>
          </a:p>
        </p:txBody>
      </p:sp>
      <p:sp>
        <p:nvSpPr>
          <p:cNvPr id="109" name="TextBox 108"/>
          <p:cNvSpPr txBox="1"/>
          <p:nvPr/>
        </p:nvSpPr>
        <p:spPr>
          <a:xfrm>
            <a:off x="13082399" y="10854000"/>
            <a:ext cx="3484800" cy="827999"/>
          </a:xfrm>
          <a:prstGeom prst="rect">
            <a:avLst/>
          </a:prstGeom>
          <a:noFill/>
        </p:spPr>
        <p:txBody>
          <a:bodyPr wrap="square" lIns="0" tIns="0" rIns="0" bIns="0" anchor="t">
            <a:spAutoFit/>
          </a:bodyPr>
          <a:lstStyle/>
          <a:p>
            <a:pPr algn="l">
              <a:lnSpc>
                <a:spcPct val="112000"/>
              </a:lnSpc>
            </a:pPr>
            <a:r>
              <a:rPr sz="1870" b="0" i="0">
                <a:solidFill>
                  <a:srgbClr val="44546A"/>
                </a:solidFill>
                <a:latin typeface="Arial"/>
              </a:rPr>
              <a:t>range of the outcome: share of people who trust AI</a:t>
            </a:r>
          </a:p>
        </p:txBody>
      </p:sp>
      <p:sp>
        <p:nvSpPr>
          <p:cNvPr id="110" name="Rounded Rectangle 109"/>
          <p:cNvSpPr/>
          <p:nvPr/>
        </p:nvSpPr>
        <p:spPr>
          <a:xfrm>
            <a:off x="16999199" y="10044000"/>
            <a:ext cx="3916799" cy="1944000"/>
          </a:xfrm>
          <a:prstGeom prst="roundRect">
            <a:avLst>
              <a:gd name="adj" fmla="val 6000"/>
            </a:avLst>
          </a:prstGeom>
          <a:noFill/>
          <a:ln w="21600">
            <a:solidFill>
              <a:srgbClr val="D8DEE6"/>
            </a:solidFill>
          </a:ln>
        </p:spPr>
        <p:txBody>
          <a:bodyPr rtlCol="0" anchor="ctr"/>
          <a:lstStyle/>
          <a:p>
            <a:endParaRPr/>
          </a:p>
        </p:txBody>
      </p:sp>
      <p:sp>
        <p:nvSpPr>
          <p:cNvPr id="111" name="TextBox 110"/>
          <p:cNvSpPr txBox="1"/>
          <p:nvPr/>
        </p:nvSpPr>
        <p:spPr>
          <a:xfrm>
            <a:off x="17215199" y="10188000"/>
            <a:ext cx="3484800" cy="540000"/>
          </a:xfrm>
          <a:prstGeom prst="rect">
            <a:avLst/>
          </a:prstGeom>
          <a:noFill/>
        </p:spPr>
        <p:txBody>
          <a:bodyPr wrap="square" lIns="0" tIns="0" rIns="0" bIns="0" anchor="t">
            <a:spAutoFit/>
          </a:bodyPr>
          <a:lstStyle/>
          <a:p>
            <a:pPr algn="l">
              <a:lnSpc>
                <a:spcPct val="112000"/>
              </a:lnSpc>
            </a:pPr>
            <a:r>
              <a:rPr sz="4840" b="1" i="0">
                <a:solidFill>
                  <a:srgbClr val="1D3557"/>
                </a:solidFill>
                <a:latin typeface="Arial"/>
              </a:rPr>
              <a:t>30</a:t>
            </a:r>
          </a:p>
        </p:txBody>
      </p:sp>
      <p:sp>
        <p:nvSpPr>
          <p:cNvPr id="112" name="TextBox 111"/>
          <p:cNvSpPr txBox="1"/>
          <p:nvPr/>
        </p:nvSpPr>
        <p:spPr>
          <a:xfrm>
            <a:off x="17215199" y="10854000"/>
            <a:ext cx="3484800" cy="827999"/>
          </a:xfrm>
          <a:prstGeom prst="rect">
            <a:avLst/>
          </a:prstGeom>
          <a:noFill/>
        </p:spPr>
        <p:txBody>
          <a:bodyPr wrap="square" lIns="0" tIns="0" rIns="0" bIns="0" anchor="t">
            <a:spAutoFit/>
          </a:bodyPr>
          <a:lstStyle/>
          <a:p>
            <a:pPr algn="l">
              <a:lnSpc>
                <a:spcPct val="112000"/>
              </a:lnSpc>
            </a:pPr>
            <a:r>
              <a:rPr sz="1870" b="0" i="0">
                <a:solidFill>
                  <a:srgbClr val="44546A"/>
                </a:solidFill>
                <a:latin typeface="Arial"/>
              </a:rPr>
              <a:t>countries with both years (2023 and 2024) in a separate benefit-perception dataset</a:t>
            </a:r>
          </a:p>
        </p:txBody>
      </p:sp>
      <p:sp>
        <p:nvSpPr>
          <p:cNvPr id="113" name="TextBox 112"/>
          <p:cNvSpPr txBox="1"/>
          <p:nvPr/>
        </p:nvSpPr>
        <p:spPr>
          <a:xfrm>
            <a:off x="468000" y="12096000"/>
            <a:ext cx="20448000" cy="288000"/>
          </a:xfrm>
          <a:prstGeom prst="rect">
            <a:avLst/>
          </a:prstGeom>
          <a:noFill/>
        </p:spPr>
        <p:txBody>
          <a:bodyPr wrap="square" lIns="0" tIns="0" rIns="0" bIns="0" anchor="t">
            <a:spAutoFit/>
          </a:bodyPr>
          <a:lstStyle/>
          <a:p>
            <a:pPr algn="l">
              <a:lnSpc>
                <a:spcPct val="112000"/>
              </a:lnSpc>
            </a:pPr>
            <a:r>
              <a:rPr sz="1760" b="1" i="0">
                <a:solidFill>
                  <a:srgbClr val="E76F51"/>
                </a:solidFill>
                <a:latin typeface="Arial"/>
              </a:rPr>
              <a:t>Caveat</a:t>
            </a:r>
            <a:r>
              <a:rPr sz="1760" b="0" i="0">
                <a:solidFill>
                  <a:srgbClr val="6B7A8F"/>
                </a:solidFill>
                <a:latin typeface="Arial"/>
              </a:rPr>
              <a:t> · Means and medians weight each country equally: summaries of the countries studied, not population-weighted world estimates.</a:t>
            </a:r>
          </a:p>
        </p:txBody>
      </p:sp>
      <p:sp>
        <p:nvSpPr>
          <p:cNvPr id="114" name="Rounded Rectangle 113"/>
          <p:cNvSpPr/>
          <p:nvPr/>
        </p:nvSpPr>
        <p:spPr>
          <a:xfrm>
            <a:off x="468000" y="12564000"/>
            <a:ext cx="20448000" cy="9000000"/>
          </a:xfrm>
          <a:prstGeom prst="roundRect">
            <a:avLst>
              <a:gd name="adj" fmla="val 2500"/>
            </a:avLst>
          </a:prstGeom>
          <a:noFill/>
          <a:ln w="21600">
            <a:solidFill>
              <a:srgbClr val="D8DEE6"/>
            </a:solidFill>
          </a:ln>
        </p:spPr>
        <p:txBody>
          <a:bodyPr rtlCol="0" anchor="ctr"/>
          <a:lstStyle/>
          <a:p>
            <a:endParaRPr/>
          </a:p>
        </p:txBody>
      </p:sp>
      <p:sp>
        <p:nvSpPr>
          <p:cNvPr id="115" name="Rounded Rectangle 114"/>
          <p:cNvSpPr/>
          <p:nvPr/>
        </p:nvSpPr>
        <p:spPr>
          <a:xfrm>
            <a:off x="827999" y="12905999"/>
            <a:ext cx="684000" cy="450000"/>
          </a:xfrm>
          <a:prstGeom prst="roundRect">
            <a:avLst>
              <a:gd name="adj" fmla="val 18000"/>
            </a:avLst>
          </a:prstGeom>
          <a:solidFill>
            <a:srgbClr val="6A4C9C"/>
          </a:solidFill>
          <a:ln>
            <a:noFill/>
          </a:ln>
        </p:spPr>
        <p:txBody>
          <a:bodyPr lIns="0" tIns="0" rIns="0" bIns="0" rtlCol="0" anchor="ctr"/>
          <a:lstStyle/>
          <a:p>
            <a:pPr algn="ctr"/>
            <a:r>
              <a:rPr sz="2200" b="1" i="0">
                <a:solidFill>
                  <a:srgbClr val="FFFFFF"/>
                </a:solidFill>
                <a:latin typeface="Arial"/>
              </a:rPr>
              <a:t>Q1</a:t>
            </a:r>
          </a:p>
        </p:txBody>
      </p:sp>
      <p:sp>
        <p:nvSpPr>
          <p:cNvPr id="116" name="TextBox 115"/>
          <p:cNvSpPr txBox="1"/>
          <p:nvPr/>
        </p:nvSpPr>
        <p:spPr>
          <a:xfrm>
            <a:off x="1691999" y="12887999"/>
            <a:ext cx="13104000" cy="486000"/>
          </a:xfrm>
          <a:prstGeom prst="rect">
            <a:avLst/>
          </a:prstGeom>
          <a:noFill/>
        </p:spPr>
        <p:txBody>
          <a:bodyPr wrap="square" lIns="0" tIns="0" rIns="0" bIns="0" anchor="ctr">
            <a:spAutoFit/>
          </a:bodyPr>
          <a:lstStyle/>
          <a:p>
            <a:pPr algn="l">
              <a:lnSpc>
                <a:spcPct val="112000"/>
              </a:lnSpc>
            </a:pPr>
            <a:r>
              <a:rPr sz="3300" b="1" i="0">
                <a:solidFill>
                  <a:srgbClr val="1D3557"/>
                </a:solidFill>
                <a:latin typeface="Arial"/>
              </a:rPr>
              <a:t>How does trust in AI differ across countries and regions?</a:t>
            </a:r>
          </a:p>
        </p:txBody>
      </p:sp>
      <p:sp>
        <p:nvSpPr>
          <p:cNvPr id="117" name="TextBox 116"/>
          <p:cNvSpPr txBox="1"/>
          <p:nvPr/>
        </p:nvSpPr>
        <p:spPr>
          <a:xfrm>
            <a:off x="14795999" y="12887999"/>
            <a:ext cx="5760000" cy="486000"/>
          </a:xfrm>
          <a:prstGeom prst="rect">
            <a:avLst/>
          </a:prstGeom>
          <a:noFill/>
        </p:spPr>
        <p:txBody>
          <a:bodyPr wrap="square" lIns="0" tIns="0" rIns="0" bIns="0" anchor="ctr">
            <a:spAutoFit/>
          </a:bodyPr>
          <a:lstStyle/>
          <a:p>
            <a:pPr algn="r">
              <a:lnSpc>
                <a:spcPct val="112000"/>
              </a:lnSpc>
            </a:pPr>
            <a:r>
              <a:rPr sz="2200" b="1" i="1">
                <a:solidFill>
                  <a:srgbClr val="2A9D8F"/>
                </a:solidFill>
                <a:latin typeface="Arial"/>
              </a:rPr>
              <a:t>Trust varies widely between countries</a:t>
            </a:r>
          </a:p>
        </p:txBody>
      </p:sp>
      <p:pic>
        <p:nvPicPr>
          <p:cNvPr id="118" name="Picture 117" descr="q1_topbottom.png"/>
          <p:cNvPicPr>
            <a:picLocks noChangeAspect="1"/>
          </p:cNvPicPr>
          <p:nvPr/>
        </p:nvPicPr>
        <p:blipFill>
          <a:blip r:embed="rId5"/>
          <a:stretch>
            <a:fillRect/>
          </a:stretch>
        </p:blipFill>
        <p:spPr>
          <a:xfrm>
            <a:off x="827999" y="13741349"/>
            <a:ext cx="10800000" cy="4580248"/>
          </a:xfrm>
          <a:prstGeom prst="rect">
            <a:avLst/>
          </a:prstGeom>
        </p:spPr>
      </p:pic>
      <p:sp>
        <p:nvSpPr>
          <p:cNvPr id="119" name="TextBox 118"/>
          <p:cNvSpPr txBox="1"/>
          <p:nvPr/>
        </p:nvSpPr>
        <p:spPr>
          <a:xfrm>
            <a:off x="827999" y="18393598"/>
            <a:ext cx="10800000" cy="288000"/>
          </a:xfrm>
          <a:prstGeom prst="rect">
            <a:avLst/>
          </a:prstGeom>
          <a:noFill/>
        </p:spPr>
        <p:txBody>
          <a:bodyPr wrap="square" lIns="0" tIns="0" rIns="0" bIns="0" anchor="t">
            <a:spAutoFit/>
          </a:bodyPr>
          <a:lstStyle/>
          <a:p>
            <a:pPr algn="l">
              <a:lnSpc>
                <a:spcPct val="112000"/>
              </a:lnSpc>
            </a:pPr>
            <a:r>
              <a:rPr sz="1650" b="0" i="1">
                <a:solidFill>
                  <a:srgbClr val="6B7A8F"/>
                </a:solidFill>
                <a:latin typeface="Arial"/>
              </a:rPr>
              <a:t>Share of people who trust AI (%), bars on a common 0–80% scale.</a:t>
            </a:r>
          </a:p>
        </p:txBody>
      </p:sp>
      <p:sp>
        <p:nvSpPr>
          <p:cNvPr id="120" name="TextBox 119"/>
          <p:cNvSpPr txBox="1"/>
          <p:nvPr/>
        </p:nvSpPr>
        <p:spPr>
          <a:xfrm>
            <a:off x="827999" y="19023598"/>
            <a:ext cx="10800000" cy="2032479"/>
          </a:xfrm>
          <a:prstGeom prst="rect">
            <a:avLst/>
          </a:prstGeom>
          <a:noFill/>
        </p:spPr>
        <p:txBody>
          <a:bodyPr wrap="square" lIns="0" tIns="0" rIns="0" bIns="0" anchor="t">
            <a:spAutoFit/>
          </a:bodyPr>
          <a:lstStyle/>
          <a:p>
            <a:pPr algn="l">
              <a:lnSpc>
                <a:spcPct val="112000"/>
              </a:lnSpc>
            </a:pPr>
            <a:r>
              <a:rPr sz="2800" b="1" i="0" dirty="0">
                <a:solidFill>
                  <a:srgbClr val="2A9D8F"/>
                </a:solidFill>
                <a:latin typeface="Arial"/>
              </a:rPr>
              <a:t>79%</a:t>
            </a:r>
            <a:r>
              <a:rPr sz="2800" b="0" i="0" dirty="0">
                <a:solidFill>
                  <a:srgbClr val="1B2A41"/>
                </a:solidFill>
                <a:latin typeface="Arial"/>
              </a:rPr>
              <a:t> Nigeria vs </a:t>
            </a:r>
            <a:r>
              <a:rPr sz="2800" b="1" i="0" dirty="0">
                <a:solidFill>
                  <a:srgbClr val="E76F51"/>
                </a:solidFill>
                <a:latin typeface="Arial"/>
              </a:rPr>
              <a:t>25%</a:t>
            </a:r>
            <a:r>
              <a:rPr sz="2800" b="0" i="0" dirty="0">
                <a:solidFill>
                  <a:srgbClr val="1B2A41"/>
                </a:solidFill>
                <a:latin typeface="Arial"/>
              </a:rPr>
              <a:t> Finland: a </a:t>
            </a:r>
            <a:r>
              <a:rPr sz="2800" b="1" i="0" dirty="0">
                <a:solidFill>
                  <a:srgbClr val="1B2A41"/>
                </a:solidFill>
                <a:latin typeface="Arial"/>
              </a:rPr>
              <a:t>54-point gap</a:t>
            </a:r>
            <a:r>
              <a:rPr sz="2800" b="0" i="0" dirty="0">
                <a:solidFill>
                  <a:srgbClr val="1B2A41"/>
                </a:solidFill>
                <a:latin typeface="Arial"/>
              </a:rPr>
              <a:t> between the most and least trusting countries.</a:t>
            </a:r>
          </a:p>
          <a:p>
            <a:pPr algn="l">
              <a:lnSpc>
                <a:spcPct val="112000"/>
              </a:lnSpc>
              <a:spcBef>
                <a:spcPts val="1133"/>
              </a:spcBef>
            </a:pPr>
            <a:r>
              <a:rPr sz="2800" b="0" i="0" dirty="0">
                <a:solidFill>
                  <a:srgbClr val="1B2A41"/>
                </a:solidFill>
                <a:latin typeface="Arial"/>
              </a:rPr>
              <a:t>India (76%) and Japan (28%) are next at each end, so the extremes are not one-off outliers.</a:t>
            </a:r>
          </a:p>
        </p:txBody>
      </p:sp>
      <p:sp>
        <p:nvSpPr>
          <p:cNvPr id="121" name="TextBox 120"/>
          <p:cNvSpPr txBox="1"/>
          <p:nvPr/>
        </p:nvSpPr>
        <p:spPr>
          <a:xfrm>
            <a:off x="12420000" y="13680988"/>
            <a:ext cx="8135999" cy="324000"/>
          </a:xfrm>
          <a:prstGeom prst="rect">
            <a:avLst/>
          </a:prstGeom>
          <a:noFill/>
        </p:spPr>
        <p:txBody>
          <a:bodyPr wrap="square" lIns="0" tIns="0" rIns="0" bIns="0" anchor="t">
            <a:spAutoFit/>
          </a:bodyPr>
          <a:lstStyle/>
          <a:p>
            <a:pPr algn="l">
              <a:lnSpc>
                <a:spcPct val="112000"/>
              </a:lnSpc>
            </a:pPr>
            <a:r>
              <a:rPr sz="2090" b="1" i="0" dirty="0">
                <a:solidFill>
                  <a:srgbClr val="1D3557"/>
                </a:solidFill>
                <a:latin typeface="Arial"/>
              </a:rPr>
              <a:t>MEAN TRUST BY REGION</a:t>
            </a:r>
            <a:r>
              <a:rPr sz="2090" b="1" i="0" baseline="30000" dirty="0">
                <a:solidFill>
                  <a:srgbClr val="1D3557"/>
                </a:solidFill>
                <a:latin typeface="Arial"/>
              </a:rPr>
              <a:t>2</a:t>
            </a:r>
            <a:r>
              <a:rPr sz="2090" b="0" i="0" dirty="0">
                <a:solidFill>
                  <a:srgbClr val="1D3557"/>
                </a:solidFill>
                <a:latin typeface="Arial"/>
              </a:rPr>
              <a:t> </a:t>
            </a:r>
            <a:r>
              <a:rPr sz="1672" b="0" i="0" dirty="0">
                <a:solidFill>
                  <a:srgbClr val="8A94A3"/>
                </a:solidFill>
                <a:latin typeface="Arial"/>
              </a:rPr>
              <a:t>(n countries)</a:t>
            </a:r>
          </a:p>
        </p:txBody>
      </p:sp>
      <p:pic>
        <p:nvPicPr>
          <p:cNvPr id="122" name="Picture 121" descr="q1_regions.png"/>
          <p:cNvPicPr>
            <a:picLocks noChangeAspect="1"/>
          </p:cNvPicPr>
          <p:nvPr/>
        </p:nvPicPr>
        <p:blipFill>
          <a:blip r:embed="rId6"/>
          <a:stretch>
            <a:fillRect/>
          </a:stretch>
        </p:blipFill>
        <p:spPr>
          <a:xfrm>
            <a:off x="12420000" y="14121988"/>
            <a:ext cx="8135999" cy="3912708"/>
          </a:xfrm>
          <a:prstGeom prst="rect">
            <a:avLst/>
          </a:prstGeom>
        </p:spPr>
      </p:pic>
      <p:sp>
        <p:nvSpPr>
          <p:cNvPr id="123" name="Rounded Rectangle 122"/>
          <p:cNvSpPr/>
          <p:nvPr/>
        </p:nvSpPr>
        <p:spPr>
          <a:xfrm>
            <a:off x="12420000" y="18214695"/>
            <a:ext cx="8135999" cy="2541617"/>
          </a:xfrm>
          <a:prstGeom prst="roundRect">
            <a:avLst>
              <a:gd name="adj" fmla="val 5000"/>
            </a:avLst>
          </a:prstGeom>
          <a:solidFill>
            <a:srgbClr val="F4F6F9"/>
          </a:solidFill>
          <a:ln>
            <a:noFill/>
          </a:ln>
        </p:spPr>
        <p:txBody>
          <a:bodyPr rtlCol="0" anchor="ctr"/>
          <a:lstStyle/>
          <a:p>
            <a:endParaRPr/>
          </a:p>
        </p:txBody>
      </p:sp>
      <p:sp>
        <p:nvSpPr>
          <p:cNvPr id="124" name="TextBox 123"/>
          <p:cNvSpPr txBox="1"/>
          <p:nvPr/>
        </p:nvSpPr>
        <p:spPr>
          <a:xfrm>
            <a:off x="12636000" y="18394696"/>
            <a:ext cx="7703999" cy="324000"/>
          </a:xfrm>
          <a:prstGeom prst="rect">
            <a:avLst/>
          </a:prstGeom>
          <a:noFill/>
        </p:spPr>
        <p:txBody>
          <a:bodyPr wrap="square" lIns="0" tIns="0" rIns="0" bIns="0" anchor="t">
            <a:spAutoFit/>
          </a:bodyPr>
          <a:lstStyle/>
          <a:p>
            <a:pPr algn="l">
              <a:lnSpc>
                <a:spcPct val="112000"/>
              </a:lnSpc>
            </a:pPr>
            <a:r>
              <a:rPr sz="2090" b="1" i="0">
                <a:solidFill>
                  <a:srgbClr val="1D3557"/>
                </a:solidFill>
                <a:latin typeface="Arial"/>
              </a:rPr>
              <a:t>EMERGING VS ADVANCED ECONOMIES</a:t>
            </a:r>
            <a:r>
              <a:rPr sz="2090" b="1" i="0" baseline="30000">
                <a:solidFill>
                  <a:srgbClr val="1D3557"/>
                </a:solidFill>
                <a:latin typeface="Arial"/>
              </a:rPr>
              <a:t>1</a:t>
            </a:r>
            <a:r>
              <a:rPr sz="2090" b="0" i="0">
                <a:solidFill>
                  <a:srgbClr val="1D3557"/>
                </a:solidFill>
                <a:latin typeface="Arial"/>
              </a:rPr>
              <a:t> </a:t>
            </a:r>
            <a:r>
              <a:rPr sz="1672" b="0" i="0">
                <a:solidFill>
                  <a:srgbClr val="8A94A3"/>
                </a:solidFill>
                <a:latin typeface="Arial"/>
              </a:rPr>
              <a:t>(mean, whisker = ±1 SD)</a:t>
            </a:r>
          </a:p>
        </p:txBody>
      </p:sp>
      <p:pic>
        <p:nvPicPr>
          <p:cNvPr id="125" name="Picture 124" descr="q1_econ.png"/>
          <p:cNvPicPr>
            <a:picLocks noChangeAspect="1"/>
          </p:cNvPicPr>
          <p:nvPr/>
        </p:nvPicPr>
        <p:blipFill>
          <a:blip r:embed="rId7"/>
          <a:stretch>
            <a:fillRect/>
          </a:stretch>
        </p:blipFill>
        <p:spPr>
          <a:xfrm>
            <a:off x="12636000" y="18790696"/>
            <a:ext cx="7703999" cy="1113295"/>
          </a:xfrm>
          <a:prstGeom prst="rect">
            <a:avLst/>
          </a:prstGeom>
        </p:spPr>
      </p:pic>
      <p:sp>
        <p:nvSpPr>
          <p:cNvPr id="126" name="TextBox 125"/>
          <p:cNvSpPr txBox="1"/>
          <p:nvPr/>
        </p:nvSpPr>
        <p:spPr>
          <a:xfrm>
            <a:off x="12636000" y="19966283"/>
            <a:ext cx="7703999" cy="720000"/>
          </a:xfrm>
          <a:prstGeom prst="rect">
            <a:avLst/>
          </a:prstGeom>
          <a:noFill/>
        </p:spPr>
        <p:txBody>
          <a:bodyPr wrap="square" lIns="0" tIns="0" rIns="0" bIns="0" anchor="t">
            <a:spAutoFit/>
          </a:bodyPr>
          <a:lstStyle/>
          <a:p>
            <a:pPr algn="l">
              <a:lnSpc>
                <a:spcPct val="112000"/>
              </a:lnSpc>
            </a:pPr>
            <a:r>
              <a:rPr sz="2090" b="0" i="0" dirty="0">
                <a:solidFill>
                  <a:srgbClr val="1B2A41"/>
                </a:solidFill>
                <a:latin typeface="Arial"/>
              </a:rPr>
              <a:t>Emerging economies trust AI </a:t>
            </a:r>
            <a:r>
              <a:rPr sz="2090" b="1" i="0" dirty="0">
                <a:solidFill>
                  <a:srgbClr val="1B2A41"/>
                </a:solidFill>
                <a:latin typeface="Arial"/>
              </a:rPr>
              <a:t>17.8 pp more</a:t>
            </a:r>
            <a:r>
              <a:rPr sz="2090" b="0" i="0" dirty="0">
                <a:solidFill>
                  <a:srgbClr val="1B2A41"/>
                </a:solidFill>
                <a:latin typeface="Arial"/>
              </a:rPr>
              <a:t> on average but vary more. Mann–Whitney </a:t>
            </a:r>
            <a:r>
              <a:rPr sz="2090" b="1" i="0" dirty="0">
                <a:solidFill>
                  <a:srgbClr val="1B2A41"/>
                </a:solidFill>
                <a:latin typeface="Arial"/>
              </a:rPr>
              <a:t>U = 45.5, p &lt; 0.001</a:t>
            </a:r>
            <a:r>
              <a:rPr sz="2090" b="0" i="0" dirty="0">
                <a:solidFill>
                  <a:srgbClr val="1B2A41"/>
                </a:solidFill>
                <a:latin typeface="Arial"/>
              </a:rPr>
              <a:t>.</a:t>
            </a:r>
          </a:p>
        </p:txBody>
      </p:sp>
      <p:sp>
        <p:nvSpPr>
          <p:cNvPr id="127" name="TextBox 126"/>
          <p:cNvSpPr txBox="1"/>
          <p:nvPr/>
        </p:nvSpPr>
        <p:spPr>
          <a:xfrm>
            <a:off x="12420000" y="20826988"/>
            <a:ext cx="8135999" cy="720000"/>
          </a:xfrm>
          <a:prstGeom prst="rect">
            <a:avLst/>
          </a:prstGeom>
          <a:noFill/>
        </p:spPr>
        <p:txBody>
          <a:bodyPr wrap="square" lIns="0" tIns="0" rIns="0" bIns="0" anchor="t">
            <a:spAutoFit/>
          </a:bodyPr>
          <a:lstStyle/>
          <a:p>
            <a:pPr marL="874800" indent="-874800" algn="l">
              <a:lnSpc>
                <a:spcPct val="112000"/>
              </a:lnSpc>
            </a:pPr>
            <a:r>
              <a:rPr sz="1650" b="1" i="0">
                <a:solidFill>
                  <a:srgbClr val="E76F51"/>
                </a:solidFill>
                <a:latin typeface="Arial"/>
              </a:rPr>
              <a:t>Caveat</a:t>
            </a:r>
            <a:r>
              <a:rPr sz="1650" b="0" i="0">
                <a:solidFill>
                  <a:srgbClr val="6B7A8F"/>
                </a:solidFill>
                <a:latin typeface="Arial"/>
              </a:rPr>
              <a:t> · </a:t>
            </a:r>
            <a:r>
              <a:rPr sz="1650" b="0" i="0" baseline="30000">
                <a:solidFill>
                  <a:srgbClr val="6B7A8F"/>
                </a:solidFill>
                <a:latin typeface="Arial"/>
              </a:rPr>
              <a:t>1</a:t>
            </a:r>
            <a:r>
              <a:rPr sz="1650" b="0" i="0">
                <a:solidFill>
                  <a:srgbClr val="6B7A8F"/>
                </a:solidFill>
                <a:latin typeface="Arial"/>
              </a:rPr>
              <a:t> Group differences do not show that economic development causes trust.</a:t>
            </a:r>
          </a:p>
          <a:p>
            <a:pPr marL="874800" algn="l">
              <a:lnSpc>
                <a:spcPct val="112000"/>
              </a:lnSpc>
              <a:spcBef>
                <a:spcPts val="141"/>
              </a:spcBef>
            </a:pPr>
            <a:r>
              <a:rPr sz="1650" b="0" i="0" baseline="30000">
                <a:solidFill>
                  <a:srgbClr val="6B7A8F"/>
                </a:solidFill>
                <a:latin typeface="Arial"/>
              </a:rPr>
              <a:t>2</a:t>
            </a:r>
            <a:r>
              <a:rPr sz="1650" b="0" i="0">
                <a:solidFill>
                  <a:srgbClr val="6B7A8F"/>
                </a:solidFill>
                <a:latin typeface="Arial"/>
              </a:rPr>
              <a:t> Several regions hold only 2–3 countries, and E., S. &amp; C. Asia spans 28–76%.</a:t>
            </a:r>
          </a:p>
        </p:txBody>
      </p:sp>
      <p:sp>
        <p:nvSpPr>
          <p:cNvPr id="128" name="Rounded Rectangle 127"/>
          <p:cNvSpPr/>
          <p:nvPr/>
        </p:nvSpPr>
        <p:spPr>
          <a:xfrm>
            <a:off x="468000" y="21852000"/>
            <a:ext cx="20448000" cy="6372000"/>
          </a:xfrm>
          <a:prstGeom prst="roundRect">
            <a:avLst>
              <a:gd name="adj" fmla="val 3000"/>
            </a:avLst>
          </a:prstGeom>
          <a:noFill/>
          <a:ln w="21600">
            <a:solidFill>
              <a:srgbClr val="D8DEE6"/>
            </a:solidFill>
          </a:ln>
        </p:spPr>
        <p:txBody>
          <a:bodyPr rtlCol="0" anchor="ctr"/>
          <a:lstStyle/>
          <a:p>
            <a:endParaRPr/>
          </a:p>
        </p:txBody>
      </p:sp>
      <p:sp>
        <p:nvSpPr>
          <p:cNvPr id="129" name="Rounded Rectangle 128"/>
          <p:cNvSpPr/>
          <p:nvPr/>
        </p:nvSpPr>
        <p:spPr>
          <a:xfrm>
            <a:off x="827999" y="22194000"/>
            <a:ext cx="684000" cy="450000"/>
          </a:xfrm>
          <a:prstGeom prst="roundRect">
            <a:avLst>
              <a:gd name="adj" fmla="val 18000"/>
            </a:avLst>
          </a:prstGeom>
          <a:solidFill>
            <a:srgbClr val="6A4C9C"/>
          </a:solidFill>
          <a:ln>
            <a:noFill/>
          </a:ln>
        </p:spPr>
        <p:txBody>
          <a:bodyPr lIns="0" tIns="0" rIns="0" bIns="0" rtlCol="0" anchor="ctr"/>
          <a:lstStyle/>
          <a:p>
            <a:pPr algn="ctr"/>
            <a:r>
              <a:rPr sz="2200" b="1" i="0">
                <a:solidFill>
                  <a:srgbClr val="FFFFFF"/>
                </a:solidFill>
                <a:latin typeface="Arial"/>
              </a:rPr>
              <a:t>Q2</a:t>
            </a:r>
          </a:p>
        </p:txBody>
      </p:sp>
      <p:sp>
        <p:nvSpPr>
          <p:cNvPr id="130" name="TextBox 129"/>
          <p:cNvSpPr txBox="1"/>
          <p:nvPr/>
        </p:nvSpPr>
        <p:spPr>
          <a:xfrm>
            <a:off x="1691999" y="22176000"/>
            <a:ext cx="9504000" cy="486000"/>
          </a:xfrm>
          <a:prstGeom prst="rect">
            <a:avLst/>
          </a:prstGeom>
          <a:noFill/>
        </p:spPr>
        <p:txBody>
          <a:bodyPr wrap="square" lIns="0" tIns="0" rIns="0" bIns="0" anchor="ctr">
            <a:spAutoFit/>
          </a:bodyPr>
          <a:lstStyle/>
          <a:p>
            <a:pPr algn="l">
              <a:lnSpc>
                <a:spcPct val="112000"/>
              </a:lnSpc>
            </a:pPr>
            <a:r>
              <a:rPr sz="3300" b="1" i="0">
                <a:solidFill>
                  <a:srgbClr val="1D3557"/>
                </a:solidFill>
                <a:latin typeface="Arial"/>
              </a:rPr>
              <a:t>What factors seem to be related to AI trust?</a:t>
            </a:r>
          </a:p>
        </p:txBody>
      </p:sp>
      <p:sp>
        <p:nvSpPr>
          <p:cNvPr id="131" name="TextBox 130"/>
          <p:cNvSpPr txBox="1"/>
          <p:nvPr/>
        </p:nvSpPr>
        <p:spPr>
          <a:xfrm>
            <a:off x="11195999" y="22176000"/>
            <a:ext cx="9360000" cy="486000"/>
          </a:xfrm>
          <a:prstGeom prst="rect">
            <a:avLst/>
          </a:prstGeom>
          <a:noFill/>
        </p:spPr>
        <p:txBody>
          <a:bodyPr wrap="square" lIns="0" tIns="0" rIns="0" bIns="0" anchor="ctr">
            <a:spAutoFit/>
          </a:bodyPr>
          <a:lstStyle/>
          <a:p>
            <a:pPr algn="r">
              <a:lnSpc>
                <a:spcPct val="112000"/>
              </a:lnSpc>
            </a:pPr>
            <a:r>
              <a:rPr sz="2200" b="1" i="1">
                <a:solidFill>
                  <a:srgbClr val="2A9D8F"/>
                </a:solidFill>
                <a:latin typeface="Arial"/>
              </a:rPr>
              <a:t>Trust travels with usefulness and protection</a:t>
            </a:r>
          </a:p>
        </p:txBody>
      </p:sp>
      <p:sp>
        <p:nvSpPr>
          <p:cNvPr id="132" name="TextBox 131"/>
          <p:cNvSpPr txBox="1"/>
          <p:nvPr/>
        </p:nvSpPr>
        <p:spPr>
          <a:xfrm>
            <a:off x="827999" y="22896000"/>
            <a:ext cx="10440000" cy="324000"/>
          </a:xfrm>
          <a:prstGeom prst="rect">
            <a:avLst/>
          </a:prstGeom>
          <a:noFill/>
        </p:spPr>
        <p:txBody>
          <a:bodyPr wrap="square" lIns="0" tIns="0" rIns="0" bIns="0" anchor="t">
            <a:spAutoFit/>
          </a:bodyPr>
          <a:lstStyle/>
          <a:p>
            <a:pPr algn="l">
              <a:lnSpc>
                <a:spcPct val="112000"/>
              </a:lnSpc>
            </a:pPr>
            <a:r>
              <a:rPr sz="2090" b="1" i="0">
                <a:solidFill>
                  <a:srgbClr val="1D3557"/>
                </a:solidFill>
                <a:latin typeface="Arial"/>
              </a:rPr>
              <a:t>PEARSON CORRELATION WITH TRUST (47 COUNTRIES)</a:t>
            </a:r>
          </a:p>
        </p:txBody>
      </p:sp>
      <p:pic>
        <p:nvPicPr>
          <p:cNvPr id="133" name="Picture 132" descr="q2_corr.png"/>
          <p:cNvPicPr>
            <a:picLocks noChangeAspect="1"/>
          </p:cNvPicPr>
          <p:nvPr/>
        </p:nvPicPr>
        <p:blipFill>
          <a:blip r:embed="rId8"/>
          <a:stretch>
            <a:fillRect/>
          </a:stretch>
        </p:blipFill>
        <p:spPr>
          <a:xfrm>
            <a:off x="827999" y="23292000"/>
            <a:ext cx="10440000" cy="3892159"/>
          </a:xfrm>
          <a:prstGeom prst="rect">
            <a:avLst/>
          </a:prstGeom>
        </p:spPr>
      </p:pic>
      <p:sp>
        <p:nvSpPr>
          <p:cNvPr id="134" name="TextBox 133"/>
          <p:cNvSpPr txBox="1"/>
          <p:nvPr/>
        </p:nvSpPr>
        <p:spPr>
          <a:xfrm>
            <a:off x="827999" y="27292159"/>
            <a:ext cx="10440000" cy="576000"/>
          </a:xfrm>
          <a:prstGeom prst="rect">
            <a:avLst/>
          </a:prstGeom>
          <a:noFill/>
        </p:spPr>
        <p:txBody>
          <a:bodyPr wrap="square" lIns="0" tIns="0" rIns="0" bIns="0" anchor="t">
            <a:spAutoFit/>
          </a:bodyPr>
          <a:lstStyle/>
          <a:p>
            <a:pPr algn="l">
              <a:lnSpc>
                <a:spcPct val="112000"/>
              </a:lnSpc>
            </a:pPr>
            <a:r>
              <a:rPr sz="1650" b="1" i="0">
                <a:solidFill>
                  <a:srgbClr val="E76F51"/>
                </a:solidFill>
                <a:latin typeface="Arial"/>
              </a:rPr>
              <a:t>Caveat</a:t>
            </a:r>
            <a:r>
              <a:rPr sz="1650" b="0" i="0">
                <a:solidFill>
                  <a:srgbClr val="6B7A8F"/>
                </a:solidFill>
                <a:latin typeface="Arial"/>
              </a:rPr>
              <a:t> · Correlation is not causation and may run both ways: trusting AI may also encourage use or make safeguards look adequate.</a:t>
            </a:r>
          </a:p>
        </p:txBody>
      </p:sp>
      <p:sp>
        <p:nvSpPr>
          <p:cNvPr id="135" name="TextBox 134"/>
          <p:cNvSpPr txBox="1"/>
          <p:nvPr/>
        </p:nvSpPr>
        <p:spPr>
          <a:xfrm>
            <a:off x="12060000" y="22896000"/>
            <a:ext cx="8496000" cy="2736000"/>
          </a:xfrm>
          <a:prstGeom prst="rect">
            <a:avLst/>
          </a:prstGeom>
          <a:noFill/>
        </p:spPr>
        <p:txBody>
          <a:bodyPr wrap="square" lIns="0" tIns="0" rIns="0" bIns="0" anchor="t">
            <a:spAutoFit/>
          </a:bodyPr>
          <a:lstStyle/>
          <a:p>
            <a:pPr marL="251999" indent="-251999" algn="l">
              <a:lnSpc>
                <a:spcPct val="112000"/>
              </a:lnSpc>
              <a:buClr>
                <a:srgbClr val="2A9D8F"/>
              </a:buClr>
              <a:buChar char="•"/>
            </a:pPr>
            <a:r>
              <a:rPr sz="2090" b="1" i="0">
                <a:solidFill>
                  <a:srgbClr val="1B2A41"/>
                </a:solidFill>
                <a:latin typeface="Arial"/>
              </a:rPr>
              <a:t>Benefits matter:</a:t>
            </a:r>
            <a:r>
              <a:rPr sz="2090" b="0" i="0">
                <a:solidFill>
                  <a:srgbClr val="1B2A41"/>
                </a:solidFill>
                <a:latin typeface="Arial"/>
              </a:rPr>
              <a:t> expected and experienced benefits correlate with trust (Spearman ρ = </a:t>
            </a:r>
            <a:r>
              <a:rPr sz="2090" b="1" i="0">
                <a:solidFill>
                  <a:srgbClr val="1B2A41"/>
                </a:solidFill>
                <a:latin typeface="Arial"/>
              </a:rPr>
              <a:t>0.692</a:t>
            </a:r>
            <a:r>
              <a:rPr sz="2090" b="0" i="0">
                <a:solidFill>
                  <a:srgbClr val="1B2A41"/>
                </a:solidFill>
                <a:latin typeface="Arial"/>
              </a:rPr>
              <a:t> and </a:t>
            </a:r>
            <a:r>
              <a:rPr sz="2090" b="1" i="0">
                <a:solidFill>
                  <a:srgbClr val="1B2A41"/>
                </a:solidFill>
                <a:latin typeface="Arial"/>
              </a:rPr>
              <a:t>0.739</a:t>
            </a:r>
            <a:r>
              <a:rPr sz="2090" b="0" i="0">
                <a:solidFill>
                  <a:srgbClr val="1B2A41"/>
                </a:solidFill>
                <a:latin typeface="Arial"/>
              </a:rPr>
              <a:t>).</a:t>
            </a:r>
          </a:p>
          <a:p>
            <a:pPr marL="251999" indent="-251999" algn="l">
              <a:lnSpc>
                <a:spcPct val="112000"/>
              </a:lnSpc>
              <a:spcBef>
                <a:spcPts val="850"/>
              </a:spcBef>
              <a:buClr>
                <a:srgbClr val="2A9D8F"/>
              </a:buClr>
              <a:buChar char="•"/>
            </a:pPr>
            <a:r>
              <a:rPr sz="2090" b="1" i="0">
                <a:solidFill>
                  <a:srgbClr val="1B2A41"/>
                </a:solidFill>
                <a:latin typeface="Arial"/>
              </a:rPr>
              <a:t>Richer countries trust less:</a:t>
            </a:r>
            <a:r>
              <a:rPr sz="2090" b="0" i="0">
                <a:solidFill>
                  <a:srgbClr val="1B2A41"/>
                </a:solidFill>
                <a:latin typeface="Arial"/>
              </a:rPr>
              <a:t> GDP per capita ρ = </a:t>
            </a:r>
            <a:r>
              <a:rPr sz="2090" b="1" i="0">
                <a:solidFill>
                  <a:srgbClr val="E76F51"/>
                </a:solidFill>
                <a:latin typeface="Arial"/>
              </a:rPr>
              <a:t>−0.514</a:t>
            </a:r>
            <a:r>
              <a:rPr sz="2090" b="0" i="0">
                <a:solidFill>
                  <a:srgbClr val="1B2A41"/>
                </a:solidFill>
                <a:latin typeface="Arial"/>
              </a:rPr>
              <a:t>, consistent with the advanced-economy gap.</a:t>
            </a:r>
          </a:p>
          <a:p>
            <a:pPr marL="251999" indent="-251999" algn="l">
              <a:lnSpc>
                <a:spcPct val="112000"/>
              </a:lnSpc>
              <a:spcBef>
                <a:spcPts val="850"/>
              </a:spcBef>
              <a:buClr>
                <a:srgbClr val="2A9D8F"/>
              </a:buClr>
              <a:buChar char="•"/>
            </a:pPr>
            <a:r>
              <a:rPr sz="2090" b="1" i="0">
                <a:solidFill>
                  <a:srgbClr val="1B2A41"/>
                </a:solidFill>
                <a:latin typeface="Arial"/>
              </a:rPr>
              <a:t>Weak evidence for concerns:</a:t>
            </a:r>
            <a:r>
              <a:rPr sz="2090" b="0" i="0">
                <a:solidFill>
                  <a:srgbClr val="1B2A41"/>
                </a:solidFill>
                <a:latin typeface="Arial"/>
              </a:rPr>
              <a:t> worry about negative impacts has r = −0.324 but ρ = −0.162 (not significant after multiple-testing correction); election, misinformation and top-risk concerns are also not significant.</a:t>
            </a:r>
          </a:p>
        </p:txBody>
      </p:sp>
      <p:sp>
        <p:nvSpPr>
          <p:cNvPr id="136" name="Rounded Rectangle 135"/>
          <p:cNvSpPr/>
          <p:nvPr/>
        </p:nvSpPr>
        <p:spPr>
          <a:xfrm>
            <a:off x="12060000" y="26315999"/>
            <a:ext cx="8496000" cy="1512000"/>
          </a:xfrm>
          <a:prstGeom prst="roundRect">
            <a:avLst>
              <a:gd name="adj" fmla="val 6000"/>
            </a:avLst>
          </a:prstGeom>
          <a:solidFill>
            <a:srgbClr val="FBE9E4"/>
          </a:solidFill>
          <a:ln>
            <a:noFill/>
          </a:ln>
        </p:spPr>
        <p:txBody>
          <a:bodyPr rtlCol="0" anchor="ctr"/>
          <a:lstStyle/>
          <a:p>
            <a:endParaRPr/>
          </a:p>
        </p:txBody>
      </p:sp>
      <p:sp>
        <p:nvSpPr>
          <p:cNvPr id="137" name="Rectangle 136"/>
          <p:cNvSpPr/>
          <p:nvPr/>
        </p:nvSpPr>
        <p:spPr>
          <a:xfrm>
            <a:off x="12060000" y="26315999"/>
            <a:ext cx="90000" cy="1512000"/>
          </a:xfrm>
          <a:prstGeom prst="rect">
            <a:avLst/>
          </a:prstGeom>
          <a:solidFill>
            <a:srgbClr val="E76F51"/>
          </a:solidFill>
          <a:ln>
            <a:noFill/>
          </a:ln>
        </p:spPr>
        <p:txBody>
          <a:bodyPr rtlCol="0" anchor="ctr"/>
          <a:lstStyle/>
          <a:p>
            <a:endParaRPr/>
          </a:p>
        </p:txBody>
      </p:sp>
      <p:sp>
        <p:nvSpPr>
          <p:cNvPr id="138" name="TextBox 137"/>
          <p:cNvSpPr txBox="1"/>
          <p:nvPr/>
        </p:nvSpPr>
        <p:spPr>
          <a:xfrm>
            <a:off x="12347999" y="26442000"/>
            <a:ext cx="7992000" cy="1296000"/>
          </a:xfrm>
          <a:prstGeom prst="rect">
            <a:avLst/>
          </a:prstGeom>
          <a:noFill/>
        </p:spPr>
        <p:txBody>
          <a:bodyPr wrap="square" lIns="0" tIns="0" rIns="0" bIns="0" anchor="t">
            <a:spAutoFit/>
          </a:bodyPr>
          <a:lstStyle/>
          <a:p>
            <a:pPr algn="l">
              <a:lnSpc>
                <a:spcPct val="112000"/>
              </a:lnSpc>
            </a:pPr>
            <a:r>
              <a:rPr sz="2090" b="1" i="0">
                <a:solidFill>
                  <a:srgbClr val="1B2A41"/>
                </a:solidFill>
                <a:latin typeface="Arial"/>
              </a:rPr>
              <a:t>Accepting AI ≠ trusting AI.</a:t>
            </a:r>
            <a:r>
              <a:rPr sz="2090" b="0" i="0">
                <a:solidFill>
                  <a:srgbClr val="1B2A41"/>
                </a:solidFill>
                <a:latin typeface="Arial"/>
              </a:rPr>
              <a:t> Acceptance exceeds trust across countries. </a:t>
            </a:r>
            <a:r>
              <a:rPr sz="2090" b="1" i="0">
                <a:solidFill>
                  <a:srgbClr val="1B2A41"/>
                </a:solidFill>
                <a:latin typeface="Arial"/>
              </a:rPr>
              <a:t>Lithuania: 76% accept, 34% trust.</a:t>
            </a:r>
            <a:r>
              <a:rPr sz="2090" b="0" i="0">
                <a:solidFill>
                  <a:srgbClr val="1B2A41"/>
                </a:solidFill>
                <a:latin typeface="Arial"/>
              </a:rPr>
              <a:t> (Country-level data cannot show whether the same individuals hold both views.)</a:t>
            </a:r>
          </a:p>
        </p:txBody>
      </p:sp>
    </p:spTree>
    <p:extLst>
      <p:ext uri="{BB962C8B-B14F-4D97-AF65-F5344CB8AC3E}">
        <p14:creationId xmlns:p14="http://schemas.microsoft.com/office/powerpoint/2010/main" val="2744477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Rectangle 5"/>
          <p:cNvSpPr txBox="1">
            <a:spLocks noChangeArrowheads="1"/>
          </p:cNvSpPr>
          <p:nvPr/>
        </p:nvSpPr>
        <p:spPr bwMode="auto">
          <a:xfrm>
            <a:off x="451575" y="3446038"/>
            <a:ext cx="20801074"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79" tIns="47890" rIns="95779" bIns="47890" numCol="1" anchor="ctr" anchorCtr="0" compatLnSpc="1">
            <a:prstTxWarp prst="textNoShape">
              <a:avLst/>
            </a:prstTxWarp>
          </a:bodyPr>
          <a:lstStyle>
            <a:lvl1pPr algn="ctr" defTabSz="957263" rtl="0" fontAlgn="base">
              <a:spcBef>
                <a:spcPct val="0"/>
              </a:spcBef>
              <a:spcAft>
                <a:spcPct val="0"/>
              </a:spcAft>
              <a:defRPr sz="4600" kern="1200">
                <a:solidFill>
                  <a:schemeClr val="tx1"/>
                </a:solidFill>
                <a:latin typeface="+mj-lt"/>
                <a:ea typeface="+mj-ea"/>
                <a:cs typeface="+mj-cs"/>
              </a:defRPr>
            </a:lvl1pPr>
            <a:lvl2pPr algn="ctr" defTabSz="957263" rtl="0" fontAlgn="base">
              <a:spcBef>
                <a:spcPct val="0"/>
              </a:spcBef>
              <a:spcAft>
                <a:spcPct val="0"/>
              </a:spcAft>
              <a:defRPr sz="4600">
                <a:solidFill>
                  <a:schemeClr val="tx1"/>
                </a:solidFill>
                <a:latin typeface="Calibri" pitchFamily="34" charset="0"/>
              </a:defRPr>
            </a:lvl2pPr>
            <a:lvl3pPr algn="ctr" defTabSz="957263" rtl="0" fontAlgn="base">
              <a:spcBef>
                <a:spcPct val="0"/>
              </a:spcBef>
              <a:spcAft>
                <a:spcPct val="0"/>
              </a:spcAft>
              <a:defRPr sz="4600">
                <a:solidFill>
                  <a:schemeClr val="tx1"/>
                </a:solidFill>
                <a:latin typeface="Calibri" pitchFamily="34" charset="0"/>
              </a:defRPr>
            </a:lvl3pPr>
            <a:lvl4pPr algn="ctr" defTabSz="957263" rtl="0" fontAlgn="base">
              <a:spcBef>
                <a:spcPct val="0"/>
              </a:spcBef>
              <a:spcAft>
                <a:spcPct val="0"/>
              </a:spcAft>
              <a:defRPr sz="4600">
                <a:solidFill>
                  <a:schemeClr val="tx1"/>
                </a:solidFill>
                <a:latin typeface="Calibri" pitchFamily="34" charset="0"/>
              </a:defRPr>
            </a:lvl4pPr>
            <a:lvl5pPr algn="ctr" defTabSz="957263" rtl="0" fontAlgn="base">
              <a:spcBef>
                <a:spcPct val="0"/>
              </a:spcBef>
              <a:spcAft>
                <a:spcPct val="0"/>
              </a:spcAft>
              <a:defRPr sz="4600">
                <a:solidFill>
                  <a:schemeClr val="tx1"/>
                </a:solidFill>
                <a:latin typeface="Calibri" pitchFamily="34" charset="0"/>
              </a:defRPr>
            </a:lvl5pPr>
            <a:lvl6pPr marL="457200" algn="ctr" defTabSz="957263" rtl="0" fontAlgn="base">
              <a:spcBef>
                <a:spcPct val="0"/>
              </a:spcBef>
              <a:spcAft>
                <a:spcPct val="0"/>
              </a:spcAft>
              <a:defRPr sz="4600">
                <a:solidFill>
                  <a:schemeClr val="tx1"/>
                </a:solidFill>
                <a:latin typeface="Calibri" pitchFamily="34" charset="0"/>
              </a:defRPr>
            </a:lvl6pPr>
            <a:lvl7pPr marL="914400" algn="ctr" defTabSz="957263" rtl="0" fontAlgn="base">
              <a:spcBef>
                <a:spcPct val="0"/>
              </a:spcBef>
              <a:spcAft>
                <a:spcPct val="0"/>
              </a:spcAft>
              <a:defRPr sz="4600">
                <a:solidFill>
                  <a:schemeClr val="tx1"/>
                </a:solidFill>
                <a:latin typeface="Calibri" pitchFamily="34" charset="0"/>
              </a:defRPr>
            </a:lvl7pPr>
            <a:lvl8pPr marL="1371600" algn="ctr" defTabSz="957263" rtl="0" fontAlgn="base">
              <a:spcBef>
                <a:spcPct val="0"/>
              </a:spcBef>
              <a:spcAft>
                <a:spcPct val="0"/>
              </a:spcAft>
              <a:defRPr sz="4600">
                <a:solidFill>
                  <a:schemeClr val="tx1"/>
                </a:solidFill>
                <a:latin typeface="Calibri" pitchFamily="34" charset="0"/>
              </a:defRPr>
            </a:lvl8pPr>
            <a:lvl9pPr marL="1828800" algn="ctr" defTabSz="957263" rtl="0" fontAlgn="base">
              <a:spcBef>
                <a:spcPct val="0"/>
              </a:spcBef>
              <a:spcAft>
                <a:spcPct val="0"/>
              </a:spcAft>
              <a:defRPr sz="4600">
                <a:solidFill>
                  <a:schemeClr val="tx1"/>
                </a:solidFill>
                <a:latin typeface="Calibri" pitchFamily="34" charset="0"/>
              </a:defRPr>
            </a:lvl9pPr>
          </a:lstStyle>
          <a:p>
            <a:pPr algn="l"/>
            <a:r>
              <a:rPr lang="en-US" altLang="en-US" sz="6000" b="1" dirty="0">
                <a:solidFill>
                  <a:srgbClr val="C60C30"/>
                </a:solidFill>
                <a:latin typeface="Arial" panose="020B0604020202020204" pitchFamily="34" charset="0"/>
                <a:cs typeface="Arial" panose="020B0604020202020204" pitchFamily="34" charset="0"/>
              </a:rPr>
              <a:t>Global AI Trust and Attitudes</a:t>
            </a:r>
          </a:p>
        </p:txBody>
      </p:sp>
      <p:sp>
        <p:nvSpPr>
          <p:cNvPr id="84" name="Rectangle 6"/>
          <p:cNvSpPr txBox="1">
            <a:spLocks noChangeArrowheads="1"/>
          </p:cNvSpPr>
          <p:nvPr/>
        </p:nvSpPr>
        <p:spPr bwMode="auto">
          <a:xfrm>
            <a:off x="468000" y="4502795"/>
            <a:ext cx="19700800" cy="70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har char="•"/>
              <a:defRPr sz="3200">
                <a:solidFill>
                  <a:schemeClr val="tx1"/>
                </a:solidFill>
                <a:latin typeface="Helvetica Neue Light"/>
                <a:ea typeface="ＭＳ Ｐゴシック" pitchFamily="34" charset="-128"/>
              </a:defRPr>
            </a:lvl1pPr>
            <a:lvl2pPr marL="742950" indent="-285750" eaLnBrk="0" hangingPunct="0">
              <a:spcBef>
                <a:spcPct val="20000"/>
              </a:spcBef>
              <a:buChar char="–"/>
              <a:defRPr sz="2800">
                <a:solidFill>
                  <a:schemeClr val="tx1"/>
                </a:solidFill>
                <a:latin typeface="Helvetica Neue Light"/>
                <a:ea typeface="ＭＳ Ｐゴシック" pitchFamily="34" charset="-128"/>
              </a:defRPr>
            </a:lvl2pPr>
            <a:lvl3pPr marL="1143000" indent="-228600" eaLnBrk="0" hangingPunct="0">
              <a:spcBef>
                <a:spcPct val="20000"/>
              </a:spcBef>
              <a:buChar char="•"/>
              <a:defRPr sz="2400">
                <a:solidFill>
                  <a:schemeClr val="tx1"/>
                </a:solidFill>
                <a:latin typeface="Helvetica Neue Light"/>
                <a:ea typeface="ＭＳ Ｐゴシック" pitchFamily="34" charset="-128"/>
              </a:defRPr>
            </a:lvl3pPr>
            <a:lvl4pPr marL="1600200" indent="-228600" eaLnBrk="0" hangingPunct="0">
              <a:spcBef>
                <a:spcPct val="20000"/>
              </a:spcBef>
              <a:buChar char="–"/>
              <a:defRPr sz="2000">
                <a:solidFill>
                  <a:schemeClr val="tx1"/>
                </a:solidFill>
                <a:latin typeface="Helvetica Neue Light"/>
                <a:ea typeface="ＭＳ Ｐゴシック" pitchFamily="34" charset="-128"/>
              </a:defRPr>
            </a:lvl4pPr>
            <a:lvl5pPr marL="2057400" indent="-228600" eaLnBrk="0" hangingPunct="0">
              <a:spcBef>
                <a:spcPct val="20000"/>
              </a:spcBef>
              <a:buChar char="»"/>
              <a:defRPr sz="2000">
                <a:solidFill>
                  <a:schemeClr val="tx1"/>
                </a:solidFill>
                <a:latin typeface="Helvetica Neue Light"/>
                <a:ea typeface="ＭＳ Ｐゴシック" pitchFamily="34" charset="-128"/>
              </a:defRPr>
            </a:lvl5pPr>
            <a:lvl6pPr marL="25146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6pPr>
            <a:lvl7pPr marL="29718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7pPr>
            <a:lvl8pPr marL="34290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8pPr>
            <a:lvl9pPr marL="3886200" indent="-228600" eaLnBrk="0" fontAlgn="base" hangingPunct="0">
              <a:spcBef>
                <a:spcPct val="20000"/>
              </a:spcBef>
              <a:spcAft>
                <a:spcPct val="0"/>
              </a:spcAft>
              <a:buChar char="»"/>
              <a:defRPr sz="2000">
                <a:solidFill>
                  <a:schemeClr val="tx1"/>
                </a:solidFill>
                <a:latin typeface="Helvetica Neue Light"/>
                <a:ea typeface="ＭＳ Ｐゴシック" pitchFamily="34" charset="-128"/>
              </a:defRPr>
            </a:lvl9pPr>
          </a:lstStyle>
          <a:p>
            <a:pPr marL="0" indent="0">
              <a:buNone/>
            </a:pPr>
            <a:r>
              <a:rPr lang="en-SG" altLang="en-US" sz="4000" b="1" dirty="0">
                <a:solidFill>
                  <a:schemeClr val="tx2"/>
                </a:solidFill>
                <a:latin typeface="Arial" panose="020B0604020202020204" pitchFamily="34" charset="0"/>
                <a:cs typeface="Arial" panose="020B0604020202020204" pitchFamily="34" charset="0"/>
              </a:rPr>
              <a:t>Prediction, trend and implications</a:t>
            </a:r>
            <a:endParaRPr lang="en-US" altLang="en-US" sz="4000" b="1" dirty="0">
              <a:solidFill>
                <a:schemeClr val="tx2"/>
              </a:solidFill>
              <a:latin typeface="Arial" panose="020B0604020202020204" pitchFamily="34" charset="0"/>
              <a:cs typeface="Arial" panose="020B0604020202020204" pitchFamily="34" charset="0"/>
            </a:endParaRPr>
          </a:p>
          <a:p>
            <a:pPr eaLnBrk="1" hangingPunct="1">
              <a:spcBef>
                <a:spcPct val="0"/>
              </a:spcBef>
              <a:buFontTx/>
              <a:buNone/>
            </a:pPr>
            <a:endParaRPr lang="en-US" altLang="en-US" sz="4000" b="1" baseline="0" dirty="0">
              <a:solidFill>
                <a:srgbClr val="1F497D"/>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7D5076B-08C0-49E2-A14D-FFFAEEEA18F7}"/>
              </a:ext>
            </a:extLst>
          </p:cNvPr>
          <p:cNvPicPr>
            <a:picLocks noChangeAspect="1"/>
          </p:cNvPicPr>
          <p:nvPr/>
        </p:nvPicPr>
        <p:blipFill>
          <a:blip r:embed="rId3"/>
          <a:stretch>
            <a:fillRect/>
          </a:stretch>
        </p:blipFill>
        <p:spPr>
          <a:xfrm>
            <a:off x="451575" y="594371"/>
            <a:ext cx="5963078" cy="2736304"/>
          </a:xfrm>
          <a:prstGeom prst="rect">
            <a:avLst/>
          </a:prstGeom>
        </p:spPr>
      </p:pic>
      <p:pic>
        <p:nvPicPr>
          <p:cNvPr id="5" name="Picture 4">
            <a:extLst>
              <a:ext uri="{FF2B5EF4-FFF2-40B4-BE49-F238E27FC236}">
                <a16:creationId xmlns:a16="http://schemas.microsoft.com/office/drawing/2014/main" id="{56B80432-DCC8-4AA6-AC86-321F9E4A24AA}"/>
              </a:ext>
            </a:extLst>
          </p:cNvPr>
          <p:cNvPicPr>
            <a:picLocks noChangeAspect="1"/>
          </p:cNvPicPr>
          <p:nvPr/>
        </p:nvPicPr>
        <p:blipFill>
          <a:blip r:embed="rId4"/>
          <a:stretch>
            <a:fillRect/>
          </a:stretch>
        </p:blipFill>
        <p:spPr>
          <a:xfrm>
            <a:off x="29192" y="28473213"/>
            <a:ext cx="21357608" cy="1877437"/>
          </a:xfrm>
          <a:prstGeom prst="rect">
            <a:avLst/>
          </a:prstGeom>
        </p:spPr>
      </p:pic>
      <p:sp>
        <p:nvSpPr>
          <p:cNvPr id="12" name="TextBox 11">
            <a:extLst>
              <a:ext uri="{FF2B5EF4-FFF2-40B4-BE49-F238E27FC236}">
                <a16:creationId xmlns:a16="http://schemas.microsoft.com/office/drawing/2014/main" id="{3553373E-F7B3-4291-8CC9-CFA3085C0DED}"/>
              </a:ext>
            </a:extLst>
          </p:cNvPr>
          <p:cNvSpPr txBox="1"/>
          <p:nvPr/>
        </p:nvSpPr>
        <p:spPr>
          <a:xfrm>
            <a:off x="2754157" y="28402538"/>
            <a:ext cx="16195909" cy="1877437"/>
          </a:xfrm>
          <a:prstGeom prst="rect">
            <a:avLst/>
          </a:prstGeom>
          <a:noFill/>
        </p:spPr>
        <p:txBody>
          <a:bodyPr wrap="none" rtlCol="0">
            <a:spAutoFit/>
          </a:bodyPr>
          <a:lstStyle/>
          <a:p>
            <a:pPr algn="ctr"/>
            <a:r>
              <a:rPr lang="en-SG" b="1" dirty="0">
                <a:solidFill>
                  <a:schemeClr val="bg1"/>
                </a:solidFill>
              </a:rPr>
              <a:t>2026 T1</a:t>
            </a:r>
          </a:p>
          <a:p>
            <a:pPr algn="ctr"/>
            <a:r>
              <a:rPr lang="en-SG" b="1" dirty="0">
                <a:solidFill>
                  <a:schemeClr val="bg1"/>
                </a:solidFill>
              </a:rPr>
              <a:t>AN6002 Analytics and Machine Learning in Business</a:t>
            </a:r>
          </a:p>
        </p:txBody>
      </p:sp>
      <p:sp>
        <p:nvSpPr>
          <p:cNvPr id="85" name="TextBox 84"/>
          <p:cNvSpPr txBox="1"/>
          <p:nvPr/>
        </p:nvSpPr>
        <p:spPr>
          <a:xfrm>
            <a:off x="7920000" y="936000"/>
            <a:ext cx="12960000" cy="2232000"/>
          </a:xfrm>
          <a:prstGeom prst="rect">
            <a:avLst/>
          </a:prstGeom>
          <a:noFill/>
        </p:spPr>
        <p:txBody>
          <a:bodyPr wrap="square" lIns="0" tIns="0" rIns="0" bIns="0" anchor="t">
            <a:spAutoFit/>
          </a:bodyPr>
          <a:lstStyle/>
          <a:p>
            <a:pPr algn="r">
              <a:lnSpc>
                <a:spcPct val="112000"/>
              </a:lnSpc>
            </a:pPr>
            <a:r>
              <a:rPr sz="2420" b="1" i="0">
                <a:solidFill>
                  <a:srgbClr val="1D3557"/>
                </a:solidFill>
                <a:latin typeface="Arial"/>
              </a:rPr>
              <a:t>AN6002</a:t>
            </a:r>
            <a:r>
              <a:rPr sz="2420" b="0" i="0">
                <a:solidFill>
                  <a:srgbClr val="1D3557"/>
                </a:solidFill>
                <a:latin typeface="Arial"/>
              </a:rPr>
              <a:t> Analytics and Machine Learning in Business</a:t>
            </a:r>
          </a:p>
          <a:p>
            <a:pPr algn="r">
              <a:lnSpc>
                <a:spcPct val="112000"/>
              </a:lnSpc>
              <a:spcBef>
                <a:spcPts val="425"/>
              </a:spcBef>
            </a:pPr>
            <a:r>
              <a:rPr sz="2420" b="1" i="0">
                <a:solidFill>
                  <a:srgbClr val="1D3557"/>
                </a:solidFill>
                <a:latin typeface="Arial"/>
              </a:rPr>
              <a:t>Section A, Group 4</a:t>
            </a:r>
          </a:p>
          <a:p>
            <a:pPr algn="r">
              <a:lnSpc>
                <a:spcPct val="112000"/>
              </a:lnSpc>
              <a:spcBef>
                <a:spcPts val="425"/>
              </a:spcBef>
            </a:pPr>
            <a:r>
              <a:rPr sz="2420" b="0" i="0">
                <a:solidFill>
                  <a:srgbClr val="1D3557"/>
                </a:solidFill>
                <a:latin typeface="Arial"/>
              </a:rPr>
              <a:t>Ang Wei Hao Welthan · Felda Everyl · Guo Yutong</a:t>
            </a:r>
          </a:p>
          <a:p>
            <a:pPr algn="r">
              <a:lnSpc>
                <a:spcPct val="112000"/>
              </a:lnSpc>
              <a:spcBef>
                <a:spcPts val="425"/>
              </a:spcBef>
            </a:pPr>
            <a:r>
              <a:rPr sz="2420" b="0" i="0">
                <a:solidFill>
                  <a:srgbClr val="1D3557"/>
                </a:solidFill>
                <a:latin typeface="Arial"/>
              </a:rPr>
              <a:t>Kaitwatcharachai Onnicha · Joanne Quek</a:t>
            </a:r>
          </a:p>
        </p:txBody>
      </p:sp>
      <p:sp>
        <p:nvSpPr>
          <p:cNvPr id="86" name="Rounded Rectangle 85"/>
          <p:cNvSpPr/>
          <p:nvPr/>
        </p:nvSpPr>
        <p:spPr>
          <a:xfrm>
            <a:off x="468000" y="5347055"/>
            <a:ext cx="20448000" cy="3249743"/>
          </a:xfrm>
          <a:prstGeom prst="roundRect">
            <a:avLst>
              <a:gd name="adj" fmla="val 5000"/>
            </a:avLst>
          </a:prstGeom>
          <a:noFill/>
          <a:ln w="21600">
            <a:solidFill>
              <a:srgbClr val="D8DEE6"/>
            </a:solidFill>
          </a:ln>
        </p:spPr>
        <p:txBody>
          <a:bodyPr rtlCol="0" anchor="ctr"/>
          <a:lstStyle/>
          <a:p>
            <a:endParaRPr/>
          </a:p>
        </p:txBody>
      </p:sp>
      <p:sp>
        <p:nvSpPr>
          <p:cNvPr id="87" name="Rounded Rectangle 86"/>
          <p:cNvSpPr/>
          <p:nvPr/>
        </p:nvSpPr>
        <p:spPr>
          <a:xfrm>
            <a:off x="827999" y="5653056"/>
            <a:ext cx="684000" cy="450000"/>
          </a:xfrm>
          <a:prstGeom prst="roundRect">
            <a:avLst>
              <a:gd name="adj" fmla="val 18000"/>
            </a:avLst>
          </a:prstGeom>
          <a:solidFill>
            <a:srgbClr val="6A4C9C"/>
          </a:solidFill>
          <a:ln>
            <a:noFill/>
          </a:ln>
        </p:spPr>
        <p:txBody>
          <a:bodyPr lIns="0" tIns="0" rIns="0" bIns="0" rtlCol="0" anchor="ctr"/>
          <a:lstStyle/>
          <a:p>
            <a:pPr algn="ctr"/>
            <a:r>
              <a:rPr sz="2200" b="1" i="0">
                <a:solidFill>
                  <a:srgbClr val="FFFFFF"/>
                </a:solidFill>
                <a:latin typeface="Arial"/>
              </a:rPr>
              <a:t>Q3</a:t>
            </a:r>
          </a:p>
        </p:txBody>
      </p:sp>
      <p:sp>
        <p:nvSpPr>
          <p:cNvPr id="88" name="TextBox 87"/>
          <p:cNvSpPr txBox="1"/>
          <p:nvPr/>
        </p:nvSpPr>
        <p:spPr>
          <a:xfrm>
            <a:off x="1691999" y="5635056"/>
            <a:ext cx="9504000" cy="486000"/>
          </a:xfrm>
          <a:prstGeom prst="rect">
            <a:avLst/>
          </a:prstGeom>
          <a:noFill/>
        </p:spPr>
        <p:txBody>
          <a:bodyPr wrap="square" lIns="0" tIns="0" rIns="0" bIns="0" anchor="ctr">
            <a:spAutoFit/>
          </a:bodyPr>
          <a:lstStyle/>
          <a:p>
            <a:pPr algn="l">
              <a:lnSpc>
                <a:spcPct val="112000"/>
              </a:lnSpc>
            </a:pPr>
            <a:r>
              <a:rPr sz="3300" b="1" i="0">
                <a:solidFill>
                  <a:srgbClr val="1D3557"/>
                </a:solidFill>
                <a:latin typeface="Arial"/>
              </a:rPr>
              <a:t>Can we predict AI trust from these factors?</a:t>
            </a:r>
          </a:p>
        </p:txBody>
      </p:sp>
      <p:sp>
        <p:nvSpPr>
          <p:cNvPr id="89" name="TextBox 88"/>
          <p:cNvSpPr txBox="1"/>
          <p:nvPr/>
        </p:nvSpPr>
        <p:spPr>
          <a:xfrm>
            <a:off x="11195999" y="5635056"/>
            <a:ext cx="9360000" cy="486000"/>
          </a:xfrm>
          <a:prstGeom prst="rect">
            <a:avLst/>
          </a:prstGeom>
          <a:noFill/>
        </p:spPr>
        <p:txBody>
          <a:bodyPr wrap="square" lIns="0" tIns="0" rIns="0" bIns="0" anchor="ctr">
            <a:spAutoFit/>
          </a:bodyPr>
          <a:lstStyle/>
          <a:p>
            <a:pPr algn="r">
              <a:lnSpc>
                <a:spcPct val="112000"/>
              </a:lnSpc>
            </a:pPr>
            <a:r>
              <a:rPr sz="2200" b="1" i="1">
                <a:solidFill>
                  <a:srgbClr val="2A9D8F"/>
                </a:solidFill>
                <a:latin typeface="Arial"/>
              </a:rPr>
              <a:t>Step 1: 36 overlapping candidates </a:t>
            </a:r>
            <a:r>
              <a:rPr sz="2200" b="1" i="1">
                <a:solidFill>
                  <a:srgbClr val="2A9D8F"/>
                </a:solidFill>
                <a:latin typeface="Calibri"/>
              </a:rPr>
              <a:t>→</a:t>
            </a:r>
            <a:r>
              <a:rPr sz="2200" b="1" i="1">
                <a:solidFill>
                  <a:srgbClr val="2A9D8F"/>
                </a:solidFill>
                <a:latin typeface="Arial"/>
              </a:rPr>
              <a:t> 4 inputs</a:t>
            </a:r>
          </a:p>
        </p:txBody>
      </p:sp>
      <p:sp>
        <p:nvSpPr>
          <p:cNvPr id="90" name="Rounded Rectangle 89"/>
          <p:cNvSpPr/>
          <p:nvPr/>
        </p:nvSpPr>
        <p:spPr>
          <a:xfrm>
            <a:off x="827999" y="6319055"/>
            <a:ext cx="4797000" cy="2021448"/>
          </a:xfrm>
          <a:prstGeom prst="roundRect">
            <a:avLst>
              <a:gd name="adj" fmla="val 7000"/>
            </a:avLst>
          </a:prstGeom>
          <a:solidFill>
            <a:srgbClr val="F4F6F9"/>
          </a:solidFill>
          <a:ln>
            <a:noFill/>
          </a:ln>
        </p:spPr>
        <p:txBody>
          <a:bodyPr rtlCol="0" anchor="ctr"/>
          <a:lstStyle/>
          <a:p>
            <a:endParaRPr/>
          </a:p>
        </p:txBody>
      </p:sp>
      <p:sp>
        <p:nvSpPr>
          <p:cNvPr id="91" name="TextBox 90"/>
          <p:cNvSpPr txBox="1"/>
          <p:nvPr/>
        </p:nvSpPr>
        <p:spPr>
          <a:xfrm>
            <a:off x="1007999" y="6463055"/>
            <a:ext cx="4437000" cy="1044838"/>
          </a:xfrm>
          <a:prstGeom prst="rect">
            <a:avLst/>
          </a:prstGeom>
          <a:noFill/>
        </p:spPr>
        <p:txBody>
          <a:bodyPr wrap="square" lIns="0" tIns="0" rIns="0" bIns="0" anchor="t">
            <a:spAutoFit/>
          </a:bodyPr>
          <a:lstStyle/>
          <a:p>
            <a:pPr algn="l">
              <a:lnSpc>
                <a:spcPct val="112000"/>
              </a:lnSpc>
            </a:pPr>
            <a:r>
              <a:rPr sz="2000" b="1" i="0" dirty="0">
                <a:solidFill>
                  <a:srgbClr val="2A9D8F"/>
                </a:solidFill>
                <a:latin typeface="Arial"/>
              </a:rPr>
              <a:t>1</a:t>
            </a:r>
            <a:r>
              <a:rPr lang="en-SG" sz="2000" b="1" i="0" dirty="0">
                <a:solidFill>
                  <a:srgbClr val="2A9D8F"/>
                </a:solidFill>
                <a:latin typeface="Arial"/>
              </a:rPr>
              <a:t>)</a:t>
            </a:r>
            <a:r>
              <a:rPr sz="2000" b="1" i="0" dirty="0">
                <a:solidFill>
                  <a:srgbClr val="2A9D8F"/>
                </a:solidFill>
                <a:latin typeface="Arial"/>
              </a:rPr>
              <a:t>  36 candidates</a:t>
            </a:r>
          </a:p>
          <a:p>
            <a:pPr algn="l">
              <a:lnSpc>
                <a:spcPct val="112000"/>
              </a:lnSpc>
              <a:spcBef>
                <a:spcPts val="283"/>
              </a:spcBef>
            </a:pPr>
            <a:r>
              <a:rPr sz="2000" b="0" i="0" dirty="0">
                <a:solidFill>
                  <a:srgbClr val="1B2A41"/>
                </a:solidFill>
                <a:latin typeface="Arial"/>
              </a:rPr>
              <a:t>Median |ρ| between inputs 0.52; 53% of pairs ≥ 0.5.</a:t>
            </a:r>
          </a:p>
        </p:txBody>
      </p:sp>
      <p:sp>
        <p:nvSpPr>
          <p:cNvPr id="92" name="Rounded Rectangle 91"/>
          <p:cNvSpPr/>
          <p:nvPr/>
        </p:nvSpPr>
        <p:spPr>
          <a:xfrm>
            <a:off x="5805000" y="6319055"/>
            <a:ext cx="4797000" cy="2021448"/>
          </a:xfrm>
          <a:prstGeom prst="roundRect">
            <a:avLst>
              <a:gd name="adj" fmla="val 7000"/>
            </a:avLst>
          </a:prstGeom>
          <a:solidFill>
            <a:srgbClr val="F4F6F9"/>
          </a:solidFill>
          <a:ln>
            <a:noFill/>
          </a:ln>
        </p:spPr>
        <p:txBody>
          <a:bodyPr rtlCol="0" anchor="ctr"/>
          <a:lstStyle/>
          <a:p>
            <a:endParaRPr/>
          </a:p>
        </p:txBody>
      </p:sp>
      <p:sp>
        <p:nvSpPr>
          <p:cNvPr id="93" name="TextBox 92"/>
          <p:cNvSpPr txBox="1"/>
          <p:nvPr/>
        </p:nvSpPr>
        <p:spPr>
          <a:xfrm>
            <a:off x="5985000" y="6463055"/>
            <a:ext cx="4437000" cy="1052148"/>
          </a:xfrm>
          <a:prstGeom prst="rect">
            <a:avLst/>
          </a:prstGeom>
          <a:noFill/>
        </p:spPr>
        <p:txBody>
          <a:bodyPr wrap="square" lIns="0" tIns="0" rIns="0" bIns="0" anchor="t">
            <a:spAutoFit/>
          </a:bodyPr>
          <a:lstStyle/>
          <a:p>
            <a:pPr algn="l">
              <a:lnSpc>
                <a:spcPct val="112000"/>
              </a:lnSpc>
            </a:pPr>
            <a:r>
              <a:rPr sz="2000" b="1" i="0" dirty="0">
                <a:solidFill>
                  <a:srgbClr val="2A9D8F"/>
                </a:solidFill>
                <a:latin typeface="Arial"/>
              </a:rPr>
              <a:t>2</a:t>
            </a:r>
            <a:r>
              <a:rPr lang="en-SG" sz="2000" b="1" i="0" dirty="0">
                <a:solidFill>
                  <a:srgbClr val="2A9D8F"/>
                </a:solidFill>
                <a:latin typeface="Arial"/>
              </a:rPr>
              <a:t>)</a:t>
            </a:r>
            <a:r>
              <a:rPr sz="2000" b="1" i="0" dirty="0">
                <a:solidFill>
                  <a:srgbClr val="2A9D8F"/>
                </a:solidFill>
                <a:latin typeface="Arial"/>
              </a:rPr>
              <a:t>  Cluster</a:t>
            </a:r>
          </a:p>
          <a:p>
            <a:pPr algn="l">
              <a:lnSpc>
                <a:spcPct val="112000"/>
              </a:lnSpc>
              <a:spcBef>
                <a:spcPts val="283"/>
              </a:spcBef>
            </a:pPr>
            <a:r>
              <a:rPr sz="2000" b="0" i="0" dirty="0">
                <a:solidFill>
                  <a:srgbClr val="1B2A41"/>
                </a:solidFill>
                <a:latin typeface="Arial"/>
              </a:rPr>
              <a:t>Hierarchical, |Spearman ρ|, threshold 0.25 </a:t>
            </a:r>
            <a:r>
              <a:rPr sz="2000" b="0" i="0" dirty="0">
                <a:solidFill>
                  <a:srgbClr val="1B2A41"/>
                </a:solidFill>
                <a:latin typeface="Calibri"/>
              </a:rPr>
              <a:t>→</a:t>
            </a:r>
            <a:r>
              <a:rPr sz="2000" b="0" i="0" dirty="0">
                <a:solidFill>
                  <a:srgbClr val="1B2A41"/>
                </a:solidFill>
                <a:latin typeface="Arial"/>
              </a:rPr>
              <a:t> 15 groups.</a:t>
            </a:r>
          </a:p>
        </p:txBody>
      </p:sp>
      <p:sp>
        <p:nvSpPr>
          <p:cNvPr id="94" name="Rounded Rectangle 93"/>
          <p:cNvSpPr/>
          <p:nvPr/>
        </p:nvSpPr>
        <p:spPr>
          <a:xfrm>
            <a:off x="10782000" y="6319055"/>
            <a:ext cx="4797000" cy="2021448"/>
          </a:xfrm>
          <a:prstGeom prst="roundRect">
            <a:avLst>
              <a:gd name="adj" fmla="val 7000"/>
            </a:avLst>
          </a:prstGeom>
          <a:solidFill>
            <a:srgbClr val="F4F6F9"/>
          </a:solidFill>
          <a:ln>
            <a:noFill/>
          </a:ln>
        </p:spPr>
        <p:txBody>
          <a:bodyPr rtlCol="0" anchor="ctr"/>
          <a:lstStyle/>
          <a:p>
            <a:endParaRPr/>
          </a:p>
        </p:txBody>
      </p:sp>
      <p:sp>
        <p:nvSpPr>
          <p:cNvPr id="95" name="TextBox 94"/>
          <p:cNvSpPr txBox="1"/>
          <p:nvPr/>
        </p:nvSpPr>
        <p:spPr>
          <a:xfrm>
            <a:off x="10962000" y="6463055"/>
            <a:ext cx="4437000" cy="1440000"/>
          </a:xfrm>
          <a:prstGeom prst="rect">
            <a:avLst/>
          </a:prstGeom>
          <a:noFill/>
        </p:spPr>
        <p:txBody>
          <a:bodyPr wrap="square" lIns="0" tIns="0" rIns="0" bIns="0" anchor="t">
            <a:spAutoFit/>
          </a:bodyPr>
          <a:lstStyle/>
          <a:p>
            <a:pPr algn="l">
              <a:lnSpc>
                <a:spcPct val="112000"/>
              </a:lnSpc>
            </a:pPr>
            <a:r>
              <a:rPr sz="2000" b="1" i="0" dirty="0">
                <a:solidFill>
                  <a:srgbClr val="2A9D8F"/>
                </a:solidFill>
                <a:latin typeface="Arial"/>
              </a:rPr>
              <a:t>3</a:t>
            </a:r>
            <a:r>
              <a:rPr lang="en-SG" sz="2000" b="1" i="0" dirty="0">
                <a:solidFill>
                  <a:srgbClr val="2A9D8F"/>
                </a:solidFill>
                <a:latin typeface="Arial"/>
              </a:rPr>
              <a:t>)</a:t>
            </a:r>
            <a:r>
              <a:rPr sz="2000" b="1" i="0" dirty="0">
                <a:solidFill>
                  <a:srgbClr val="2A9D8F"/>
                </a:solidFill>
                <a:latin typeface="Arial"/>
              </a:rPr>
              <a:t>  Pass ≥ 3 of 4 tests</a:t>
            </a:r>
          </a:p>
          <a:p>
            <a:pPr algn="l">
              <a:lnSpc>
                <a:spcPct val="112000"/>
              </a:lnSpc>
              <a:spcBef>
                <a:spcPts val="283"/>
              </a:spcBef>
            </a:pPr>
            <a:r>
              <a:rPr sz="2000" b="0" i="0" dirty="0">
                <a:solidFill>
                  <a:srgbClr val="1B2A41"/>
                </a:solidFill>
                <a:latin typeface="Arial"/>
              </a:rPr>
              <a:t>Correlation · </a:t>
            </a:r>
            <a:r>
              <a:rPr lang="en-SG" sz="2000" b="0" i="0" dirty="0">
                <a:solidFill>
                  <a:srgbClr val="1B2A41"/>
                </a:solidFill>
                <a:latin typeface="Arial"/>
              </a:rPr>
              <a:t>M</a:t>
            </a:r>
            <a:r>
              <a:rPr sz="2000" b="0" i="0" dirty="0" err="1">
                <a:solidFill>
                  <a:srgbClr val="1B2A41"/>
                </a:solidFill>
                <a:latin typeface="Arial"/>
              </a:rPr>
              <a:t>utual</a:t>
            </a:r>
            <a:r>
              <a:rPr sz="2000" b="0" i="0" dirty="0">
                <a:solidFill>
                  <a:srgbClr val="1B2A41"/>
                </a:solidFill>
                <a:latin typeface="Arial"/>
              </a:rPr>
              <a:t> info · </a:t>
            </a:r>
            <a:r>
              <a:rPr lang="en-SG" sz="2000" b="0" i="0" dirty="0">
                <a:solidFill>
                  <a:srgbClr val="1B2A41"/>
                </a:solidFill>
                <a:latin typeface="Arial"/>
              </a:rPr>
              <a:t>B</a:t>
            </a:r>
            <a:r>
              <a:rPr sz="2000" b="0" i="0" dirty="0" err="1">
                <a:solidFill>
                  <a:srgbClr val="1B2A41"/>
                </a:solidFill>
                <a:latin typeface="Arial"/>
              </a:rPr>
              <a:t>ootstrap</a:t>
            </a:r>
            <a:r>
              <a:rPr sz="2000" b="0" i="0" dirty="0">
                <a:solidFill>
                  <a:srgbClr val="1B2A41"/>
                </a:solidFill>
                <a:latin typeface="Arial"/>
              </a:rPr>
              <a:t> Lasso (200) · </a:t>
            </a:r>
            <a:r>
              <a:rPr lang="en-SG" sz="2000" b="0" i="0" dirty="0">
                <a:solidFill>
                  <a:srgbClr val="1B2A41"/>
                </a:solidFill>
                <a:latin typeface="Arial"/>
              </a:rPr>
              <a:t>R</a:t>
            </a:r>
            <a:r>
              <a:rPr sz="2000" b="0" i="0" dirty="0" err="1">
                <a:solidFill>
                  <a:srgbClr val="1B2A41"/>
                </a:solidFill>
                <a:latin typeface="Arial"/>
              </a:rPr>
              <a:t>andom</a:t>
            </a:r>
            <a:r>
              <a:rPr sz="2000" b="0" i="0" dirty="0">
                <a:solidFill>
                  <a:srgbClr val="1B2A41"/>
                </a:solidFill>
                <a:latin typeface="Arial"/>
              </a:rPr>
              <a:t> forest importance.</a:t>
            </a:r>
          </a:p>
        </p:txBody>
      </p:sp>
      <p:sp>
        <p:nvSpPr>
          <p:cNvPr id="96" name="Rounded Rectangle 95"/>
          <p:cNvSpPr/>
          <p:nvPr/>
        </p:nvSpPr>
        <p:spPr>
          <a:xfrm>
            <a:off x="15758999" y="6319055"/>
            <a:ext cx="4797000" cy="1996946"/>
          </a:xfrm>
          <a:prstGeom prst="roundRect">
            <a:avLst>
              <a:gd name="adj" fmla="val 7000"/>
            </a:avLst>
          </a:prstGeom>
          <a:solidFill>
            <a:srgbClr val="1D3557"/>
          </a:solidFill>
          <a:ln>
            <a:noFill/>
          </a:ln>
        </p:spPr>
        <p:txBody>
          <a:bodyPr rtlCol="0" anchor="ctr"/>
          <a:lstStyle/>
          <a:p>
            <a:endParaRPr/>
          </a:p>
        </p:txBody>
      </p:sp>
      <p:sp>
        <p:nvSpPr>
          <p:cNvPr id="97" name="TextBox 96"/>
          <p:cNvSpPr txBox="1"/>
          <p:nvPr/>
        </p:nvSpPr>
        <p:spPr>
          <a:xfrm>
            <a:off x="15938999" y="6463055"/>
            <a:ext cx="4437000" cy="1624227"/>
          </a:xfrm>
          <a:prstGeom prst="rect">
            <a:avLst/>
          </a:prstGeom>
          <a:noFill/>
        </p:spPr>
        <p:txBody>
          <a:bodyPr wrap="square" lIns="0" tIns="0" rIns="0" bIns="0" anchor="t">
            <a:spAutoFit/>
          </a:bodyPr>
          <a:lstStyle/>
          <a:p>
            <a:pPr algn="l">
              <a:lnSpc>
                <a:spcPct val="112000"/>
              </a:lnSpc>
            </a:pPr>
            <a:r>
              <a:rPr sz="1870" b="1" i="0" dirty="0">
                <a:solidFill>
                  <a:srgbClr val="FFFFFF"/>
                </a:solidFill>
                <a:latin typeface="Arial"/>
              </a:rPr>
              <a:t>4</a:t>
            </a:r>
            <a:r>
              <a:rPr lang="en-SG" sz="1870" b="1" i="0" dirty="0">
                <a:solidFill>
                  <a:srgbClr val="FFFFFF"/>
                </a:solidFill>
                <a:latin typeface="Arial"/>
              </a:rPr>
              <a:t>)</a:t>
            </a:r>
            <a:r>
              <a:rPr sz="1870" b="1" i="0" dirty="0">
                <a:solidFill>
                  <a:srgbClr val="FFFFFF"/>
                </a:solidFill>
                <a:latin typeface="Arial"/>
              </a:rPr>
              <a:t>  4 final inputs</a:t>
            </a:r>
          </a:p>
          <a:p>
            <a:pPr algn="l">
              <a:lnSpc>
                <a:spcPct val="112000"/>
              </a:lnSpc>
              <a:spcBef>
                <a:spcPts val="283"/>
              </a:spcBef>
            </a:pPr>
            <a:r>
              <a:rPr sz="1870" b="0" i="0" dirty="0">
                <a:solidFill>
                  <a:srgbClr val="FFFFFF"/>
                </a:solidFill>
                <a:latin typeface="Arial"/>
              </a:rPr>
              <a:t>Safeguards ρ</a:t>
            </a:r>
            <a:r>
              <a:rPr lang="en-SG" sz="1870" b="0" i="0" dirty="0">
                <a:solidFill>
                  <a:srgbClr val="FFFFFF"/>
                </a:solidFill>
                <a:latin typeface="Arial"/>
              </a:rPr>
              <a:t> =</a:t>
            </a:r>
            <a:r>
              <a:rPr sz="1870" b="0" i="0" dirty="0">
                <a:solidFill>
                  <a:srgbClr val="FFFFFF"/>
                </a:solidFill>
                <a:latin typeface="Arial"/>
              </a:rPr>
              <a:t> 0.83 · </a:t>
            </a:r>
            <a:r>
              <a:rPr lang="en-SG" sz="1870" b="0" i="0" dirty="0">
                <a:solidFill>
                  <a:srgbClr val="FFFFFF"/>
                </a:solidFill>
                <a:latin typeface="Arial"/>
              </a:rPr>
              <a:t>Workplace </a:t>
            </a:r>
            <a:r>
              <a:rPr sz="1870" b="0" i="0" dirty="0">
                <a:solidFill>
                  <a:srgbClr val="FFFFFF"/>
                </a:solidFill>
                <a:latin typeface="Arial"/>
              </a:rPr>
              <a:t>efficiency 0.82 · </a:t>
            </a:r>
            <a:r>
              <a:rPr lang="en-SG" sz="1870" b="0" i="0" dirty="0">
                <a:solidFill>
                  <a:srgbClr val="FFFFFF"/>
                </a:solidFill>
                <a:latin typeface="Arial"/>
              </a:rPr>
              <a:t>C</a:t>
            </a:r>
            <a:r>
              <a:rPr sz="1870" b="0" i="0" dirty="0" err="1">
                <a:solidFill>
                  <a:srgbClr val="FFFFFF"/>
                </a:solidFill>
                <a:latin typeface="Arial"/>
              </a:rPr>
              <a:t>an't</a:t>
            </a:r>
            <a:r>
              <a:rPr sz="1870" b="0" i="0" dirty="0">
                <a:solidFill>
                  <a:srgbClr val="FFFFFF"/>
                </a:solidFill>
                <a:latin typeface="Arial"/>
              </a:rPr>
              <a:t> work w/o AI 0.72 · </a:t>
            </a:r>
            <a:r>
              <a:rPr lang="en-SG" sz="1870" b="0" i="0" dirty="0">
                <a:solidFill>
                  <a:srgbClr val="FFFFFF"/>
                </a:solidFill>
                <a:latin typeface="Arial"/>
              </a:rPr>
              <a:t>l</a:t>
            </a:r>
            <a:r>
              <a:rPr lang="en-SG" sz="1870" dirty="0">
                <a:solidFill>
                  <a:srgbClr val="FFFFFF"/>
                </a:solidFill>
                <a:latin typeface="Arial"/>
              </a:rPr>
              <a:t>n(</a:t>
            </a:r>
            <a:r>
              <a:rPr sz="1870" b="0" i="0" dirty="0">
                <a:solidFill>
                  <a:srgbClr val="FFFFFF"/>
                </a:solidFill>
                <a:latin typeface="Arial"/>
              </a:rPr>
              <a:t>GDP</a:t>
            </a:r>
            <a:r>
              <a:rPr lang="en-SG" sz="1870" b="0" i="0" dirty="0">
                <a:solidFill>
                  <a:srgbClr val="FFFFFF"/>
                </a:solidFill>
                <a:latin typeface="Arial"/>
              </a:rPr>
              <a:t>)</a:t>
            </a:r>
            <a:r>
              <a:rPr sz="1870" b="0" i="0" dirty="0">
                <a:solidFill>
                  <a:srgbClr val="FFFFFF"/>
                </a:solidFill>
                <a:latin typeface="Arial"/>
              </a:rPr>
              <a:t> −0.51 (all p &lt; 0.001); </a:t>
            </a:r>
            <a:r>
              <a:rPr lang="en-SG" sz="1870" b="0" i="0" dirty="0">
                <a:solidFill>
                  <a:srgbClr val="FFFFFF"/>
                </a:solidFill>
                <a:latin typeface="Arial"/>
              </a:rPr>
              <a:t>M</a:t>
            </a:r>
            <a:r>
              <a:rPr sz="1870" b="0" i="0" dirty="0">
                <a:solidFill>
                  <a:srgbClr val="FFFFFF"/>
                </a:solidFill>
                <a:latin typeface="Arial"/>
              </a:rPr>
              <a:t>ax VIF 5.1 (</a:t>
            </a:r>
            <a:r>
              <a:rPr lang="en-SG" sz="1870" b="0" i="0" dirty="0">
                <a:solidFill>
                  <a:srgbClr val="FFFFFF"/>
                </a:solidFill>
                <a:latin typeface="Arial"/>
              </a:rPr>
              <a:t>previously</a:t>
            </a:r>
            <a:r>
              <a:rPr sz="1870" b="0" i="0" dirty="0">
                <a:solidFill>
                  <a:srgbClr val="FFFFFF"/>
                </a:solidFill>
                <a:latin typeface="Arial"/>
              </a:rPr>
              <a:t> 167).</a:t>
            </a:r>
          </a:p>
        </p:txBody>
      </p:sp>
      <p:sp>
        <p:nvSpPr>
          <p:cNvPr id="98" name="Rounded Rectangle 97"/>
          <p:cNvSpPr/>
          <p:nvPr/>
        </p:nvSpPr>
        <p:spPr>
          <a:xfrm>
            <a:off x="468000" y="8784000"/>
            <a:ext cx="20448000" cy="8509788"/>
          </a:xfrm>
          <a:prstGeom prst="roundRect">
            <a:avLst>
              <a:gd name="adj" fmla="val 2500"/>
            </a:avLst>
          </a:prstGeom>
          <a:noFill/>
          <a:ln w="21600">
            <a:solidFill>
              <a:srgbClr val="D8DEE6"/>
            </a:solidFill>
          </a:ln>
        </p:spPr>
        <p:txBody>
          <a:bodyPr rtlCol="0" anchor="ctr"/>
          <a:lstStyle/>
          <a:p>
            <a:endParaRPr/>
          </a:p>
        </p:txBody>
      </p:sp>
      <p:sp>
        <p:nvSpPr>
          <p:cNvPr id="99" name="Rounded Rectangle 98"/>
          <p:cNvSpPr/>
          <p:nvPr/>
        </p:nvSpPr>
        <p:spPr>
          <a:xfrm>
            <a:off x="827999" y="9090000"/>
            <a:ext cx="684000" cy="450000"/>
          </a:xfrm>
          <a:prstGeom prst="roundRect">
            <a:avLst>
              <a:gd name="adj" fmla="val 18000"/>
            </a:avLst>
          </a:prstGeom>
          <a:solidFill>
            <a:srgbClr val="6A4C9C"/>
          </a:solidFill>
          <a:ln>
            <a:noFill/>
          </a:ln>
        </p:spPr>
        <p:txBody>
          <a:bodyPr lIns="0" tIns="0" rIns="0" bIns="0" rtlCol="0" anchor="ctr"/>
          <a:lstStyle/>
          <a:p>
            <a:pPr algn="ctr"/>
            <a:r>
              <a:rPr sz="2200" b="1" i="0">
                <a:solidFill>
                  <a:srgbClr val="FFFFFF"/>
                </a:solidFill>
                <a:latin typeface="Arial"/>
              </a:rPr>
              <a:t>Q3</a:t>
            </a:r>
          </a:p>
        </p:txBody>
      </p:sp>
      <p:sp>
        <p:nvSpPr>
          <p:cNvPr id="100" name="TextBox 99"/>
          <p:cNvSpPr txBox="1"/>
          <p:nvPr/>
        </p:nvSpPr>
        <p:spPr>
          <a:xfrm>
            <a:off x="1691999" y="9072000"/>
            <a:ext cx="11484000" cy="486000"/>
          </a:xfrm>
          <a:prstGeom prst="rect">
            <a:avLst/>
          </a:prstGeom>
          <a:noFill/>
        </p:spPr>
        <p:txBody>
          <a:bodyPr wrap="square" lIns="0" tIns="0" rIns="0" bIns="0" anchor="ctr">
            <a:spAutoFit/>
          </a:bodyPr>
          <a:lstStyle/>
          <a:p>
            <a:pPr algn="l">
              <a:lnSpc>
                <a:spcPct val="112000"/>
              </a:lnSpc>
            </a:pPr>
            <a:r>
              <a:rPr sz="3300" b="1" i="0">
                <a:solidFill>
                  <a:srgbClr val="1D3557"/>
                </a:solidFill>
                <a:latin typeface="Arial"/>
              </a:rPr>
              <a:t>Can we predict AI trust from these factors? (continued)</a:t>
            </a:r>
          </a:p>
        </p:txBody>
      </p:sp>
      <p:sp>
        <p:nvSpPr>
          <p:cNvPr id="101" name="TextBox 100"/>
          <p:cNvSpPr txBox="1"/>
          <p:nvPr/>
        </p:nvSpPr>
        <p:spPr>
          <a:xfrm>
            <a:off x="13175999" y="8975787"/>
            <a:ext cx="7380000" cy="486000"/>
          </a:xfrm>
          <a:prstGeom prst="rect">
            <a:avLst/>
          </a:prstGeom>
          <a:noFill/>
        </p:spPr>
        <p:txBody>
          <a:bodyPr wrap="square" lIns="0" tIns="0" rIns="0" bIns="0" anchor="ctr">
            <a:spAutoFit/>
          </a:bodyPr>
          <a:lstStyle/>
          <a:p>
            <a:pPr algn="r">
              <a:lnSpc>
                <a:spcPct val="112000"/>
              </a:lnSpc>
            </a:pPr>
            <a:r>
              <a:rPr sz="2200" b="1" i="1" dirty="0">
                <a:solidFill>
                  <a:srgbClr val="2A9D8F"/>
                </a:solidFill>
                <a:latin typeface="Arial"/>
              </a:rPr>
              <a:t>Step 2: 4 inputs predict trust within ~3.7 pp</a:t>
            </a:r>
          </a:p>
        </p:txBody>
      </p:sp>
      <p:sp>
        <p:nvSpPr>
          <p:cNvPr id="102" name="TextBox 101"/>
          <p:cNvSpPr txBox="1"/>
          <p:nvPr/>
        </p:nvSpPr>
        <p:spPr>
          <a:xfrm>
            <a:off x="827999" y="9756000"/>
            <a:ext cx="13211999" cy="324000"/>
          </a:xfrm>
          <a:prstGeom prst="rect">
            <a:avLst/>
          </a:prstGeom>
          <a:noFill/>
        </p:spPr>
        <p:txBody>
          <a:bodyPr wrap="square" lIns="0" tIns="0" rIns="0" bIns="0" anchor="t">
            <a:spAutoFit/>
          </a:bodyPr>
          <a:lstStyle/>
          <a:p>
            <a:pPr algn="l">
              <a:lnSpc>
                <a:spcPct val="112000"/>
              </a:lnSpc>
            </a:pPr>
            <a:r>
              <a:rPr sz="2090" b="1" i="0">
                <a:solidFill>
                  <a:srgbClr val="1D3557"/>
                </a:solidFill>
                <a:latin typeface="Arial"/>
              </a:rPr>
              <a:t>REPEATED 5-FOLD CV (3 SHUFFLES, NESTED TUNING)</a:t>
            </a:r>
          </a:p>
        </p:txBody>
      </p:sp>
      <p:graphicFrame>
        <p:nvGraphicFramePr>
          <p:cNvPr id="103" name="Table 102"/>
          <p:cNvGraphicFramePr>
            <a:graphicFrameLocks noGrp="1"/>
          </p:cNvGraphicFramePr>
          <p:nvPr>
            <p:extLst>
              <p:ext uri="{D42A27DB-BD31-4B8C-83A1-F6EECF244321}">
                <p14:modId xmlns:p14="http://schemas.microsoft.com/office/powerpoint/2010/main" val="2455369400"/>
              </p:ext>
            </p:extLst>
          </p:nvPr>
        </p:nvGraphicFramePr>
        <p:xfrm>
          <a:off x="827999" y="10116000"/>
          <a:ext cx="11152855" cy="2005560"/>
        </p:xfrm>
        <a:graphic>
          <a:graphicData uri="http://schemas.openxmlformats.org/drawingml/2006/table">
            <a:tbl>
              <a:tblPr>
                <a:tableStyleId>{5C22544A-7EE6-4342-B048-85BDC9FD1C3A}</a:tableStyleId>
              </a:tblPr>
              <a:tblGrid>
                <a:gridCol w="2621575">
                  <a:extLst>
                    <a:ext uri="{9D8B030D-6E8A-4147-A177-3AD203B41FA5}">
                      <a16:colId xmlns:a16="http://schemas.microsoft.com/office/drawing/2014/main" val="20000"/>
                    </a:ext>
                  </a:extLst>
                </a:gridCol>
                <a:gridCol w="2132820">
                  <a:extLst>
                    <a:ext uri="{9D8B030D-6E8A-4147-A177-3AD203B41FA5}">
                      <a16:colId xmlns:a16="http://schemas.microsoft.com/office/drawing/2014/main" val="20001"/>
                    </a:ext>
                  </a:extLst>
                </a:gridCol>
                <a:gridCol w="2132820">
                  <a:extLst>
                    <a:ext uri="{9D8B030D-6E8A-4147-A177-3AD203B41FA5}">
                      <a16:colId xmlns:a16="http://schemas.microsoft.com/office/drawing/2014/main" val="20002"/>
                    </a:ext>
                  </a:extLst>
                </a:gridCol>
                <a:gridCol w="2132820">
                  <a:extLst>
                    <a:ext uri="{9D8B030D-6E8A-4147-A177-3AD203B41FA5}">
                      <a16:colId xmlns:a16="http://schemas.microsoft.com/office/drawing/2014/main" val="20003"/>
                    </a:ext>
                  </a:extLst>
                </a:gridCol>
                <a:gridCol w="2132820">
                  <a:extLst>
                    <a:ext uri="{9D8B030D-6E8A-4147-A177-3AD203B41FA5}">
                      <a16:colId xmlns:a16="http://schemas.microsoft.com/office/drawing/2014/main" val="20004"/>
                    </a:ext>
                  </a:extLst>
                </a:gridCol>
              </a:tblGrid>
              <a:tr h="316800">
                <a:tc>
                  <a:txBody>
                    <a:bodyPr/>
                    <a:lstStyle/>
                    <a:p>
                      <a:pPr algn="l"/>
                      <a:r>
                        <a:rPr sz="1760" b="1" i="0">
                          <a:solidFill>
                            <a:srgbClr val="44546A"/>
                          </a:solidFill>
                          <a:latin typeface="Arial"/>
                        </a:rPr>
                        <a:t>Model</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760" b="1" i="0">
                          <a:solidFill>
                            <a:srgbClr val="44546A"/>
                          </a:solidFill>
                          <a:latin typeface="Arial"/>
                        </a:rPr>
                        <a:t>MAE (pp)</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760" b="1" i="0">
                          <a:solidFill>
                            <a:srgbClr val="44546A"/>
                          </a:solidFill>
                          <a:latin typeface="Arial"/>
                        </a:rPr>
                        <a:t>RMSE (pp)</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760" b="1" i="0">
                          <a:solidFill>
                            <a:srgbClr val="44546A"/>
                          </a:solidFill>
                          <a:latin typeface="Arial"/>
                        </a:rPr>
                        <a:t>R</a:t>
                      </a:r>
                      <a:r>
                        <a:rPr sz="1760" b="1" i="0" baseline="30000">
                          <a:solidFill>
                            <a:srgbClr val="44546A"/>
                          </a:solidFill>
                          <a:latin typeface="Arial"/>
                        </a:rPr>
                        <a:t>2</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760" b="1" i="0">
                          <a:solidFill>
                            <a:srgbClr val="44546A"/>
                          </a:solidFill>
                          <a:latin typeface="Arial"/>
                        </a:rPr>
                        <a:t>Within ±5 pp</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16800">
                <a:tc>
                  <a:txBody>
                    <a:bodyPr/>
                    <a:lstStyle/>
                    <a:p>
                      <a:pPr algn="l"/>
                      <a:r>
                        <a:rPr sz="1980" b="0" i="0">
                          <a:solidFill>
                            <a:srgbClr val="6B7A8F"/>
                          </a:solidFill>
                          <a:latin typeface="Arial"/>
                        </a:rPr>
                        <a:t>Baseline (mean)</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6B7A8F"/>
                          </a:solidFill>
                          <a:latin typeface="Arial"/>
                        </a:rPr>
                        <a:t>9.86</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6B7A8F"/>
                          </a:solidFill>
                          <a:latin typeface="Arial"/>
                        </a:rPr>
                        <a:t>12.59</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6B7A8F"/>
                          </a:solidFill>
                          <a:latin typeface="Arial"/>
                        </a:rPr>
                        <a:t>−0.04</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6B7A8F"/>
                          </a:solidFill>
                          <a:latin typeface="Arial"/>
                        </a:rPr>
                        <a:t>29%</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6800">
                <a:tc>
                  <a:txBody>
                    <a:bodyPr/>
                    <a:lstStyle/>
                    <a:p>
                      <a:pPr algn="l"/>
                      <a:r>
                        <a:rPr sz="1980" b="1" i="0">
                          <a:solidFill>
                            <a:srgbClr val="1B2A41"/>
                          </a:solidFill>
                          <a:latin typeface="Arial"/>
                        </a:rPr>
                        <a:t>Linear regression ✓</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2F0"/>
                    </a:solidFill>
                  </a:tcPr>
                </a:tc>
                <a:tc>
                  <a:txBody>
                    <a:bodyPr/>
                    <a:lstStyle/>
                    <a:p>
                      <a:pPr algn="r"/>
                      <a:r>
                        <a:rPr sz="1980" b="1" i="0">
                          <a:solidFill>
                            <a:srgbClr val="1B2A41"/>
                          </a:solidFill>
                          <a:latin typeface="Arial"/>
                        </a:rPr>
                        <a:t>3.66</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2F0"/>
                    </a:solidFill>
                  </a:tcPr>
                </a:tc>
                <a:tc>
                  <a:txBody>
                    <a:bodyPr/>
                    <a:lstStyle/>
                    <a:p>
                      <a:pPr algn="r"/>
                      <a:r>
                        <a:rPr sz="1980" b="1" i="0">
                          <a:solidFill>
                            <a:srgbClr val="1B2A41"/>
                          </a:solidFill>
                          <a:latin typeface="Arial"/>
                        </a:rPr>
                        <a:t>4.68</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2F0"/>
                    </a:solidFill>
                  </a:tcPr>
                </a:tc>
                <a:tc>
                  <a:txBody>
                    <a:bodyPr/>
                    <a:lstStyle/>
                    <a:p>
                      <a:pPr algn="r"/>
                      <a:r>
                        <a:rPr sz="1980" b="1" i="0">
                          <a:solidFill>
                            <a:srgbClr val="1B2A41"/>
                          </a:solidFill>
                          <a:latin typeface="Arial"/>
                        </a:rPr>
                        <a:t>0.86</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2F0"/>
                    </a:solidFill>
                  </a:tcPr>
                </a:tc>
                <a:tc>
                  <a:txBody>
                    <a:bodyPr/>
                    <a:lstStyle/>
                    <a:p>
                      <a:pPr algn="r"/>
                      <a:r>
                        <a:rPr sz="1980" b="1" i="0">
                          <a:solidFill>
                            <a:srgbClr val="1B2A41"/>
                          </a:solidFill>
                          <a:latin typeface="Arial"/>
                        </a:rPr>
                        <a:t>73%</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2F0"/>
                    </a:solidFill>
                  </a:tcPr>
                </a:tc>
                <a:extLst>
                  <a:ext uri="{0D108BD9-81ED-4DB2-BD59-A6C34878D82A}">
                    <a16:rowId xmlns:a16="http://schemas.microsoft.com/office/drawing/2014/main" val="10002"/>
                  </a:ext>
                </a:extLst>
              </a:tr>
              <a:tr h="316800">
                <a:tc>
                  <a:txBody>
                    <a:bodyPr/>
                    <a:lstStyle/>
                    <a:p>
                      <a:pPr algn="l"/>
                      <a:r>
                        <a:rPr sz="1980" b="0" i="0">
                          <a:solidFill>
                            <a:srgbClr val="1B2A41"/>
                          </a:solidFill>
                          <a:latin typeface="Arial"/>
                        </a:rPr>
                        <a:t>Ridge regression</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3.67</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4.64</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0.86</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71%</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6800">
                <a:tc>
                  <a:txBody>
                    <a:bodyPr/>
                    <a:lstStyle/>
                    <a:p>
                      <a:pPr algn="l"/>
                      <a:r>
                        <a:rPr sz="1980" b="0" i="0">
                          <a:solidFill>
                            <a:srgbClr val="1B2A41"/>
                          </a:solidFill>
                          <a:latin typeface="Arial"/>
                        </a:rPr>
                        <a:t>Random forest</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4.35</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5.40</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dirty="0">
                          <a:solidFill>
                            <a:srgbClr val="1B2A41"/>
                          </a:solidFill>
                          <a:latin typeface="Arial"/>
                        </a:rPr>
                        <a:t>0.81</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65%</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6800">
                <a:tc>
                  <a:txBody>
                    <a:bodyPr/>
                    <a:lstStyle/>
                    <a:p>
                      <a:pPr algn="l"/>
                      <a:r>
                        <a:rPr sz="1980" b="0" i="0">
                          <a:solidFill>
                            <a:srgbClr val="1B2A41"/>
                          </a:solidFill>
                          <a:latin typeface="Arial"/>
                        </a:rPr>
                        <a:t>Decision tree</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5.91</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6.95</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a:solidFill>
                            <a:srgbClr val="1B2A41"/>
                          </a:solidFill>
                          <a:latin typeface="Arial"/>
                        </a:rPr>
                        <a:t>0.68</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r"/>
                      <a:r>
                        <a:rPr sz="1980" b="0" i="0" dirty="0">
                          <a:solidFill>
                            <a:srgbClr val="1B2A41"/>
                          </a:solidFill>
                          <a:latin typeface="Arial"/>
                        </a:rPr>
                        <a:t>43%</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4" name="TextBox 103"/>
          <p:cNvSpPr txBox="1"/>
          <p:nvPr/>
        </p:nvSpPr>
        <p:spPr>
          <a:xfrm>
            <a:off x="827999" y="12106799"/>
            <a:ext cx="13211999" cy="576000"/>
          </a:xfrm>
          <a:prstGeom prst="rect">
            <a:avLst/>
          </a:prstGeom>
          <a:noFill/>
        </p:spPr>
        <p:txBody>
          <a:bodyPr wrap="square" lIns="0" tIns="0" rIns="0" bIns="0" anchor="t">
            <a:spAutoFit/>
          </a:bodyPr>
          <a:lstStyle/>
          <a:p>
            <a:pPr algn="l">
              <a:lnSpc>
                <a:spcPct val="112000"/>
              </a:lnSpc>
            </a:pPr>
            <a:r>
              <a:rPr sz="1650" b="0" i="1">
                <a:solidFill>
                  <a:srgbClr val="6B7A8F"/>
                </a:solidFill>
                <a:latin typeface="Arial"/>
              </a:rPr>
              <a:t>Tuning changed MAE by &lt; 0.1 pp; a single 70/30 split ranged 2.17–5.29 pp vs 3.49–3.82 pp under repeated CV.</a:t>
            </a:r>
          </a:p>
        </p:txBody>
      </p:sp>
      <p:sp>
        <p:nvSpPr>
          <p:cNvPr id="105" name="TextBox 104"/>
          <p:cNvSpPr txBox="1"/>
          <p:nvPr/>
        </p:nvSpPr>
        <p:spPr>
          <a:xfrm>
            <a:off x="827999" y="12682799"/>
            <a:ext cx="13211999" cy="324000"/>
          </a:xfrm>
          <a:prstGeom prst="rect">
            <a:avLst/>
          </a:prstGeom>
          <a:noFill/>
        </p:spPr>
        <p:txBody>
          <a:bodyPr wrap="square" lIns="0" tIns="0" rIns="0" bIns="0" anchor="t">
            <a:spAutoFit/>
          </a:bodyPr>
          <a:lstStyle/>
          <a:p>
            <a:pPr algn="l">
              <a:lnSpc>
                <a:spcPct val="112000"/>
              </a:lnSpc>
            </a:pPr>
            <a:r>
              <a:rPr sz="2090" b="1" i="0">
                <a:solidFill>
                  <a:srgbClr val="1D3557"/>
                </a:solidFill>
                <a:latin typeface="Arial"/>
              </a:rPr>
              <a:t>WHAT GOES WITH HIGHER TRUST IN AI?</a:t>
            </a:r>
          </a:p>
        </p:txBody>
      </p:sp>
      <p:sp>
        <p:nvSpPr>
          <p:cNvPr id="106" name="TextBox 105"/>
          <p:cNvSpPr txBox="1"/>
          <p:nvPr/>
        </p:nvSpPr>
        <p:spPr>
          <a:xfrm>
            <a:off x="827999" y="13042799"/>
            <a:ext cx="13211999" cy="324000"/>
          </a:xfrm>
          <a:prstGeom prst="rect">
            <a:avLst/>
          </a:prstGeom>
          <a:noFill/>
        </p:spPr>
        <p:txBody>
          <a:bodyPr wrap="square" lIns="0" tIns="0" rIns="0" bIns="0" anchor="t">
            <a:spAutoFit/>
          </a:bodyPr>
          <a:lstStyle/>
          <a:p>
            <a:pPr algn="l">
              <a:lnSpc>
                <a:spcPct val="112000"/>
              </a:lnSpc>
            </a:pPr>
            <a:r>
              <a:rPr sz="1870" b="1" i="0">
                <a:solidFill>
                  <a:srgbClr val="1B2A41"/>
                </a:solidFill>
                <a:latin typeface="Arial"/>
              </a:rPr>
              <a:t>Model:</a:t>
            </a:r>
            <a:r>
              <a:rPr sz="1870" b="0" i="0">
                <a:solidFill>
                  <a:srgbClr val="1B2A41"/>
                </a:solidFill>
                <a:latin typeface="Arial"/>
              </a:rPr>
              <a:t> Trust = 20.7 + 0.37*Safeguards + 0.31*Efficiency + 0.25*CantWorkWithoutAI − 1.75*ln(GDP)</a:t>
            </a:r>
          </a:p>
        </p:txBody>
      </p:sp>
      <p:sp>
        <p:nvSpPr>
          <p:cNvPr id="107" name="TextBox 106"/>
          <p:cNvSpPr txBox="1"/>
          <p:nvPr/>
        </p:nvSpPr>
        <p:spPr>
          <a:xfrm>
            <a:off x="827999" y="13438800"/>
            <a:ext cx="7523999" cy="2384307"/>
          </a:xfrm>
          <a:prstGeom prst="rect">
            <a:avLst/>
          </a:prstGeom>
          <a:noFill/>
        </p:spPr>
        <p:txBody>
          <a:bodyPr wrap="square" lIns="0" tIns="0" rIns="0" bIns="0" anchor="t">
            <a:spAutoFit/>
          </a:bodyPr>
          <a:lstStyle/>
          <a:p>
            <a:pPr algn="l">
              <a:lnSpc>
                <a:spcPct val="112000"/>
              </a:lnSpc>
            </a:pPr>
            <a:r>
              <a:rPr sz="1870" b="1" i="0" dirty="0">
                <a:solidFill>
                  <a:srgbClr val="1B2A41"/>
                </a:solidFill>
                <a:latin typeface="Arial"/>
              </a:rPr>
              <a:t>Example, Singapore:</a:t>
            </a:r>
          </a:p>
          <a:p>
            <a:pPr marL="342900" indent="-342900" algn="l">
              <a:lnSpc>
                <a:spcPct val="112000"/>
              </a:lnSpc>
              <a:spcBef>
                <a:spcPts val="226"/>
              </a:spcBef>
              <a:buFont typeface="Arial" panose="020B0604020202020204" pitchFamily="34" charset="0"/>
              <a:buChar char="•"/>
            </a:pPr>
            <a:r>
              <a:rPr sz="1870" b="0" i="0" dirty="0">
                <a:solidFill>
                  <a:srgbClr val="1B2A41"/>
                </a:solidFill>
                <a:latin typeface="Arial"/>
              </a:rPr>
              <a:t>Start: 20.7</a:t>
            </a:r>
          </a:p>
          <a:p>
            <a:pPr marL="342900" indent="-342900" algn="l">
              <a:lnSpc>
                <a:spcPct val="112000"/>
              </a:lnSpc>
              <a:spcBef>
                <a:spcPts val="226"/>
              </a:spcBef>
              <a:buFont typeface="Arial" panose="020B0604020202020204" pitchFamily="34" charset="0"/>
              <a:buChar char="•"/>
            </a:pPr>
            <a:r>
              <a:rPr sz="1870" b="0" i="0" dirty="0">
                <a:solidFill>
                  <a:srgbClr val="1B2A41"/>
                </a:solidFill>
                <a:latin typeface="Arial"/>
              </a:rPr>
              <a:t>Safeguards are enough: 52% × 0.37 = </a:t>
            </a:r>
            <a:r>
              <a:rPr sz="1870" b="1" i="0" dirty="0">
                <a:solidFill>
                  <a:srgbClr val="2A9D8F"/>
                </a:solidFill>
                <a:latin typeface="Arial"/>
              </a:rPr>
              <a:t>+19.2</a:t>
            </a:r>
          </a:p>
          <a:p>
            <a:pPr marL="342900" indent="-342900" algn="l">
              <a:lnSpc>
                <a:spcPct val="112000"/>
              </a:lnSpc>
              <a:spcBef>
                <a:spcPts val="226"/>
              </a:spcBef>
              <a:buFont typeface="Arial" panose="020B0604020202020204" pitchFamily="34" charset="0"/>
              <a:buChar char="•"/>
            </a:pPr>
            <a:r>
              <a:rPr sz="1870" b="0" i="0" dirty="0">
                <a:solidFill>
                  <a:srgbClr val="1B2A41"/>
                </a:solidFill>
                <a:latin typeface="Arial"/>
              </a:rPr>
              <a:t>AI made work more efficient: 65% × 0.31 = </a:t>
            </a:r>
            <a:r>
              <a:rPr sz="1870" b="1" i="0" dirty="0">
                <a:solidFill>
                  <a:srgbClr val="2A9D8F"/>
                </a:solidFill>
                <a:latin typeface="Arial"/>
              </a:rPr>
              <a:t>+20.2</a:t>
            </a:r>
          </a:p>
          <a:p>
            <a:pPr marL="342900" indent="-342900" algn="l">
              <a:lnSpc>
                <a:spcPct val="112000"/>
              </a:lnSpc>
              <a:spcBef>
                <a:spcPts val="226"/>
              </a:spcBef>
              <a:buFont typeface="Arial" panose="020B0604020202020204" pitchFamily="34" charset="0"/>
              <a:buChar char="•"/>
            </a:pPr>
            <a:r>
              <a:rPr sz="1870" b="0" i="0" dirty="0">
                <a:solidFill>
                  <a:srgbClr val="1B2A41"/>
                </a:solidFill>
                <a:latin typeface="Arial"/>
              </a:rPr>
              <a:t>Can't work without AI: 45% × 0.25 = </a:t>
            </a:r>
            <a:r>
              <a:rPr sz="1870" b="1" i="0" dirty="0">
                <a:solidFill>
                  <a:srgbClr val="2A9D8F"/>
                </a:solidFill>
                <a:latin typeface="Arial"/>
              </a:rPr>
              <a:t>+11.3</a:t>
            </a:r>
          </a:p>
          <a:p>
            <a:pPr marL="342900" indent="-342900" algn="l">
              <a:lnSpc>
                <a:spcPct val="112000"/>
              </a:lnSpc>
              <a:spcBef>
                <a:spcPts val="226"/>
              </a:spcBef>
              <a:buFont typeface="Arial" panose="020B0604020202020204" pitchFamily="34" charset="0"/>
              <a:buChar char="•"/>
            </a:pPr>
            <a:r>
              <a:rPr sz="1870" b="0" i="0" dirty="0">
                <a:solidFill>
                  <a:srgbClr val="1B2A41"/>
                </a:solidFill>
                <a:latin typeface="Arial"/>
              </a:rPr>
              <a:t>Wealth: ln(GDP) 11.5 × −1.75 = </a:t>
            </a:r>
            <a:r>
              <a:rPr sz="1870" b="1" i="0" dirty="0">
                <a:solidFill>
                  <a:srgbClr val="E76F51"/>
                </a:solidFill>
                <a:latin typeface="Arial"/>
              </a:rPr>
              <a:t>−20.1</a:t>
            </a:r>
          </a:p>
          <a:p>
            <a:pPr algn="l">
              <a:lnSpc>
                <a:spcPct val="112000"/>
              </a:lnSpc>
              <a:spcBef>
                <a:spcPts val="226"/>
              </a:spcBef>
            </a:pPr>
            <a:r>
              <a:rPr sz="1870" b="1" i="0" dirty="0">
                <a:solidFill>
                  <a:srgbClr val="1B2A41"/>
                </a:solidFill>
                <a:latin typeface="Arial"/>
              </a:rPr>
              <a:t>Predicted trust ≈ 51% (actual: 50%)</a:t>
            </a:r>
          </a:p>
        </p:txBody>
      </p:sp>
      <p:pic>
        <p:nvPicPr>
          <p:cNvPr id="108" name="Picture 107" descr="q3_waterfall.png"/>
          <p:cNvPicPr>
            <a:picLocks noChangeAspect="1"/>
          </p:cNvPicPr>
          <p:nvPr/>
        </p:nvPicPr>
        <p:blipFill>
          <a:blip r:embed="rId5"/>
          <a:stretch>
            <a:fillRect/>
          </a:stretch>
        </p:blipFill>
        <p:spPr>
          <a:xfrm>
            <a:off x="6767998" y="13438800"/>
            <a:ext cx="5772301" cy="2599016"/>
          </a:xfrm>
          <a:prstGeom prst="rect">
            <a:avLst/>
          </a:prstGeom>
        </p:spPr>
      </p:pic>
      <p:sp>
        <p:nvSpPr>
          <p:cNvPr id="109" name="TextBox 108"/>
          <p:cNvSpPr txBox="1"/>
          <p:nvPr/>
        </p:nvSpPr>
        <p:spPr>
          <a:xfrm>
            <a:off x="827999" y="16066799"/>
            <a:ext cx="13211999" cy="576000"/>
          </a:xfrm>
          <a:prstGeom prst="rect">
            <a:avLst/>
          </a:prstGeom>
          <a:noFill/>
        </p:spPr>
        <p:txBody>
          <a:bodyPr wrap="square" lIns="0" tIns="0" rIns="0" bIns="0" anchor="t">
            <a:spAutoFit/>
          </a:bodyPr>
          <a:lstStyle/>
          <a:p>
            <a:pPr algn="l">
              <a:lnSpc>
                <a:spcPct val="112000"/>
              </a:lnSpc>
            </a:pPr>
            <a:r>
              <a:rPr sz="1980" b="1" i="0" dirty="0">
                <a:solidFill>
                  <a:srgbClr val="1D3557"/>
                </a:solidFill>
                <a:latin typeface="Arial"/>
              </a:rPr>
              <a:t>Higher safeguards, efficiency and reliance on AI push trust up; higher wealth pulls it down.</a:t>
            </a:r>
          </a:p>
        </p:txBody>
      </p:sp>
      <p:pic>
        <p:nvPicPr>
          <p:cNvPr id="110" name="Picture 109" descr="fig7.png"/>
          <p:cNvPicPr>
            <a:picLocks noChangeAspect="1"/>
          </p:cNvPicPr>
          <p:nvPr/>
        </p:nvPicPr>
        <p:blipFill>
          <a:blip r:embed="rId6"/>
          <a:stretch>
            <a:fillRect/>
          </a:stretch>
        </p:blipFill>
        <p:spPr>
          <a:xfrm>
            <a:off x="12786150" y="9432012"/>
            <a:ext cx="7523999" cy="6125992"/>
          </a:xfrm>
          <a:prstGeom prst="rect">
            <a:avLst/>
          </a:prstGeom>
        </p:spPr>
      </p:pic>
      <p:sp>
        <p:nvSpPr>
          <p:cNvPr id="111" name="TextBox 110"/>
          <p:cNvSpPr txBox="1"/>
          <p:nvPr/>
        </p:nvSpPr>
        <p:spPr>
          <a:xfrm>
            <a:off x="14306399" y="14664309"/>
            <a:ext cx="5940000" cy="288000"/>
          </a:xfrm>
          <a:prstGeom prst="rect">
            <a:avLst/>
          </a:prstGeom>
          <a:noFill/>
        </p:spPr>
        <p:txBody>
          <a:bodyPr wrap="square" lIns="0" tIns="0" rIns="0" bIns="0" anchor="t">
            <a:spAutoFit/>
          </a:bodyPr>
          <a:lstStyle/>
          <a:p>
            <a:pPr algn="l">
              <a:lnSpc>
                <a:spcPct val="112000"/>
              </a:lnSpc>
            </a:pPr>
            <a:r>
              <a:rPr sz="1650" b="0" i="1" dirty="0">
                <a:solidFill>
                  <a:srgbClr val="6B7A8F"/>
                </a:solidFill>
                <a:latin typeface="Arial"/>
              </a:rPr>
              <a:t>Predicted vs actual trust for countries the model had not seen.</a:t>
            </a:r>
          </a:p>
        </p:txBody>
      </p:sp>
      <p:sp>
        <p:nvSpPr>
          <p:cNvPr id="112" name="TextBox 111"/>
          <p:cNvSpPr txBox="1"/>
          <p:nvPr/>
        </p:nvSpPr>
        <p:spPr>
          <a:xfrm>
            <a:off x="13157999" y="15599886"/>
            <a:ext cx="7523999" cy="996235"/>
          </a:xfrm>
          <a:prstGeom prst="rect">
            <a:avLst/>
          </a:prstGeom>
          <a:noFill/>
        </p:spPr>
        <p:txBody>
          <a:bodyPr wrap="square" lIns="0" tIns="0" rIns="0" bIns="0" anchor="t">
            <a:spAutoFit/>
          </a:bodyPr>
          <a:lstStyle/>
          <a:p>
            <a:pPr algn="l">
              <a:lnSpc>
                <a:spcPct val="112000"/>
              </a:lnSpc>
            </a:pPr>
            <a:r>
              <a:rPr sz="1980" b="1" i="0" dirty="0">
                <a:solidFill>
                  <a:srgbClr val="2A9D8F"/>
                </a:solidFill>
                <a:latin typeface="Arial"/>
              </a:rPr>
              <a:t>35 of 47</a:t>
            </a:r>
            <a:r>
              <a:rPr sz="1980" b="0" i="0" dirty="0">
                <a:solidFill>
                  <a:srgbClr val="1B2A41"/>
                </a:solidFill>
                <a:latin typeface="Arial"/>
              </a:rPr>
              <a:t> countries within ±5 pp; 8 within 5–8 pp; 4 larger. Over-predicted: </a:t>
            </a:r>
            <a:r>
              <a:rPr sz="1980" b="1" i="0" dirty="0">
                <a:solidFill>
                  <a:srgbClr val="1B2A41"/>
                </a:solidFill>
                <a:latin typeface="Arial"/>
              </a:rPr>
              <a:t>Lithuania</a:t>
            </a:r>
            <a:r>
              <a:rPr sz="1980" b="0" i="0" dirty="0">
                <a:solidFill>
                  <a:srgbClr val="1B2A41"/>
                </a:solidFill>
                <a:latin typeface="Arial"/>
              </a:rPr>
              <a:t> (34% vs 47.6%). Under-predicted: </a:t>
            </a:r>
            <a:r>
              <a:rPr sz="1980" b="1" i="0" dirty="0">
                <a:solidFill>
                  <a:srgbClr val="1B2A41"/>
                </a:solidFill>
                <a:latin typeface="Arial"/>
              </a:rPr>
              <a:t>Israel</a:t>
            </a:r>
            <a:r>
              <a:rPr sz="1980" b="0" i="0" dirty="0">
                <a:solidFill>
                  <a:srgbClr val="1B2A41"/>
                </a:solidFill>
                <a:latin typeface="Arial"/>
              </a:rPr>
              <a:t> (51 vs 40.8), </a:t>
            </a:r>
            <a:r>
              <a:rPr sz="1980" b="1" i="0" dirty="0">
                <a:solidFill>
                  <a:srgbClr val="1B2A41"/>
                </a:solidFill>
                <a:latin typeface="Arial"/>
              </a:rPr>
              <a:t>Hungary</a:t>
            </a:r>
            <a:r>
              <a:rPr sz="1980" b="0" i="0" dirty="0">
                <a:solidFill>
                  <a:srgbClr val="1B2A41"/>
                </a:solidFill>
                <a:latin typeface="Arial"/>
              </a:rPr>
              <a:t> (54 vs 43.9), </a:t>
            </a:r>
            <a:r>
              <a:rPr sz="1980" b="1" i="0" dirty="0">
                <a:solidFill>
                  <a:srgbClr val="1B2A41"/>
                </a:solidFill>
                <a:latin typeface="Arial"/>
              </a:rPr>
              <a:t>Spain</a:t>
            </a:r>
            <a:r>
              <a:rPr sz="1980" b="0" i="0" dirty="0">
                <a:solidFill>
                  <a:srgbClr val="1B2A41"/>
                </a:solidFill>
                <a:latin typeface="Arial"/>
              </a:rPr>
              <a:t> (51 vs 41.3).</a:t>
            </a:r>
          </a:p>
        </p:txBody>
      </p:sp>
      <p:sp>
        <p:nvSpPr>
          <p:cNvPr id="113" name="TextBox 112"/>
          <p:cNvSpPr txBox="1"/>
          <p:nvPr/>
        </p:nvSpPr>
        <p:spPr>
          <a:xfrm>
            <a:off x="827999" y="16606799"/>
            <a:ext cx="19728000" cy="545855"/>
          </a:xfrm>
          <a:prstGeom prst="rect">
            <a:avLst/>
          </a:prstGeom>
          <a:noFill/>
        </p:spPr>
        <p:txBody>
          <a:bodyPr wrap="square" lIns="0" tIns="0" rIns="0" bIns="0" anchor="t">
            <a:spAutoFit/>
          </a:bodyPr>
          <a:lstStyle/>
          <a:p>
            <a:pPr>
              <a:lnSpc>
                <a:spcPct val="112000"/>
              </a:lnSpc>
            </a:pPr>
            <a:r>
              <a:rPr sz="1650" b="1" i="0" dirty="0">
                <a:solidFill>
                  <a:srgbClr val="E76F51"/>
                </a:solidFill>
                <a:latin typeface="Arial"/>
              </a:rPr>
              <a:t>Caveat</a:t>
            </a:r>
            <a:r>
              <a:rPr sz="1650" b="0" i="0" dirty="0">
                <a:solidFill>
                  <a:srgbClr val="6B7A8F"/>
                </a:solidFill>
                <a:latin typeface="Arial"/>
              </a:rPr>
              <a:t> · Likely optimistic: inputs were selected using all 47 countries before evaluation. </a:t>
            </a:r>
            <a:r>
              <a:rPr lang="en-GB" sz="1650" dirty="0">
                <a:solidFill>
                  <a:srgbClr val="6B7A8F"/>
                </a:solidFill>
                <a:latin typeface="Arial"/>
              </a:rPr>
              <a:t>Coefficients are associations, not policy effects. </a:t>
            </a:r>
            <a:r>
              <a:rPr sz="1650" b="0" i="0" dirty="0">
                <a:solidFill>
                  <a:srgbClr val="6B7A8F"/>
                </a:solidFill>
                <a:latin typeface="Arial"/>
              </a:rPr>
              <a:t>An in-fold-selection Ridge benchmark gives R</a:t>
            </a:r>
            <a:r>
              <a:rPr sz="1650" b="0" i="0" baseline="30000" dirty="0">
                <a:solidFill>
                  <a:srgbClr val="6B7A8F"/>
                </a:solidFill>
                <a:latin typeface="Arial"/>
              </a:rPr>
              <a:t>2</a:t>
            </a:r>
            <a:r>
              <a:rPr sz="1650" b="0" i="0" dirty="0">
                <a:solidFill>
                  <a:srgbClr val="6B7A8F"/>
                </a:solidFill>
                <a:latin typeface="Arial"/>
              </a:rPr>
              <a:t> 0.73, </a:t>
            </a:r>
            <a:br>
              <a:rPr lang="en-SG" sz="1650" b="0" i="0" dirty="0">
                <a:solidFill>
                  <a:srgbClr val="6B7A8F"/>
                </a:solidFill>
                <a:latin typeface="Arial"/>
              </a:rPr>
            </a:br>
            <a:r>
              <a:rPr sz="1650" b="0" i="0" dirty="0">
                <a:solidFill>
                  <a:srgbClr val="6B7A8F"/>
                </a:solidFill>
                <a:latin typeface="Arial"/>
              </a:rPr>
              <a:t>RMSE 5.0 (vs 0.78, 4.4 with fixed inputs). </a:t>
            </a:r>
          </a:p>
        </p:txBody>
      </p:sp>
      <p:sp>
        <p:nvSpPr>
          <p:cNvPr id="114" name="Rounded Rectangle 113"/>
          <p:cNvSpPr/>
          <p:nvPr/>
        </p:nvSpPr>
        <p:spPr>
          <a:xfrm>
            <a:off x="468000" y="17555249"/>
            <a:ext cx="20448000" cy="6096751"/>
          </a:xfrm>
          <a:prstGeom prst="roundRect">
            <a:avLst>
              <a:gd name="adj" fmla="val 4000"/>
            </a:avLst>
          </a:prstGeom>
          <a:noFill/>
          <a:ln w="21600">
            <a:solidFill>
              <a:srgbClr val="D8DEE6"/>
            </a:solidFill>
          </a:ln>
        </p:spPr>
        <p:txBody>
          <a:bodyPr rtlCol="0" anchor="ctr"/>
          <a:lstStyle/>
          <a:p>
            <a:endParaRPr/>
          </a:p>
        </p:txBody>
      </p:sp>
      <p:sp>
        <p:nvSpPr>
          <p:cNvPr id="115" name="Rounded Rectangle 114"/>
          <p:cNvSpPr/>
          <p:nvPr/>
        </p:nvSpPr>
        <p:spPr>
          <a:xfrm>
            <a:off x="827999" y="17861249"/>
            <a:ext cx="684000" cy="450000"/>
          </a:xfrm>
          <a:prstGeom prst="roundRect">
            <a:avLst>
              <a:gd name="adj" fmla="val 18000"/>
            </a:avLst>
          </a:prstGeom>
          <a:solidFill>
            <a:srgbClr val="6A4C9C"/>
          </a:solidFill>
          <a:ln>
            <a:noFill/>
          </a:ln>
        </p:spPr>
        <p:txBody>
          <a:bodyPr lIns="0" tIns="0" rIns="0" bIns="0" rtlCol="0" anchor="ctr"/>
          <a:lstStyle/>
          <a:p>
            <a:pPr algn="ctr"/>
            <a:r>
              <a:rPr sz="2200" b="1" i="0">
                <a:solidFill>
                  <a:srgbClr val="FFFFFF"/>
                </a:solidFill>
                <a:latin typeface="Arial"/>
              </a:rPr>
              <a:t>Q4</a:t>
            </a:r>
          </a:p>
        </p:txBody>
      </p:sp>
      <p:sp>
        <p:nvSpPr>
          <p:cNvPr id="116" name="TextBox 115"/>
          <p:cNvSpPr txBox="1"/>
          <p:nvPr/>
        </p:nvSpPr>
        <p:spPr>
          <a:xfrm>
            <a:off x="1691999" y="17843250"/>
            <a:ext cx="13104000" cy="486000"/>
          </a:xfrm>
          <a:prstGeom prst="rect">
            <a:avLst/>
          </a:prstGeom>
          <a:noFill/>
        </p:spPr>
        <p:txBody>
          <a:bodyPr wrap="square" lIns="0" tIns="0" rIns="0" bIns="0" anchor="ctr">
            <a:spAutoFit/>
          </a:bodyPr>
          <a:lstStyle/>
          <a:p>
            <a:pPr algn="l">
              <a:lnSpc>
                <a:spcPct val="112000"/>
              </a:lnSpc>
            </a:pPr>
            <a:r>
              <a:rPr sz="3300" b="1" i="0">
                <a:solidFill>
                  <a:srgbClr val="1D3557"/>
                </a:solidFill>
                <a:latin typeface="Arial"/>
              </a:rPr>
              <a:t>Is public perception of AI becoming more positive?</a:t>
            </a:r>
          </a:p>
        </p:txBody>
      </p:sp>
      <p:sp>
        <p:nvSpPr>
          <p:cNvPr id="117" name="TextBox 116"/>
          <p:cNvSpPr txBox="1"/>
          <p:nvPr/>
        </p:nvSpPr>
        <p:spPr>
          <a:xfrm>
            <a:off x="14795999" y="17843250"/>
            <a:ext cx="5760000" cy="486000"/>
          </a:xfrm>
          <a:prstGeom prst="rect">
            <a:avLst/>
          </a:prstGeom>
          <a:noFill/>
        </p:spPr>
        <p:txBody>
          <a:bodyPr wrap="square" lIns="0" tIns="0" rIns="0" bIns="0" anchor="ctr">
            <a:spAutoFit/>
          </a:bodyPr>
          <a:lstStyle/>
          <a:p>
            <a:pPr algn="r">
              <a:lnSpc>
                <a:spcPct val="112000"/>
              </a:lnSpc>
            </a:pPr>
            <a:r>
              <a:rPr sz="2200" b="1" i="1">
                <a:solidFill>
                  <a:srgbClr val="2A9D8F"/>
                </a:solidFill>
                <a:latin typeface="Arial"/>
              </a:rPr>
              <a:t>Leans positive, but no proven shift</a:t>
            </a:r>
          </a:p>
        </p:txBody>
      </p:sp>
      <p:sp>
        <p:nvSpPr>
          <p:cNvPr id="118" name="TextBox 117"/>
          <p:cNvSpPr txBox="1"/>
          <p:nvPr/>
        </p:nvSpPr>
        <p:spPr>
          <a:xfrm>
            <a:off x="827999" y="18527250"/>
            <a:ext cx="11880000" cy="360000"/>
          </a:xfrm>
          <a:prstGeom prst="rect">
            <a:avLst/>
          </a:prstGeom>
          <a:noFill/>
        </p:spPr>
        <p:txBody>
          <a:bodyPr wrap="square" lIns="0" tIns="0" rIns="0" bIns="0" anchor="t">
            <a:spAutoFit/>
          </a:bodyPr>
          <a:lstStyle/>
          <a:p>
            <a:pPr algn="l">
              <a:lnSpc>
                <a:spcPct val="112000"/>
              </a:lnSpc>
            </a:pPr>
            <a:r>
              <a:rPr sz="1980" b="1" i="0">
                <a:solidFill>
                  <a:srgbClr val="1D3557"/>
                </a:solidFill>
                <a:latin typeface="Arial"/>
              </a:rPr>
              <a:t>Change in % who say AI’s benefits outweigh its drawbacks, 2023 </a:t>
            </a:r>
            <a:r>
              <a:rPr sz="1980" b="1" i="0">
                <a:solidFill>
                  <a:srgbClr val="1D3557"/>
                </a:solidFill>
                <a:latin typeface="Calibri"/>
              </a:rPr>
              <a:t>→</a:t>
            </a:r>
            <a:r>
              <a:rPr sz="1980" b="1" i="0">
                <a:solidFill>
                  <a:srgbClr val="1D3557"/>
                </a:solidFill>
                <a:latin typeface="Arial"/>
              </a:rPr>
              <a:t> 2024</a:t>
            </a:r>
          </a:p>
        </p:txBody>
      </p:sp>
      <p:pic>
        <p:nvPicPr>
          <p:cNvPr id="119" name="Picture 118" descr="q4_change.png"/>
          <p:cNvPicPr>
            <a:picLocks noChangeAspect="1"/>
          </p:cNvPicPr>
          <p:nvPr/>
        </p:nvPicPr>
        <p:blipFill>
          <a:blip r:embed="rId7"/>
          <a:stretch>
            <a:fillRect/>
          </a:stretch>
        </p:blipFill>
        <p:spPr>
          <a:xfrm>
            <a:off x="827999" y="18887250"/>
            <a:ext cx="11880000" cy="4206738"/>
          </a:xfrm>
          <a:prstGeom prst="rect">
            <a:avLst/>
          </a:prstGeom>
        </p:spPr>
      </p:pic>
      <p:sp>
        <p:nvSpPr>
          <p:cNvPr id="120" name="TextBox 119"/>
          <p:cNvSpPr txBox="1"/>
          <p:nvPr/>
        </p:nvSpPr>
        <p:spPr>
          <a:xfrm>
            <a:off x="827999" y="23149038"/>
            <a:ext cx="11880000" cy="288000"/>
          </a:xfrm>
          <a:prstGeom prst="rect">
            <a:avLst/>
          </a:prstGeom>
          <a:noFill/>
        </p:spPr>
        <p:txBody>
          <a:bodyPr wrap="square" lIns="0" tIns="0" rIns="0" bIns="0" anchor="t">
            <a:spAutoFit/>
          </a:bodyPr>
          <a:lstStyle/>
          <a:p>
            <a:pPr algn="l">
              <a:lnSpc>
                <a:spcPct val="112000"/>
              </a:lnSpc>
            </a:pPr>
            <a:r>
              <a:rPr sz="1650" b="0" i="1" dirty="0">
                <a:solidFill>
                  <a:srgbClr val="6B7A8F"/>
                </a:solidFill>
                <a:latin typeface="Arial"/>
              </a:rPr>
              <a:t>30 countries with data for both years. Bars show the change in percentage points (pp).</a:t>
            </a:r>
          </a:p>
        </p:txBody>
      </p:sp>
      <p:sp>
        <p:nvSpPr>
          <p:cNvPr id="121" name="TextBox 120"/>
          <p:cNvSpPr txBox="1"/>
          <p:nvPr/>
        </p:nvSpPr>
        <p:spPr>
          <a:xfrm>
            <a:off x="13284000" y="18527250"/>
            <a:ext cx="7271999" cy="360000"/>
          </a:xfrm>
          <a:prstGeom prst="rect">
            <a:avLst/>
          </a:prstGeom>
          <a:noFill/>
        </p:spPr>
        <p:txBody>
          <a:bodyPr wrap="square" lIns="0" tIns="0" rIns="0" bIns="0" anchor="t">
            <a:spAutoFit/>
          </a:bodyPr>
          <a:lstStyle/>
          <a:p>
            <a:pPr algn="l">
              <a:lnSpc>
                <a:spcPct val="112000"/>
              </a:lnSpc>
            </a:pPr>
            <a:r>
              <a:rPr sz="1980" b="0" i="0">
                <a:solidFill>
                  <a:srgbClr val="1B2A41"/>
                </a:solidFill>
                <a:latin typeface="Arial"/>
              </a:rPr>
              <a:t>Share saying AI benefits outweigh drawbacks, 30 countries with both years:</a:t>
            </a:r>
          </a:p>
        </p:txBody>
      </p:sp>
      <p:sp>
        <p:nvSpPr>
          <p:cNvPr id="122" name="TextBox 121"/>
          <p:cNvSpPr txBox="1"/>
          <p:nvPr/>
        </p:nvSpPr>
        <p:spPr>
          <a:xfrm>
            <a:off x="13284000" y="19103250"/>
            <a:ext cx="7271999" cy="540000"/>
          </a:xfrm>
          <a:prstGeom prst="rect">
            <a:avLst/>
          </a:prstGeom>
          <a:noFill/>
        </p:spPr>
        <p:txBody>
          <a:bodyPr wrap="square" lIns="0" tIns="0" rIns="0" bIns="0" anchor="t">
            <a:spAutoFit/>
          </a:bodyPr>
          <a:lstStyle/>
          <a:p>
            <a:pPr algn="l">
              <a:lnSpc>
                <a:spcPct val="112000"/>
              </a:lnSpc>
            </a:pPr>
            <a:r>
              <a:rPr sz="3960" b="1" i="0">
                <a:solidFill>
                  <a:srgbClr val="8A94A3"/>
                </a:solidFill>
                <a:latin typeface="Arial"/>
              </a:rPr>
              <a:t>54.1% </a:t>
            </a:r>
            <a:r>
              <a:rPr sz="3960" b="1" i="0">
                <a:solidFill>
                  <a:srgbClr val="8A94A3"/>
                </a:solidFill>
                <a:latin typeface="Calibri"/>
              </a:rPr>
              <a:t>→</a:t>
            </a:r>
            <a:r>
              <a:rPr sz="3960" b="1" i="0">
                <a:solidFill>
                  <a:srgbClr val="8A94A3"/>
                </a:solidFill>
                <a:latin typeface="Arial"/>
              </a:rPr>
              <a:t> 54.6%</a:t>
            </a:r>
            <a:r>
              <a:rPr sz="3960" b="0" i="0">
                <a:solidFill>
                  <a:srgbClr val="1B2A41"/>
                </a:solidFill>
                <a:latin typeface="Arial"/>
              </a:rPr>
              <a:t>  </a:t>
            </a:r>
            <a:r>
              <a:rPr sz="3168" b="0" i="0">
                <a:solidFill>
                  <a:srgbClr val="8A94A3"/>
                </a:solidFill>
                <a:latin typeface="Arial"/>
              </a:rPr>
              <a:t>(basically flat)</a:t>
            </a:r>
          </a:p>
        </p:txBody>
      </p:sp>
      <p:sp>
        <p:nvSpPr>
          <p:cNvPr id="123" name="TextBox 122"/>
          <p:cNvSpPr txBox="1"/>
          <p:nvPr/>
        </p:nvSpPr>
        <p:spPr>
          <a:xfrm>
            <a:off x="13284000" y="19751249"/>
            <a:ext cx="7271999" cy="1296000"/>
          </a:xfrm>
          <a:prstGeom prst="rect">
            <a:avLst/>
          </a:prstGeom>
          <a:noFill/>
        </p:spPr>
        <p:txBody>
          <a:bodyPr wrap="square" lIns="0" tIns="0" rIns="0" bIns="0" anchor="t">
            <a:spAutoFit/>
          </a:bodyPr>
          <a:lstStyle/>
          <a:p>
            <a:pPr algn="l">
              <a:lnSpc>
                <a:spcPct val="112000"/>
              </a:lnSpc>
            </a:pPr>
            <a:r>
              <a:rPr sz="1980" b="0" i="0">
                <a:solidFill>
                  <a:srgbClr val="1B2A41"/>
                </a:solidFill>
                <a:latin typeface="Arial"/>
              </a:rPr>
              <a:t>Mean change </a:t>
            </a:r>
            <a:r>
              <a:rPr sz="1980" b="1" i="0">
                <a:solidFill>
                  <a:srgbClr val="1B2A41"/>
                </a:solidFill>
                <a:latin typeface="Arial"/>
              </a:rPr>
              <a:t>+0.47 pp</a:t>
            </a:r>
            <a:r>
              <a:rPr sz="1980" b="0" i="0">
                <a:solidFill>
                  <a:srgbClr val="1B2A41"/>
                </a:solidFill>
                <a:latin typeface="Arial"/>
              </a:rPr>
              <a:t>, median </a:t>
            </a:r>
            <a:r>
              <a:rPr sz="1980" b="1" i="0">
                <a:solidFill>
                  <a:srgbClr val="1B2A41"/>
                </a:solidFill>
                <a:latin typeface="Arial"/>
              </a:rPr>
              <a:t>+1.50 pp</a:t>
            </a:r>
            <a:r>
              <a:rPr sz="1980" b="0" i="0">
                <a:solidFill>
                  <a:srgbClr val="1B2A41"/>
                </a:solidFill>
                <a:latin typeface="Arial"/>
              </a:rPr>
              <a:t>. </a:t>
            </a:r>
            <a:r>
              <a:rPr sz="1980" b="1" i="0">
                <a:solidFill>
                  <a:srgbClr val="1B2A41"/>
                </a:solidFill>
                <a:latin typeface="Arial"/>
              </a:rPr>
              <a:t>17</a:t>
            </a:r>
            <a:r>
              <a:rPr sz="1980" b="0" i="0">
                <a:solidFill>
                  <a:srgbClr val="1B2A41"/>
                </a:solidFill>
                <a:latin typeface="Arial"/>
              </a:rPr>
              <a:t> up · </a:t>
            </a:r>
            <a:r>
              <a:rPr sz="1980" b="1" i="0">
                <a:solidFill>
                  <a:srgbClr val="1B2A41"/>
                </a:solidFill>
                <a:latin typeface="Arial"/>
              </a:rPr>
              <a:t>9</a:t>
            </a:r>
            <a:r>
              <a:rPr sz="1980" b="0" i="0">
                <a:solidFill>
                  <a:srgbClr val="1B2A41"/>
                </a:solidFill>
                <a:latin typeface="Arial"/>
              </a:rPr>
              <a:t> down · </a:t>
            </a:r>
            <a:r>
              <a:rPr sz="1980" b="1" i="0">
                <a:solidFill>
                  <a:srgbClr val="1B2A41"/>
                </a:solidFill>
                <a:latin typeface="Arial"/>
              </a:rPr>
              <a:t>4</a:t>
            </a:r>
            <a:r>
              <a:rPr sz="1980" b="0" i="0">
                <a:solidFill>
                  <a:srgbClr val="1B2A41"/>
                </a:solidFill>
                <a:latin typeface="Arial"/>
              </a:rPr>
              <a:t> unchanged.</a:t>
            </a:r>
          </a:p>
          <a:p>
            <a:pPr algn="l">
              <a:lnSpc>
                <a:spcPct val="112000"/>
              </a:lnSpc>
              <a:spcBef>
                <a:spcPts val="708"/>
              </a:spcBef>
            </a:pPr>
            <a:r>
              <a:rPr sz="1980" b="0" i="0">
                <a:solidFill>
                  <a:srgbClr val="1B2A41"/>
                </a:solidFill>
                <a:latin typeface="Arial"/>
              </a:rPr>
              <a:t>Largest rises: Germany, Ireland (+5). Largest falls: Brazil (</a:t>
            </a:r>
            <a:r>
              <a:rPr sz="1980" b="1" i="0">
                <a:solidFill>
                  <a:srgbClr val="E76F51"/>
                </a:solidFill>
                <a:latin typeface="Arial"/>
              </a:rPr>
              <a:t>−8</a:t>
            </a:r>
            <a:r>
              <a:rPr sz="1980" b="0" i="0">
                <a:solidFill>
                  <a:srgbClr val="1B2A41"/>
                </a:solidFill>
                <a:latin typeface="Arial"/>
              </a:rPr>
              <a:t>), Netherlands (</a:t>
            </a:r>
            <a:r>
              <a:rPr sz="1980" b="1" i="0">
                <a:solidFill>
                  <a:srgbClr val="E76F51"/>
                </a:solidFill>
                <a:latin typeface="Arial"/>
              </a:rPr>
              <a:t>−7</a:t>
            </a:r>
            <a:r>
              <a:rPr sz="1980" b="0" i="0">
                <a:solidFill>
                  <a:srgbClr val="1B2A41"/>
                </a:solidFill>
                <a:latin typeface="Arial"/>
              </a:rPr>
              <a:t>), Malaysia (</a:t>
            </a:r>
            <a:r>
              <a:rPr sz="1980" b="1" i="0">
                <a:solidFill>
                  <a:srgbClr val="E76F51"/>
                </a:solidFill>
                <a:latin typeface="Arial"/>
              </a:rPr>
              <a:t>−6</a:t>
            </a:r>
            <a:r>
              <a:rPr sz="1980" b="0" i="0">
                <a:solidFill>
                  <a:srgbClr val="1B2A41"/>
                </a:solidFill>
                <a:latin typeface="Arial"/>
              </a:rPr>
              <a:t>).</a:t>
            </a:r>
          </a:p>
        </p:txBody>
      </p:sp>
      <p:sp>
        <p:nvSpPr>
          <p:cNvPr id="124" name="Rounded Rectangle 123"/>
          <p:cNvSpPr/>
          <p:nvPr/>
        </p:nvSpPr>
        <p:spPr>
          <a:xfrm>
            <a:off x="13284000" y="21263250"/>
            <a:ext cx="7271999" cy="1044000"/>
          </a:xfrm>
          <a:prstGeom prst="roundRect">
            <a:avLst>
              <a:gd name="adj" fmla="val 8000"/>
            </a:avLst>
          </a:prstGeom>
          <a:solidFill>
            <a:srgbClr val="FBE9E4"/>
          </a:solidFill>
          <a:ln>
            <a:noFill/>
          </a:ln>
        </p:spPr>
        <p:txBody>
          <a:bodyPr rtlCol="0" anchor="ctr"/>
          <a:lstStyle/>
          <a:p>
            <a:endParaRPr/>
          </a:p>
        </p:txBody>
      </p:sp>
      <p:sp>
        <p:nvSpPr>
          <p:cNvPr id="125" name="Rectangle 124"/>
          <p:cNvSpPr/>
          <p:nvPr/>
        </p:nvSpPr>
        <p:spPr>
          <a:xfrm>
            <a:off x="13284000" y="21263250"/>
            <a:ext cx="90000" cy="1044000"/>
          </a:xfrm>
          <a:prstGeom prst="rect">
            <a:avLst/>
          </a:prstGeom>
          <a:solidFill>
            <a:srgbClr val="E76F51"/>
          </a:solidFill>
          <a:ln>
            <a:noFill/>
          </a:ln>
        </p:spPr>
        <p:txBody>
          <a:bodyPr rtlCol="0" anchor="ctr"/>
          <a:lstStyle/>
          <a:p>
            <a:endParaRPr/>
          </a:p>
        </p:txBody>
      </p:sp>
      <p:sp>
        <p:nvSpPr>
          <p:cNvPr id="126" name="TextBox 125"/>
          <p:cNvSpPr txBox="1"/>
          <p:nvPr/>
        </p:nvSpPr>
        <p:spPr>
          <a:xfrm>
            <a:off x="13571999" y="21449699"/>
            <a:ext cx="6803999" cy="900000"/>
          </a:xfrm>
          <a:prstGeom prst="rect">
            <a:avLst/>
          </a:prstGeom>
          <a:noFill/>
        </p:spPr>
        <p:txBody>
          <a:bodyPr wrap="square" lIns="0" tIns="0" rIns="0" bIns="0" anchor="t">
            <a:spAutoFit/>
          </a:bodyPr>
          <a:lstStyle/>
          <a:p>
            <a:pPr algn="l">
              <a:lnSpc>
                <a:spcPct val="112000"/>
              </a:lnSpc>
            </a:pPr>
            <a:r>
              <a:rPr sz="1980" b="1" i="0" dirty="0">
                <a:solidFill>
                  <a:srgbClr val="1B2A41"/>
                </a:solidFill>
                <a:latin typeface="Arial"/>
              </a:rPr>
              <a:t>No real shift: the change is small enough to be just chance.</a:t>
            </a:r>
            <a:r>
              <a:rPr sz="1980" b="0" i="0" dirty="0">
                <a:solidFill>
                  <a:srgbClr val="1B2A41"/>
                </a:solidFill>
                <a:latin typeface="Arial"/>
              </a:rPr>
              <a:t> </a:t>
            </a:r>
            <a:r>
              <a:rPr sz="1584" b="0" i="0" dirty="0">
                <a:solidFill>
                  <a:srgbClr val="8A94A3"/>
                </a:solidFill>
                <a:latin typeface="Arial"/>
              </a:rPr>
              <a:t>(Wilcoxon p = 0.36; t-test p = 0.48)</a:t>
            </a:r>
          </a:p>
        </p:txBody>
      </p:sp>
      <p:sp>
        <p:nvSpPr>
          <p:cNvPr id="127" name="TextBox 126"/>
          <p:cNvSpPr txBox="1"/>
          <p:nvPr/>
        </p:nvSpPr>
        <p:spPr>
          <a:xfrm>
            <a:off x="13284000" y="22493699"/>
            <a:ext cx="7271999" cy="576000"/>
          </a:xfrm>
          <a:prstGeom prst="rect">
            <a:avLst/>
          </a:prstGeom>
          <a:noFill/>
        </p:spPr>
        <p:txBody>
          <a:bodyPr wrap="square" lIns="0" tIns="0" rIns="0" bIns="0" anchor="t">
            <a:spAutoFit/>
          </a:bodyPr>
          <a:lstStyle/>
          <a:p>
            <a:pPr algn="l">
              <a:lnSpc>
                <a:spcPct val="112000"/>
              </a:lnSpc>
            </a:pPr>
            <a:r>
              <a:rPr sz="1650" b="1" i="0" dirty="0">
                <a:solidFill>
                  <a:srgbClr val="E76F51"/>
                </a:solidFill>
                <a:latin typeface="Arial"/>
              </a:rPr>
              <a:t>Caveat</a:t>
            </a:r>
            <a:r>
              <a:rPr sz="1650" b="0" i="0" dirty="0">
                <a:solidFill>
                  <a:srgbClr val="6B7A8F"/>
                </a:solidFill>
                <a:latin typeface="Arial"/>
              </a:rPr>
              <a:t> · Measures benefit perception, not trust; two years only; China and Switzerland excluded (no 2023 value).</a:t>
            </a:r>
          </a:p>
        </p:txBody>
      </p:sp>
      <p:sp>
        <p:nvSpPr>
          <p:cNvPr id="128" name="TextBox 127"/>
          <p:cNvSpPr txBox="1"/>
          <p:nvPr/>
        </p:nvSpPr>
        <p:spPr>
          <a:xfrm>
            <a:off x="468000" y="23760000"/>
            <a:ext cx="20448000" cy="432000"/>
          </a:xfrm>
          <a:prstGeom prst="rect">
            <a:avLst/>
          </a:prstGeom>
          <a:noFill/>
        </p:spPr>
        <p:txBody>
          <a:bodyPr wrap="square" lIns="0" tIns="0" rIns="0" bIns="0" anchor="t">
            <a:spAutoFit/>
          </a:bodyPr>
          <a:lstStyle/>
          <a:p>
            <a:pPr algn="l">
              <a:lnSpc>
                <a:spcPct val="112000"/>
              </a:lnSpc>
            </a:pPr>
            <a:r>
              <a:rPr sz="3300" b="1" i="0">
                <a:solidFill>
                  <a:srgbClr val="1D3557"/>
                </a:solidFill>
                <a:latin typeface="Arial"/>
              </a:rPr>
              <a:t>Implications for calibrated trust</a:t>
            </a:r>
          </a:p>
        </p:txBody>
      </p:sp>
      <p:sp>
        <p:nvSpPr>
          <p:cNvPr id="129" name="Rounded Rectangle 128"/>
          <p:cNvSpPr/>
          <p:nvPr/>
        </p:nvSpPr>
        <p:spPr>
          <a:xfrm>
            <a:off x="468000" y="24408000"/>
            <a:ext cx="6647999" cy="1512000"/>
          </a:xfrm>
          <a:prstGeom prst="roundRect">
            <a:avLst>
              <a:gd name="adj" fmla="val 4000"/>
            </a:avLst>
          </a:prstGeom>
          <a:solidFill>
            <a:srgbClr val="F4F6F9"/>
          </a:solidFill>
          <a:ln>
            <a:noFill/>
          </a:ln>
        </p:spPr>
        <p:txBody>
          <a:bodyPr rtlCol="0" anchor="ctr"/>
          <a:lstStyle/>
          <a:p>
            <a:endParaRPr/>
          </a:p>
        </p:txBody>
      </p:sp>
      <p:sp>
        <p:nvSpPr>
          <p:cNvPr id="130" name="Rectangle 129"/>
          <p:cNvSpPr/>
          <p:nvPr/>
        </p:nvSpPr>
        <p:spPr>
          <a:xfrm>
            <a:off x="468000" y="24408000"/>
            <a:ext cx="6647999" cy="100800"/>
          </a:xfrm>
          <a:prstGeom prst="rect">
            <a:avLst/>
          </a:prstGeom>
          <a:solidFill>
            <a:srgbClr val="2A9D8F"/>
          </a:solidFill>
          <a:ln>
            <a:noFill/>
          </a:ln>
        </p:spPr>
        <p:txBody>
          <a:bodyPr rtlCol="0" anchor="ctr"/>
          <a:lstStyle/>
          <a:p>
            <a:endParaRPr/>
          </a:p>
        </p:txBody>
      </p:sp>
      <p:sp>
        <p:nvSpPr>
          <p:cNvPr id="131" name="TextBox 130"/>
          <p:cNvSpPr txBox="1"/>
          <p:nvPr/>
        </p:nvSpPr>
        <p:spPr>
          <a:xfrm>
            <a:off x="684000" y="24623999"/>
            <a:ext cx="6216000" cy="1260000"/>
          </a:xfrm>
          <a:prstGeom prst="rect">
            <a:avLst/>
          </a:prstGeom>
          <a:noFill/>
        </p:spPr>
        <p:txBody>
          <a:bodyPr wrap="square" lIns="0" tIns="0" rIns="0" bIns="0" anchor="t">
            <a:spAutoFit/>
          </a:bodyPr>
          <a:lstStyle/>
          <a:p>
            <a:pPr algn="l">
              <a:lnSpc>
                <a:spcPct val="112000"/>
              </a:lnSpc>
            </a:pPr>
            <a:r>
              <a:rPr sz="1980" b="1" i="0">
                <a:solidFill>
                  <a:srgbClr val="1B2A41"/>
                </a:solidFill>
                <a:latin typeface="Arial"/>
              </a:rPr>
              <a:t>Explain clearly</a:t>
            </a:r>
          </a:p>
          <a:p>
            <a:pPr algn="l">
              <a:lnSpc>
                <a:spcPct val="112000"/>
              </a:lnSpc>
              <a:spcBef>
                <a:spcPts val="283"/>
              </a:spcBef>
            </a:pPr>
            <a:r>
              <a:rPr sz="1980" b="0" i="0">
                <a:solidFill>
                  <a:srgbClr val="1B2A41"/>
                </a:solidFill>
                <a:latin typeface="Arial"/>
              </a:rPr>
              <a:t>Communicate capabilities and protections, backed by reliability checks and clear limits.</a:t>
            </a:r>
          </a:p>
        </p:txBody>
      </p:sp>
      <p:sp>
        <p:nvSpPr>
          <p:cNvPr id="132" name="Rounded Rectangle 131"/>
          <p:cNvSpPr/>
          <p:nvPr/>
        </p:nvSpPr>
        <p:spPr>
          <a:xfrm>
            <a:off x="7367999" y="24408000"/>
            <a:ext cx="6647999" cy="1512000"/>
          </a:xfrm>
          <a:prstGeom prst="roundRect">
            <a:avLst>
              <a:gd name="adj" fmla="val 4000"/>
            </a:avLst>
          </a:prstGeom>
          <a:solidFill>
            <a:srgbClr val="F4F6F9"/>
          </a:solidFill>
          <a:ln>
            <a:noFill/>
          </a:ln>
        </p:spPr>
        <p:txBody>
          <a:bodyPr rtlCol="0" anchor="ctr"/>
          <a:lstStyle/>
          <a:p>
            <a:endParaRPr/>
          </a:p>
        </p:txBody>
      </p:sp>
      <p:sp>
        <p:nvSpPr>
          <p:cNvPr id="133" name="Rectangle 132"/>
          <p:cNvSpPr/>
          <p:nvPr/>
        </p:nvSpPr>
        <p:spPr>
          <a:xfrm>
            <a:off x="7367999" y="24408000"/>
            <a:ext cx="6647999" cy="100800"/>
          </a:xfrm>
          <a:prstGeom prst="rect">
            <a:avLst/>
          </a:prstGeom>
          <a:solidFill>
            <a:srgbClr val="2A9D8F"/>
          </a:solidFill>
          <a:ln>
            <a:noFill/>
          </a:ln>
        </p:spPr>
        <p:txBody>
          <a:bodyPr rtlCol="0" anchor="ctr"/>
          <a:lstStyle/>
          <a:p>
            <a:endParaRPr/>
          </a:p>
        </p:txBody>
      </p:sp>
      <p:sp>
        <p:nvSpPr>
          <p:cNvPr id="134" name="TextBox 133"/>
          <p:cNvSpPr txBox="1"/>
          <p:nvPr/>
        </p:nvSpPr>
        <p:spPr>
          <a:xfrm>
            <a:off x="7584000" y="24623999"/>
            <a:ext cx="6216000" cy="1260000"/>
          </a:xfrm>
          <a:prstGeom prst="rect">
            <a:avLst/>
          </a:prstGeom>
          <a:noFill/>
        </p:spPr>
        <p:txBody>
          <a:bodyPr wrap="square" lIns="0" tIns="0" rIns="0" bIns="0" anchor="t">
            <a:spAutoFit/>
          </a:bodyPr>
          <a:lstStyle/>
          <a:p>
            <a:pPr algn="l">
              <a:lnSpc>
                <a:spcPct val="112000"/>
              </a:lnSpc>
            </a:pPr>
            <a:r>
              <a:rPr sz="1980" b="1" i="0">
                <a:solidFill>
                  <a:srgbClr val="1B2A41"/>
                </a:solidFill>
                <a:latin typeface="Arial"/>
              </a:rPr>
              <a:t>Build judgement</a:t>
            </a:r>
          </a:p>
          <a:p>
            <a:pPr algn="l">
              <a:lnSpc>
                <a:spcPct val="112000"/>
              </a:lnSpc>
              <a:spcBef>
                <a:spcPts val="283"/>
              </a:spcBef>
            </a:pPr>
            <a:r>
              <a:rPr sz="1980" b="0" i="0">
                <a:solidFill>
                  <a:srgbClr val="1B2A41"/>
                </a:solidFill>
                <a:latin typeface="Arial"/>
              </a:rPr>
              <a:t>Higher-trust countries report more problematic AI use (r = +0.614): teach when to question AI.</a:t>
            </a:r>
          </a:p>
        </p:txBody>
      </p:sp>
      <p:sp>
        <p:nvSpPr>
          <p:cNvPr id="135" name="Rounded Rectangle 134"/>
          <p:cNvSpPr/>
          <p:nvPr/>
        </p:nvSpPr>
        <p:spPr>
          <a:xfrm>
            <a:off x="14267999" y="24408000"/>
            <a:ext cx="6647999" cy="1512000"/>
          </a:xfrm>
          <a:prstGeom prst="roundRect">
            <a:avLst>
              <a:gd name="adj" fmla="val 4000"/>
            </a:avLst>
          </a:prstGeom>
          <a:solidFill>
            <a:srgbClr val="F4F6F9"/>
          </a:solidFill>
          <a:ln>
            <a:noFill/>
          </a:ln>
        </p:spPr>
        <p:txBody>
          <a:bodyPr rtlCol="0" anchor="ctr"/>
          <a:lstStyle/>
          <a:p>
            <a:endParaRPr/>
          </a:p>
        </p:txBody>
      </p:sp>
      <p:sp>
        <p:nvSpPr>
          <p:cNvPr id="136" name="Rectangle 135"/>
          <p:cNvSpPr/>
          <p:nvPr/>
        </p:nvSpPr>
        <p:spPr>
          <a:xfrm>
            <a:off x="14267999" y="24408000"/>
            <a:ext cx="6647999" cy="100800"/>
          </a:xfrm>
          <a:prstGeom prst="rect">
            <a:avLst/>
          </a:prstGeom>
          <a:solidFill>
            <a:srgbClr val="2A9D8F"/>
          </a:solidFill>
          <a:ln>
            <a:noFill/>
          </a:ln>
        </p:spPr>
        <p:txBody>
          <a:bodyPr rtlCol="0" anchor="ctr"/>
          <a:lstStyle/>
          <a:p>
            <a:endParaRPr/>
          </a:p>
        </p:txBody>
      </p:sp>
      <p:sp>
        <p:nvSpPr>
          <p:cNvPr id="137" name="TextBox 136"/>
          <p:cNvSpPr txBox="1"/>
          <p:nvPr/>
        </p:nvSpPr>
        <p:spPr>
          <a:xfrm>
            <a:off x="14483999" y="24623999"/>
            <a:ext cx="6216000" cy="1260000"/>
          </a:xfrm>
          <a:prstGeom prst="rect">
            <a:avLst/>
          </a:prstGeom>
          <a:noFill/>
        </p:spPr>
        <p:txBody>
          <a:bodyPr wrap="square" lIns="0" tIns="0" rIns="0" bIns="0" anchor="t">
            <a:spAutoFit/>
          </a:bodyPr>
          <a:lstStyle/>
          <a:p>
            <a:pPr algn="l">
              <a:lnSpc>
                <a:spcPct val="112000"/>
              </a:lnSpc>
            </a:pPr>
            <a:r>
              <a:rPr sz="1980" b="1" i="0">
                <a:solidFill>
                  <a:srgbClr val="1B2A41"/>
                </a:solidFill>
                <a:latin typeface="Arial"/>
              </a:rPr>
              <a:t>Stay accountable</a:t>
            </a:r>
          </a:p>
          <a:p>
            <a:pPr algn="l">
              <a:lnSpc>
                <a:spcPct val="112000"/>
              </a:lnSpc>
              <a:spcBef>
                <a:spcPts val="283"/>
              </a:spcBef>
            </a:pPr>
            <a:r>
              <a:rPr sz="1980" b="0" i="0">
                <a:solidFill>
                  <a:srgbClr val="1B2A41"/>
                </a:solidFill>
                <a:latin typeface="Arial"/>
              </a:rPr>
              <a:t>Let users challenge outputs and assign clear responsibility; never stereotype by national score.</a:t>
            </a:r>
          </a:p>
        </p:txBody>
      </p:sp>
      <p:sp>
        <p:nvSpPr>
          <p:cNvPr id="138" name="TextBox 137"/>
          <p:cNvSpPr txBox="1"/>
          <p:nvPr/>
        </p:nvSpPr>
        <p:spPr>
          <a:xfrm>
            <a:off x="468000" y="26100000"/>
            <a:ext cx="1620000" cy="396000"/>
          </a:xfrm>
          <a:prstGeom prst="rect">
            <a:avLst/>
          </a:prstGeom>
          <a:noFill/>
        </p:spPr>
        <p:txBody>
          <a:bodyPr wrap="square" lIns="0" tIns="0" rIns="0" bIns="0" anchor="ctr">
            <a:spAutoFit/>
          </a:bodyPr>
          <a:lstStyle/>
          <a:p>
            <a:pPr algn="l">
              <a:lnSpc>
                <a:spcPct val="112000"/>
              </a:lnSpc>
            </a:pPr>
            <a:r>
              <a:rPr sz="1980" b="1" i="0">
                <a:solidFill>
                  <a:srgbClr val="1D3557"/>
                </a:solidFill>
                <a:latin typeface="Arial"/>
              </a:rPr>
              <a:t>Limitations</a:t>
            </a:r>
          </a:p>
        </p:txBody>
      </p:sp>
      <p:sp>
        <p:nvSpPr>
          <p:cNvPr id="139" name="Rounded Rectangle 138"/>
          <p:cNvSpPr/>
          <p:nvPr/>
        </p:nvSpPr>
        <p:spPr>
          <a:xfrm>
            <a:off x="2124000" y="26100000"/>
            <a:ext cx="3873600" cy="396000"/>
          </a:xfrm>
          <a:prstGeom prst="roundRect">
            <a:avLst>
              <a:gd name="adj" fmla="val 50000"/>
            </a:avLst>
          </a:prstGeom>
          <a:solidFill>
            <a:srgbClr val="F4F6F9"/>
          </a:solidFill>
          <a:ln>
            <a:noFill/>
          </a:ln>
        </p:spPr>
        <p:txBody>
          <a:bodyPr rtlCol="0" anchor="ctr"/>
          <a:lstStyle/>
          <a:p>
            <a:endParaRPr/>
          </a:p>
        </p:txBody>
      </p:sp>
      <p:sp>
        <p:nvSpPr>
          <p:cNvPr id="140" name="TextBox 139"/>
          <p:cNvSpPr txBox="1"/>
          <p:nvPr/>
        </p:nvSpPr>
        <p:spPr>
          <a:xfrm>
            <a:off x="2124000" y="26100000"/>
            <a:ext cx="3873600" cy="396000"/>
          </a:xfrm>
          <a:prstGeom prst="rect">
            <a:avLst/>
          </a:prstGeom>
          <a:noFill/>
        </p:spPr>
        <p:txBody>
          <a:bodyPr wrap="square" lIns="0" tIns="0" rIns="0" bIns="0" anchor="ctr">
            <a:spAutoFit/>
          </a:bodyPr>
          <a:lstStyle/>
          <a:p>
            <a:pPr algn="ctr">
              <a:lnSpc>
                <a:spcPct val="112000"/>
              </a:lnSpc>
            </a:pPr>
            <a:r>
              <a:rPr sz="1760" b="0" i="0">
                <a:solidFill>
                  <a:srgbClr val="44546A"/>
                </a:solidFill>
                <a:latin typeface="Arial"/>
              </a:rPr>
              <a:t>47 countries, one snapshot</a:t>
            </a:r>
          </a:p>
        </p:txBody>
      </p:sp>
      <p:sp>
        <p:nvSpPr>
          <p:cNvPr id="141" name="Rounded Rectangle 140"/>
          <p:cNvSpPr/>
          <p:nvPr/>
        </p:nvSpPr>
        <p:spPr>
          <a:xfrm>
            <a:off x="6141600" y="26100000"/>
            <a:ext cx="2836799" cy="396000"/>
          </a:xfrm>
          <a:prstGeom prst="roundRect">
            <a:avLst>
              <a:gd name="adj" fmla="val 50000"/>
            </a:avLst>
          </a:prstGeom>
          <a:solidFill>
            <a:srgbClr val="F4F6F9"/>
          </a:solidFill>
          <a:ln>
            <a:noFill/>
          </a:ln>
        </p:spPr>
        <p:txBody>
          <a:bodyPr rtlCol="0" anchor="ctr"/>
          <a:lstStyle/>
          <a:p>
            <a:endParaRPr/>
          </a:p>
        </p:txBody>
      </p:sp>
      <p:sp>
        <p:nvSpPr>
          <p:cNvPr id="142" name="TextBox 141"/>
          <p:cNvSpPr txBox="1"/>
          <p:nvPr/>
        </p:nvSpPr>
        <p:spPr>
          <a:xfrm>
            <a:off x="6141600" y="26100000"/>
            <a:ext cx="2836799" cy="396000"/>
          </a:xfrm>
          <a:prstGeom prst="rect">
            <a:avLst/>
          </a:prstGeom>
          <a:noFill/>
        </p:spPr>
        <p:txBody>
          <a:bodyPr wrap="square" lIns="0" tIns="0" rIns="0" bIns="0" anchor="ctr">
            <a:spAutoFit/>
          </a:bodyPr>
          <a:lstStyle/>
          <a:p>
            <a:pPr algn="ctr">
              <a:lnSpc>
                <a:spcPct val="112000"/>
              </a:lnSpc>
            </a:pPr>
            <a:r>
              <a:rPr sz="1760" b="0" i="0">
                <a:solidFill>
                  <a:srgbClr val="44546A"/>
                </a:solidFill>
                <a:latin typeface="Arial"/>
              </a:rPr>
              <a:t>Country-level only</a:t>
            </a:r>
          </a:p>
        </p:txBody>
      </p:sp>
      <p:sp>
        <p:nvSpPr>
          <p:cNvPr id="143" name="Rounded Rectangle 142"/>
          <p:cNvSpPr/>
          <p:nvPr/>
        </p:nvSpPr>
        <p:spPr>
          <a:xfrm>
            <a:off x="9122399" y="26100000"/>
            <a:ext cx="2188800" cy="396000"/>
          </a:xfrm>
          <a:prstGeom prst="roundRect">
            <a:avLst>
              <a:gd name="adj" fmla="val 50000"/>
            </a:avLst>
          </a:prstGeom>
          <a:solidFill>
            <a:srgbClr val="F4F6F9"/>
          </a:solidFill>
          <a:ln>
            <a:noFill/>
          </a:ln>
        </p:spPr>
        <p:txBody>
          <a:bodyPr rtlCol="0" anchor="ctr"/>
          <a:lstStyle/>
          <a:p>
            <a:endParaRPr/>
          </a:p>
        </p:txBody>
      </p:sp>
      <p:sp>
        <p:nvSpPr>
          <p:cNvPr id="144" name="TextBox 143"/>
          <p:cNvSpPr txBox="1"/>
          <p:nvPr/>
        </p:nvSpPr>
        <p:spPr>
          <a:xfrm>
            <a:off x="9122399" y="26100000"/>
            <a:ext cx="2188800" cy="396000"/>
          </a:xfrm>
          <a:prstGeom prst="rect">
            <a:avLst/>
          </a:prstGeom>
          <a:noFill/>
        </p:spPr>
        <p:txBody>
          <a:bodyPr wrap="square" lIns="0" tIns="0" rIns="0" bIns="0" anchor="ctr">
            <a:spAutoFit/>
          </a:bodyPr>
          <a:lstStyle/>
          <a:p>
            <a:pPr algn="ctr">
              <a:lnSpc>
                <a:spcPct val="112000"/>
              </a:lnSpc>
            </a:pPr>
            <a:r>
              <a:rPr sz="1760" b="0" i="0">
                <a:solidFill>
                  <a:srgbClr val="44546A"/>
                </a:solidFill>
                <a:latin typeface="Arial"/>
              </a:rPr>
              <a:t>Self-reported</a:t>
            </a:r>
          </a:p>
        </p:txBody>
      </p:sp>
      <p:sp>
        <p:nvSpPr>
          <p:cNvPr id="145" name="Rounded Rectangle 144"/>
          <p:cNvSpPr/>
          <p:nvPr/>
        </p:nvSpPr>
        <p:spPr>
          <a:xfrm>
            <a:off x="11455199" y="26100000"/>
            <a:ext cx="2707200" cy="396000"/>
          </a:xfrm>
          <a:prstGeom prst="roundRect">
            <a:avLst>
              <a:gd name="adj" fmla="val 50000"/>
            </a:avLst>
          </a:prstGeom>
          <a:solidFill>
            <a:srgbClr val="F4F6F9"/>
          </a:solidFill>
          <a:ln>
            <a:noFill/>
          </a:ln>
        </p:spPr>
        <p:txBody>
          <a:bodyPr rtlCol="0" anchor="ctr"/>
          <a:lstStyle/>
          <a:p>
            <a:endParaRPr/>
          </a:p>
        </p:txBody>
      </p:sp>
      <p:sp>
        <p:nvSpPr>
          <p:cNvPr id="146" name="TextBox 145"/>
          <p:cNvSpPr txBox="1"/>
          <p:nvPr/>
        </p:nvSpPr>
        <p:spPr>
          <a:xfrm>
            <a:off x="11455199" y="26100000"/>
            <a:ext cx="2707200" cy="396000"/>
          </a:xfrm>
          <a:prstGeom prst="rect">
            <a:avLst/>
          </a:prstGeom>
          <a:noFill/>
        </p:spPr>
        <p:txBody>
          <a:bodyPr wrap="square" lIns="0" tIns="0" rIns="0" bIns="0" anchor="ctr">
            <a:spAutoFit/>
          </a:bodyPr>
          <a:lstStyle/>
          <a:p>
            <a:pPr algn="ctr">
              <a:lnSpc>
                <a:spcPct val="112000"/>
              </a:lnSpc>
            </a:pPr>
            <a:r>
              <a:rPr sz="1760" b="0" i="0">
                <a:solidFill>
                  <a:srgbClr val="44546A"/>
                </a:solidFill>
                <a:latin typeface="Arial"/>
              </a:rPr>
              <a:t>Correlated inputs</a:t>
            </a:r>
          </a:p>
        </p:txBody>
      </p:sp>
      <p:sp>
        <p:nvSpPr>
          <p:cNvPr id="147" name="Rounded Rectangle 146"/>
          <p:cNvSpPr/>
          <p:nvPr/>
        </p:nvSpPr>
        <p:spPr>
          <a:xfrm>
            <a:off x="14306399" y="26100000"/>
            <a:ext cx="1800000" cy="396000"/>
          </a:xfrm>
          <a:prstGeom prst="roundRect">
            <a:avLst>
              <a:gd name="adj" fmla="val 50000"/>
            </a:avLst>
          </a:prstGeom>
          <a:solidFill>
            <a:srgbClr val="F4F6F9"/>
          </a:solidFill>
          <a:ln>
            <a:noFill/>
          </a:ln>
        </p:spPr>
        <p:txBody>
          <a:bodyPr rtlCol="0" anchor="ctr"/>
          <a:lstStyle/>
          <a:p>
            <a:endParaRPr/>
          </a:p>
        </p:txBody>
      </p:sp>
      <p:sp>
        <p:nvSpPr>
          <p:cNvPr id="148" name="TextBox 147"/>
          <p:cNvSpPr txBox="1"/>
          <p:nvPr/>
        </p:nvSpPr>
        <p:spPr>
          <a:xfrm>
            <a:off x="14306399" y="26100000"/>
            <a:ext cx="1800000" cy="396000"/>
          </a:xfrm>
          <a:prstGeom prst="rect">
            <a:avLst/>
          </a:prstGeom>
          <a:noFill/>
        </p:spPr>
        <p:txBody>
          <a:bodyPr wrap="square" lIns="0" tIns="0" rIns="0" bIns="0" anchor="ctr">
            <a:spAutoFit/>
          </a:bodyPr>
          <a:lstStyle/>
          <a:p>
            <a:pPr algn="ctr">
              <a:lnSpc>
                <a:spcPct val="112000"/>
              </a:lnSpc>
            </a:pPr>
            <a:r>
              <a:rPr sz="1760" b="0" i="0">
                <a:solidFill>
                  <a:srgbClr val="44546A"/>
                </a:solidFill>
                <a:latin typeface="Arial"/>
              </a:rPr>
              <a:t>Not causal</a:t>
            </a:r>
          </a:p>
        </p:txBody>
      </p:sp>
      <p:sp>
        <p:nvSpPr>
          <p:cNvPr id="149" name="Rounded Rectangle 148"/>
          <p:cNvSpPr/>
          <p:nvPr/>
        </p:nvSpPr>
        <p:spPr>
          <a:xfrm>
            <a:off x="16250399" y="26100000"/>
            <a:ext cx="2318400" cy="396000"/>
          </a:xfrm>
          <a:prstGeom prst="roundRect">
            <a:avLst>
              <a:gd name="adj" fmla="val 50000"/>
            </a:avLst>
          </a:prstGeom>
          <a:solidFill>
            <a:srgbClr val="F4F6F9"/>
          </a:solidFill>
          <a:ln>
            <a:noFill/>
          </a:ln>
        </p:spPr>
        <p:txBody>
          <a:bodyPr rtlCol="0" anchor="ctr"/>
          <a:lstStyle/>
          <a:p>
            <a:endParaRPr/>
          </a:p>
        </p:txBody>
      </p:sp>
      <p:sp>
        <p:nvSpPr>
          <p:cNvPr id="150" name="TextBox 149"/>
          <p:cNvSpPr txBox="1"/>
          <p:nvPr/>
        </p:nvSpPr>
        <p:spPr>
          <a:xfrm>
            <a:off x="16250399" y="26100000"/>
            <a:ext cx="2318400" cy="396000"/>
          </a:xfrm>
          <a:prstGeom prst="rect">
            <a:avLst/>
          </a:prstGeom>
          <a:noFill/>
        </p:spPr>
        <p:txBody>
          <a:bodyPr wrap="square" lIns="0" tIns="0" rIns="0" bIns="0" anchor="ctr">
            <a:spAutoFit/>
          </a:bodyPr>
          <a:lstStyle/>
          <a:p>
            <a:pPr algn="ctr">
              <a:lnSpc>
                <a:spcPct val="112000"/>
              </a:lnSpc>
            </a:pPr>
            <a:r>
              <a:rPr sz="1760" b="0" i="0">
                <a:solidFill>
                  <a:srgbClr val="44546A"/>
                </a:solidFill>
                <a:latin typeface="Arial"/>
              </a:rPr>
              <a:t>Trend: 2 years</a:t>
            </a:r>
          </a:p>
        </p:txBody>
      </p:sp>
      <p:sp>
        <p:nvSpPr>
          <p:cNvPr id="151" name="Rounded Rectangle 150"/>
          <p:cNvSpPr/>
          <p:nvPr/>
        </p:nvSpPr>
        <p:spPr>
          <a:xfrm>
            <a:off x="468000" y="26764490"/>
            <a:ext cx="20448000" cy="1512000"/>
          </a:xfrm>
          <a:prstGeom prst="roundRect">
            <a:avLst>
              <a:gd name="adj" fmla="val 12000"/>
            </a:avLst>
          </a:prstGeom>
          <a:solidFill>
            <a:srgbClr val="1D3557"/>
          </a:solidFill>
          <a:ln>
            <a:noFill/>
          </a:ln>
        </p:spPr>
        <p:txBody>
          <a:bodyPr rtlCol="0" anchor="ctr"/>
          <a:lstStyle/>
          <a:p>
            <a:endParaRPr/>
          </a:p>
        </p:txBody>
      </p:sp>
      <p:sp>
        <p:nvSpPr>
          <p:cNvPr id="152" name="TextBox 151"/>
          <p:cNvSpPr txBox="1"/>
          <p:nvPr/>
        </p:nvSpPr>
        <p:spPr>
          <a:xfrm>
            <a:off x="972000" y="26764490"/>
            <a:ext cx="19440000" cy="1512000"/>
          </a:xfrm>
          <a:prstGeom prst="rect">
            <a:avLst/>
          </a:prstGeom>
          <a:noFill/>
        </p:spPr>
        <p:txBody>
          <a:bodyPr wrap="square" lIns="0" tIns="0" rIns="0" bIns="0" anchor="ctr">
            <a:spAutoFit/>
          </a:bodyPr>
          <a:lstStyle/>
          <a:p>
            <a:pPr algn="l">
              <a:lnSpc>
                <a:spcPct val="112000"/>
              </a:lnSpc>
            </a:pPr>
            <a:r>
              <a:rPr sz="3080" b="1" i="0">
                <a:solidFill>
                  <a:srgbClr val="FFFFFF"/>
                </a:solidFill>
                <a:latin typeface="Arial"/>
              </a:rPr>
              <a:t>The goal is not </a:t>
            </a:r>
            <a:r>
              <a:rPr sz="3080" b="1" i="0">
                <a:solidFill>
                  <a:srgbClr val="8FD3C9"/>
                </a:solidFill>
                <a:latin typeface="Arial"/>
              </a:rPr>
              <a:t>more</a:t>
            </a:r>
            <a:r>
              <a:rPr sz="3080" b="1" i="0">
                <a:solidFill>
                  <a:srgbClr val="FFFFFF"/>
                </a:solidFill>
                <a:latin typeface="Arial"/>
              </a:rPr>
              <a:t> trust in AI, but the </a:t>
            </a:r>
            <a:r>
              <a:rPr sz="3080" b="1" i="0">
                <a:solidFill>
                  <a:srgbClr val="8FD3C9"/>
                </a:solidFill>
                <a:latin typeface="Arial"/>
              </a:rPr>
              <a:t>right amount</a:t>
            </a:r>
            <a:r>
              <a:rPr sz="3080" b="1" i="0">
                <a:solidFill>
                  <a:srgbClr val="FFFFFF"/>
                </a:solidFill>
                <a:latin typeface="Arial"/>
              </a:rPr>
              <a:t>: informed reliance that keeps human judgement and clear responsibility in the loop.</a:t>
            </a:r>
          </a:p>
        </p:txBody>
      </p:sp>
    </p:spTree>
    <p:extLst>
      <p:ext uri="{BB962C8B-B14F-4D97-AF65-F5344CB8AC3E}">
        <p14:creationId xmlns:p14="http://schemas.microsoft.com/office/powerpoint/2010/main" val="3227380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7D68A5915C9D1409899F494F0ED9BDD" ma:contentTypeVersion="1" ma:contentTypeDescription="Create a new document." ma:contentTypeScope="" ma:versionID="67282701de1d7ae3857b79de6ddb7046">
  <xsd:schema xmlns:xsd="http://www.w3.org/2001/XMLSchema" xmlns:xs="http://www.w3.org/2001/XMLSchema" xmlns:p="http://schemas.microsoft.com/office/2006/metadata/properties" xmlns:ns1="http://schemas.microsoft.com/sharepoint/v3" targetNamespace="http://schemas.microsoft.com/office/2006/metadata/properties" ma:root="true" ma:fieldsID="a447206dab0015f8b9f8924535193e8c"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89E708-B13C-4F36-BA33-81092694155D}">
  <ds:schemaRefs>
    <ds:schemaRef ds:uri="http://schemas.openxmlformats.org/package/2006/metadata/core-propertie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microsoft.com/sharepoint/v3"/>
    <ds:schemaRef ds:uri="http://www.w3.org/XML/1998/namespace"/>
    <ds:schemaRef ds:uri="http://purl.org/dc/dcmitype/"/>
    <ds:schemaRef ds:uri="http://purl.org/dc/terms/"/>
  </ds:schemaRefs>
</ds:datastoreItem>
</file>

<file path=customXml/itemProps2.xml><?xml version="1.0" encoding="utf-8"?>
<ds:datastoreItem xmlns:ds="http://schemas.openxmlformats.org/officeDocument/2006/customXml" ds:itemID="{6EFD8C4A-05AF-47FA-8977-00F7A977B6F5}">
  <ds:schemaRefs>
    <ds:schemaRef ds:uri="http://schemas.microsoft.com/sharepoint/v3/contenttype/forms"/>
  </ds:schemaRefs>
</ds:datastoreItem>
</file>

<file path=customXml/itemProps3.xml><?xml version="1.0" encoding="utf-8"?>
<ds:datastoreItem xmlns:ds="http://schemas.openxmlformats.org/officeDocument/2006/customXml" ds:itemID="{8F3D7827-6582-44E5-B80C-61E961F7F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27</TotalTime>
  <Words>1423</Words>
  <Application>Microsoft Office PowerPoint</Application>
  <PresentationFormat>Custom</PresentationFormat>
  <Paragraphs>157</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Welthan Ang</cp:lastModifiedBy>
  <cp:revision>3</cp:revision>
  <dcterms:created xsi:type="dcterms:W3CDTF">2014-02-10T03:35:30Z</dcterms:created>
  <dcterms:modified xsi:type="dcterms:W3CDTF">2026-10-11T08:23:44Z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0x010100F7D68A5915C9D1409899F494F0ED9BDD</vt:lpwstr>
  </property>
</Properties>
</file>